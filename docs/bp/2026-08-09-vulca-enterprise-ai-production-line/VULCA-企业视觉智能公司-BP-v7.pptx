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5b1e5f9c9e4a9a" /><Relationship Type="http://schemas.openxmlformats.org/officeDocument/2006/relationships/extended-properties" Target="/docProps/app.xml" Id="R8135b12479044fbd" /><Relationship Type="http://schemas.openxmlformats.org/officeDocument/2006/relationships/officeDocument" Target="/ppt/presentation.xml" Id="R9d79644f96254e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08d7ee6ccf4681"/>
  </p:sldMasterIdLst>
  <p:notesMasterIdLst>
    <p:notesMasterId xmlns:r="http://schemas.openxmlformats.org/officeDocument/2006/relationships" r:id="R09b451f2326f456b"/>
  </p:notesMasterIdLst>
  <p:sldIdLst>
    <p:sldId xmlns:r="http://schemas.openxmlformats.org/officeDocument/2006/relationships" id="256" r:id="R7ba0975af2b14429"/>
    <p:sldId xmlns:r="http://schemas.openxmlformats.org/officeDocument/2006/relationships" id="257" r:id="R08c9485701e84dd0"/>
    <p:sldId xmlns:r="http://schemas.openxmlformats.org/officeDocument/2006/relationships" id="258" r:id="R9a270aca51254166"/>
    <p:sldId xmlns:r="http://schemas.openxmlformats.org/officeDocument/2006/relationships" id="259" r:id="R146b1c440fb34c84"/>
    <p:sldId xmlns:r="http://schemas.openxmlformats.org/officeDocument/2006/relationships" id="260" r:id="R257e4e80024f4f8d"/>
    <p:sldId xmlns:r="http://schemas.openxmlformats.org/officeDocument/2006/relationships" id="261" r:id="Rf15e2775d06c44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d7698e3c4d45d9" /><Relationship Type="http://schemas.openxmlformats.org/officeDocument/2006/relationships/slideMaster" Target="/ppt/slideMasters/slideMaster1.xml" Id="R5208d7ee6ccf4681" /><Relationship Type="http://schemas.openxmlformats.org/officeDocument/2006/relationships/notesMaster" Target="/ppt/notesMasters/notesMaster1.xml" Id="R09b451f2326f456b" /><Relationship Type="http://schemas.openxmlformats.org/officeDocument/2006/relationships/presProps" Target="/ppt/presProps.xml" Id="Rb7f26972e1844f9a" /><Relationship Type="http://schemas.openxmlformats.org/officeDocument/2006/relationships/tableStyles" Target="/ppt/tableStyles.xml" Id="R56c59c44ac584b2b" /><Relationship Type="http://schemas.openxmlformats.org/officeDocument/2006/relationships/slide" Target="/ppt/slides/slide1.xml" Id="R7ba0975af2b14429" /><Relationship Type="http://schemas.openxmlformats.org/officeDocument/2006/relationships/slide" Target="/ppt/slides/slide2.xml" Id="R08c9485701e84dd0" /><Relationship Type="http://schemas.openxmlformats.org/officeDocument/2006/relationships/slide" Target="/ppt/slides/slide3.xml" Id="R9a270aca51254166" /><Relationship Type="http://schemas.openxmlformats.org/officeDocument/2006/relationships/slide" Target="/ppt/slides/slide4.xml" Id="R146b1c440fb34c84" /><Relationship Type="http://schemas.openxmlformats.org/officeDocument/2006/relationships/slide" Target="/ppt/slides/slide5.xml" Id="R257e4e80024f4f8d" /><Relationship Type="http://schemas.openxmlformats.org/officeDocument/2006/relationships/slide" Target="/ppt/slides/slide6.xml" Id="Rf15e2775d06c44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d14ef66b784e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df20d405d64147" /><Relationship Type="http://schemas.openxmlformats.org/officeDocument/2006/relationships/notesMaster" Target="/ppt/notesMasters/notesMaster1.xml" Id="R2d13cb89759748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02a25c796c4d82" /><Relationship Type="http://schemas.openxmlformats.org/officeDocument/2006/relationships/notesMaster" Target="/ppt/notesMasters/notesMaster1.xml" Id="R8f876ec2bc8b41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534a8a1a274a75" /><Relationship Type="http://schemas.openxmlformats.org/officeDocument/2006/relationships/notesMaster" Target="/ppt/notesMasters/notesMaster1.xml" Id="Rb82bc5b604db4d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3bc87f923a45c8" /><Relationship Type="http://schemas.openxmlformats.org/officeDocument/2006/relationships/notesMaster" Target="/ppt/notesMasters/notesMaster1.xml" Id="Rb5b7568d4b1f43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ecbde507f14087" /><Relationship Type="http://schemas.openxmlformats.org/officeDocument/2006/relationships/notesMaster" Target="/ppt/notesMasters/notesMaster1.xml" Id="Rba8008301f1243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de449229294678" /><Relationship Type="http://schemas.openxmlformats.org/officeDocument/2006/relationships/notesMaster" Target="/ppt/notesMasters/notesMaster1.xml" Id="R2e5f92f92a9c4e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公司定位：VULCA 是一家企业视觉智能公司。当前市场入口是企业 AI 内容生产线。</a:t>
            </a:r>
          </a:p>
          <a:p xmlns:a="http://schemas.openxmlformats.org/drawingml/2006/main">
            <a:r>
              <a:t>图像为品牌中立的虚构美妆演示，不是客户案例。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generated asset: /Users/yhryzy/.codex/worktrees/e027/vulca/docs/visual-specs/2026-08-09-vulca-bp-beauty-launch-evidence/iters/selected/hero_final.png</a:t>
            </a:r>
          </a:p>
          <a:p xmlns:a="http://schemas.openxmlformats.org/drawingml/2006/main">
            <a:r>
              <a:t>- Rendering backend: GPT Image 2 through Codex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三个数字分别证明 AI 已广泛采用、企业级规模化仍不足、内容需求持续增长；不把它们讲成因果链。</a:t>
            </a:r>
          </a:p>
          <a:p xmlns:a="http://schemas.openxmlformats.org/drawingml/2006/main">
            <a:r>
              <a:t>首个商业切入口是位于模型公司和终端品牌之间、持续处理多品牌审改的创意、本地化和跨境营销服务商。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McKinsey &amp; Company, The State of AI: Global Survey 2025. 88% regular use in at least one business function; approximately one-third have begun scaling AI programs. https://www.mckinsey.com/capabilities/quantumblack/our-insights/the-state-of-ai</a:t>
            </a:r>
          </a:p>
          <a:p xmlns:a="http://schemas.openxmlformats.org/drawingml/2006/main">
            <a:r>
              <a:t>- Adobe, Adobe research finds demand for content will grow 5x by 2027, 2025-06-16. 96% report content demand increased at least 2x over the prior two years. https://business.adobe.com/blog/71-percent-of-marketers-say-content-demand-to-increase-5x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这是虚构企业任务，用于说明企业实际会提交什么、VULCA 做什么、试点怎么衡量。没有客户、付费或效果结果。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generated demonstration asset: /Users/yhryzy/.codex/worktrees/e027/vulca/docs/visual-specs/2026-08-09-vulca-bp-beauty-launch-evidence/iters/selected/hero_final.png</a:t>
            </a:r>
          </a:p>
          <a:p xmlns:a="http://schemas.openxmlformats.org/drawingml/2006/main">
            <a:r>
              <a:t>- Local visual plan and audit: /Users/yhryzy/.codex/worktrees/e027/vulca/docs/visual-specs/2026-08-09-vulca-bp-beauty-launch-evidence/plan.md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实际本地运行边界：VULCA 0.23.1 brief 已生成；自动 orchestrated decomposition 在缺少 /tmp/sam_vit_l.pth 时停止。目标区域由 brief 驱动并人工确认，随后通过 VULCA layer primitives 写入 V3 manifest。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Before image: /Users/yhryzy/.codex/worktrees/e027/vulca/docs/visual-specs/2026-08-09-vulca-bp-beauty-launch-evidence/iters/1338/candidate_b.png</a:t>
            </a:r>
          </a:p>
          <a:p xmlns:a="http://schemas.openxmlformats.org/drawingml/2006/main">
            <a:r>
              <a:t>- After image: /Users/yhryzy/.codex/worktrees/e027/vulca/docs/visual-specs/2026-08-09-vulca-bp-beauty-launch-evidence/iters/selected/hero_final.png</a:t>
            </a:r>
          </a:p>
          <a:p xmlns:a="http://schemas.openxmlformats.org/drawingml/2006/main">
            <a:r>
              <a:t>- Run record: /Users/yhryzy/.codex/worktrees/e027/vulca/docs/visual-specs/2026-08-09-vulca-bp-beauty-launch-evidence/evidence/run_record.json</a:t>
            </a:r>
          </a:p>
          <a:p xmlns:a="http://schemas.openxmlformats.org/drawingml/2006/main">
            <a:r>
              <a:t>- V3 manifest: /Users/yhryzy/.codex/worktrees/e027/vulca/docs/visual-specs/2026-08-09-vulca-bp-beauty-launch-evidence/evidence/manual_layers/manifest.json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区域变化是诊断，不是正式质量评测：统计平均 RGB 差异大于 12/255 的像素占比。</a:t>
            </a:r>
          </a:p>
          <a:p xmlns:a="http://schemas.openxmlformats.org/drawingml/2006/main">
            <a:r>
              <a:t>目标区域变化 74.72%，环境 1.11%，受保护产品 6.10%。这说明修改集中在目标，但受保护区域仍存在非零残余变化。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Adoption record: /Users/yhryzy/.codex/worktrees/e027/vulca/docs/visual-specs/2026-08-09-vulca-bp-beauty-launch-evidence/evidence/adoption_record.json</a:t>
            </a:r>
          </a:p>
          <a:p xmlns:a="http://schemas.openxmlformats.org/drawingml/2006/main">
            <a:r>
              <a:t>- V3 manifest: /Users/yhryzy/.codex/worktrees/e027/vulca/docs/visual-specs/2026-08-09-vulca-bp-beauty-launch-evidence/evidence/manual_layers/manifest.json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商业路径是付费试点、软件化上线和年度订阅。FDE 是进入企业的方法，不是长期人力外包；VULCA 的可扩张资产是流程、规则、图层、采用记录和评测。</a:t>
            </a:r>
          </a:p>
          <a:p xmlns:a="http://schemas.openxmlformats.org/drawingml/2006/main">
            <a:r>
              <a:t>当前证明是产品与本地演示；下一步需要真实企业任务验证付费意愿、流程改善和复用价值。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Palantir AI FDE official overview, used only as context for the forward-deployed delivery pattern. https://www.palantir.com/docs/foundry/ai-fde/overview</a:t>
            </a:r>
          </a:p>
          <a:p xmlns:a="http://schemas.openxmlformats.org/drawingml/2006/main">
            <a:r>
              <a:t>- Nansha 2026 digital-technology application-scenario solicitation. https://www.gzns.gov.cn/zwgk/rdzt/zzyyzq/tzgg/content/post_10799928.html</a:t>
            </a:r>
          </a:p>
          <a:p xmlns:a="http://schemas.openxmlformats.org/drawingml/2006/main">
            <a:r>
              <a:t>- Nansha public information on scenario supply-demand matching. https://www.gzns.gov.cn/gznskgx/gkmlpt/content/10/10653/post_10653101.html</a:t>
            </a:r>
          </a:p>
          <a:p xmlns:a="http://schemas.openxmlformats.org/drawingml/2006/main">
            <a:r>
              <a:t>- Nansha OPC ecosystem public information. https://www.gzns.gov.cn/zwgk/rdzt/OPC/OPCYLS/content/post_10815933.html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ea081a0de4d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4b13fbec48454f" /><Relationship Type="http://schemas.openxmlformats.org/officeDocument/2006/relationships/slideLayout" Target="/ppt/slideLayouts/slideLayout1.xml" Id="R14afd20f19c74f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afd20f19c74f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232ca98ee4ee0" /><Relationship Type="http://schemas.openxmlformats.org/officeDocument/2006/relationships/image" Target="/ppt/media/image.png" Id="R66c32d4cd94b4af7" /><Relationship Type="http://schemas.openxmlformats.org/officeDocument/2006/relationships/notesSlide" Target="/ppt/notesSlides/notesSlide1.xml" Id="R172ea2a587c64e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a92c610834c63" /><Relationship Type="http://schemas.openxmlformats.org/officeDocument/2006/relationships/notesSlide" Target="/ppt/notesSlides/notesSlide2.xml" Id="Rdb089c175bbe4c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ceb6586f34f33" /><Relationship Type="http://schemas.openxmlformats.org/officeDocument/2006/relationships/image" Target="/ppt/media/image2.png" Id="R0f3a0680d35745c3" /><Relationship Type="http://schemas.openxmlformats.org/officeDocument/2006/relationships/notesSlide" Target="/ppt/notesSlides/notesSlide3.xml" Id="R891142754e724b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a423a5fd54c95" /><Relationship Type="http://schemas.openxmlformats.org/officeDocument/2006/relationships/image" Target="/ppt/media/image3.png" Id="Rff5c4643c8394565" /><Relationship Type="http://schemas.openxmlformats.org/officeDocument/2006/relationships/image" Target="/ppt/media/image4.png" Id="R9c5445a694fe4ce7" /><Relationship Type="http://schemas.openxmlformats.org/officeDocument/2006/relationships/image" Target="/ppt/media/image5.png" Id="R951cb14d48d5483c" /><Relationship Type="http://schemas.openxmlformats.org/officeDocument/2006/relationships/notesSlide" Target="/ppt/notesSlides/notesSlide4.xml" Id="Rbf85f75d880144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4689040a24380" /><Relationship Type="http://schemas.openxmlformats.org/officeDocument/2006/relationships/image" Target="/ppt/media/image6.png" Id="Rc955323351554f3d" /><Relationship Type="http://schemas.openxmlformats.org/officeDocument/2006/relationships/image" Target="/ppt/media/image7.png" Id="R7eb48909cee0415e" /><Relationship Type="http://schemas.openxmlformats.org/officeDocument/2006/relationships/image" Target="/ppt/media/image8.png" Id="R8f5692326ca0424d" /><Relationship Type="http://schemas.openxmlformats.org/officeDocument/2006/relationships/notesSlide" Target="/ppt/notesSlides/notesSlide5.xml" Id="Rb1fb3177761440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b199f9eb44ba4" /><Relationship Type="http://schemas.openxmlformats.org/officeDocument/2006/relationships/notesSlide" Target="/ppt/notesSlides/notesSlide6.xml" Id="Rf0d09303cceb4f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A96492B1-5D3C-45F6-BBA7-DB5AAE1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609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41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让企业用上 AI，</a:t>
            </a:r>
          </a:p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41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换模型也不必从头再来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46F4624-1B28-401E-81B8-E705160E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619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从任务选择、模型接入到协作修改，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把品牌判断和采用记录留在企业手里。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79E03-6909-4236-B26A-B1715B7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4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9D039481-609D-4B94-92D0-B387101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first-customer-panel">
            <a:extLst xmlns:a="http://schemas.openxmlformats.org/drawingml/2006/main">
              <a:ext uri="{FF2B5EF4-FFF2-40B4-BE49-F238E27FC236}">
                <a16:creationId xmlns:a16="http://schemas.microsoft.com/office/drawing/2014/main" id="{FC41BE4E-576D-43E8-B039-30B89734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9339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AFCBFF"/>
            </a:solidFill>
            <a:prstDash val="solid"/>
          </a:ln>
        </p:spPr>
      </p:sp>
      <p:sp>
        <p:nvSpPr>
          <p:cNvPr id="6" name="cover-first-customer-label">
            <a:extLst xmlns:a="http://schemas.openxmlformats.org/drawingml/2006/main">
              <a:ext uri="{FF2B5EF4-FFF2-40B4-BE49-F238E27FC236}">
                <a16:creationId xmlns:a16="http://schemas.microsoft.com/office/drawing/2014/main" id="{AEA8BE6C-EBD2-440D-A72E-D85A1CA9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577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当前市场入口</a:t>
            </a:r>
          </a:p>
        </p:txBody>
      </p:sp>
      <p:sp>
        <p:nvSpPr>
          <p:cNvPr id="7" name="cover-first-customer">
            <a:extLst xmlns:a="http://schemas.openxmlformats.org/drawingml/2006/main">
              <a:ext uri="{FF2B5EF4-FFF2-40B4-BE49-F238E27FC236}">
                <a16:creationId xmlns:a16="http://schemas.microsoft.com/office/drawing/2014/main" id="{9A8AAAF8-12F1-4828-86B5-EBC4987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911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企业 AI 内容生产线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接任务 → 生成 → 修改 → 采用 → 复用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32d4cd94b4a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0" y="990600"/>
            <a:ext cx="4933950" cy="36385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68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2">
            <a:extLst xmlns:a="http://schemas.openxmlformats.org/drawingml/2006/main">
              <a:ext uri="{FF2B5EF4-FFF2-40B4-BE49-F238E27FC236}">
                <a16:creationId xmlns:a16="http://schemas.microsoft.com/office/drawing/2014/main" id="{EDC80EE0-B55F-44C8-AF02-79D90DD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1E781A8-C3FA-47D1-A1D4-DEF8490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市场不缺模型，缺的是一条跨模型的企业生产线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8DACBE-3A08-45EC-A5EF-0DA5E55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EBEBF16-E888-4B90-BC16-CF77AB3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AFBE6E2E-E9AF-4B24-A9CA-24371BC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5146359D-8834-4971-A1B9-66115F6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oblem-arrow-3">
            <a:extLst xmlns:a="http://schemas.openxmlformats.org/drawingml/2006/main">
              <a:ext uri="{FF2B5EF4-FFF2-40B4-BE49-F238E27FC236}">
                <a16:creationId xmlns:a16="http://schemas.microsoft.com/office/drawing/2014/main" id="{89730037-E7C3-40BD-819A-CB0A014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oblem-arrow-4">
            <a:extLst xmlns:a="http://schemas.openxmlformats.org/drawingml/2006/main">
              <a:ext uri="{FF2B5EF4-FFF2-40B4-BE49-F238E27FC236}">
                <a16:creationId xmlns:a16="http://schemas.microsoft.com/office/drawing/2014/main" id="{1C6AE048-6E8D-4589-9609-9D6FC07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blem-arrow-5">
            <a:extLst xmlns:a="http://schemas.openxmlformats.org/drawingml/2006/main">
              <a:ext uri="{FF2B5EF4-FFF2-40B4-BE49-F238E27FC236}">
                <a16:creationId xmlns:a16="http://schemas.microsoft.com/office/drawing/2014/main" id="{8BE0BB40-DAFA-415A-ACB5-7AFD7F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oblem-card-01">
            <a:extLst xmlns:a="http://schemas.openxmlformats.org/drawingml/2006/main">
              <a:ext uri="{FF2B5EF4-FFF2-40B4-BE49-F238E27FC236}">
                <a16:creationId xmlns:a16="http://schemas.microsoft.com/office/drawing/2014/main" id="{E67F7437-9FFF-40C5-8928-9A7D90D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391150" cy="25908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1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D9F4A155-4C77-477C-B147-A96DAB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还没用上</a:t>
            </a:r>
          </a:p>
        </p:txBody>
      </p:sp>
      <p:sp>
        <p:nvSpPr>
          <p:cNvPr id="12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12695C17-F2D5-4F74-A407-36A884C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不知道从哪个场景开始</a:t>
            </a:r>
          </a:p>
        </p:txBody>
      </p:sp>
      <p:sp>
        <p:nvSpPr>
          <p:cNvPr id="13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AE28D1C3-121D-4354-9C3A-DABB6B6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选什么模型？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改造哪段业务？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如何接进现有团队？</a:t>
            </a:r>
          </a:p>
        </p:txBody>
      </p:sp>
      <p:sp>
        <p:nvSpPr>
          <p:cNvPr id="14" name="problem-card-02">
            <a:extLst xmlns:a="http://schemas.openxmlformats.org/drawingml/2006/main">
              <a:ext uri="{FF2B5EF4-FFF2-40B4-BE49-F238E27FC236}">
                <a16:creationId xmlns:a16="http://schemas.microsoft.com/office/drawing/2014/main" id="{D2424645-FC2A-4DF6-AACF-A2F9B0DA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5791200" cy="25908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5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795042DC-2E7A-41E9-A3A0-A500397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已经用上</a:t>
            </a:r>
          </a:p>
        </p:txBody>
      </p:sp>
      <p:sp>
        <p:nvSpPr>
          <p:cNvPr id="16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268FC771-6882-4566-A6BF-1A989BE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模型越强，迁移越贵</a:t>
            </a:r>
          </a:p>
        </p:txBody>
      </p:sp>
      <p:sp>
        <p:nvSpPr>
          <p:cNvPr id="17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F1D1AE0E-4E3C-4939-BF1D-26889C4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反馈散在聊天与文件里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流程难以规模化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换模型时经验经常重做</a:t>
            </a:r>
          </a:p>
        </p:txBody>
      </p:sp>
      <p:sp>
        <p:nvSpPr>
          <p:cNvPr id="18" name="problem-card-03">
            <a:extLst xmlns:a="http://schemas.openxmlformats.org/drawingml/2006/main">
              <a:ext uri="{FF2B5EF4-FFF2-40B4-BE49-F238E27FC236}">
                <a16:creationId xmlns:a16="http://schemas.microsoft.com/office/drawing/2014/main" id="{D882D7C7-7572-41B6-B4FB-F8B979F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25AEB4F8-5C06-4D52-BD68-7F40938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AI 已采用</a:t>
            </a:r>
          </a:p>
        </p:txBody>
      </p:sp>
      <p:sp>
        <p:nvSpPr>
          <p:cNvPr id="20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07CD8DD-1679-4649-9C11-CE7C4E8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88%</a:t>
            </a:r>
          </a:p>
        </p:txBody>
      </p:sp>
      <p:sp>
        <p:nvSpPr>
          <p:cNvPr id="21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2E2EC799-2ED9-45D2-AC0C-93D09AF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至少一个职能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常态使用 AI</a:t>
            </a:r>
          </a:p>
        </p:txBody>
      </p:sp>
      <p:sp>
        <p:nvSpPr>
          <p:cNvPr id="22" name="problem-card-04">
            <a:extLst xmlns:a="http://schemas.openxmlformats.org/drawingml/2006/main">
              <a:ext uri="{FF2B5EF4-FFF2-40B4-BE49-F238E27FC236}">
                <a16:creationId xmlns:a16="http://schemas.microsoft.com/office/drawing/2014/main" id="{2E66F1ED-1966-41DE-9BF7-9CD2DE5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problem-number-04">
            <a:extLst xmlns:a="http://schemas.openxmlformats.org/drawingml/2006/main">
              <a:ext uri="{FF2B5EF4-FFF2-40B4-BE49-F238E27FC236}">
                <a16:creationId xmlns:a16="http://schemas.microsoft.com/office/drawing/2014/main" id="{03E6F693-C315-4F2E-B0D2-E9556DD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仍难规模化</a:t>
            </a:r>
          </a:p>
        </p:txBody>
      </p:sp>
      <p:sp>
        <p:nvSpPr>
          <p:cNvPr id="24" name="problem-title-04">
            <a:extLst xmlns:a="http://schemas.openxmlformats.org/drawingml/2006/main">
              <a:ext uri="{FF2B5EF4-FFF2-40B4-BE49-F238E27FC236}">
                <a16:creationId xmlns:a16="http://schemas.microsoft.com/office/drawing/2014/main" id="{3240C053-45B0-4125-A034-87B2732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≈1/3</a:t>
            </a:r>
          </a:p>
        </p:txBody>
      </p:sp>
      <p:sp>
        <p:nvSpPr>
          <p:cNvPr id="25" name="problem-body-04">
            <a:extLst xmlns:a="http://schemas.openxmlformats.org/drawingml/2006/main">
              <a:ext uri="{FF2B5EF4-FFF2-40B4-BE49-F238E27FC236}">
                <a16:creationId xmlns:a16="http://schemas.microsoft.com/office/drawing/2014/main" id="{A22E207A-98E0-405E-AFC0-FD8363F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91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开始规模化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AI 项目</a:t>
            </a:r>
          </a:p>
        </p:txBody>
      </p:sp>
      <p:sp>
        <p:nvSpPr>
          <p:cNvPr id="26" name="problem-card-05">
            <a:extLst xmlns:a="http://schemas.openxmlformats.org/drawingml/2006/main">
              <a:ext uri="{FF2B5EF4-FFF2-40B4-BE49-F238E27FC236}">
                <a16:creationId xmlns:a16="http://schemas.microsoft.com/office/drawing/2014/main" id="{8E1711D1-7814-4671-8A80-3C65EA9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problem-number-05">
            <a:extLst xmlns:a="http://schemas.openxmlformats.org/drawingml/2006/main">
              <a:ext uri="{FF2B5EF4-FFF2-40B4-BE49-F238E27FC236}">
                <a16:creationId xmlns:a16="http://schemas.microsoft.com/office/drawing/2014/main" id="{236372BC-20C2-408D-9F1B-8DEDBF2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内容压力</a:t>
            </a:r>
          </a:p>
        </p:txBody>
      </p:sp>
      <p:sp>
        <p:nvSpPr>
          <p:cNvPr id="28" name="problem-title-05">
            <a:extLst xmlns:a="http://schemas.openxmlformats.org/drawingml/2006/main">
              <a:ext uri="{FF2B5EF4-FFF2-40B4-BE49-F238E27FC236}">
                <a16:creationId xmlns:a16="http://schemas.microsoft.com/office/drawing/2014/main" id="{53A2CEA4-F3E8-4048-BC49-2EF5488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29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96%</a:t>
            </a:r>
          </a:p>
        </p:txBody>
      </p:sp>
      <p:sp>
        <p:nvSpPr>
          <p:cNvPr id="29" name="problem-body-05">
            <a:extLst xmlns:a="http://schemas.openxmlformats.org/drawingml/2006/main">
              <a:ext uri="{FF2B5EF4-FFF2-40B4-BE49-F238E27FC236}">
                <a16:creationId xmlns:a16="http://schemas.microsoft.com/office/drawing/2014/main" id="{B856A33B-0EB3-4D56-B446-BF2CE3A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91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过去两年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内容需求至少翻倍</a:t>
            </a:r>
          </a:p>
        </p:txBody>
      </p:sp>
      <p:sp>
        <p:nvSpPr>
          <p:cNvPr id="30" name="problem-card-06">
            <a:extLst xmlns:a="http://schemas.openxmlformats.org/drawingml/2006/main">
              <a:ext uri="{FF2B5EF4-FFF2-40B4-BE49-F238E27FC236}">
                <a16:creationId xmlns:a16="http://schemas.microsoft.com/office/drawing/2014/main" id="{8DB2FEA2-AA46-4C77-9328-02D2AD7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problem-number-06">
            <a:extLst xmlns:a="http://schemas.openxmlformats.org/drawingml/2006/main">
              <a:ext uri="{FF2B5EF4-FFF2-40B4-BE49-F238E27FC236}">
                <a16:creationId xmlns:a16="http://schemas.microsoft.com/office/drawing/2014/main" id="{8A03D233-81E7-4CEB-BD8C-C8D3C22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2" name="problem-title-06">
            <a:extLst xmlns:a="http://schemas.openxmlformats.org/drawingml/2006/main">
              <a:ext uri="{FF2B5EF4-FFF2-40B4-BE49-F238E27FC236}">
                <a16:creationId xmlns:a16="http://schemas.microsoft.com/office/drawing/2014/main" id="{FE26F51C-E6C0-4FDA-89D6-6285C58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3" name="problem-body-06">
            <a:extLst xmlns:a="http://schemas.openxmlformats.org/drawingml/2006/main">
              <a:ext uri="{FF2B5EF4-FFF2-40B4-BE49-F238E27FC236}">
                <a16:creationId xmlns:a16="http://schemas.microsoft.com/office/drawing/2014/main" id="{9187A1C8-78CF-4A3D-8474-B425A09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0198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6938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6938C"/>
                </a:solidFill>
                <a:latin typeface="PingFang SC"/>
                <a:ea typeface="PingFang SC"/>
                <a:cs typeface="PingFang SC"/>
              </a:rPr>
              <a:t>来源：McKinsey 2025；Adobe 2025</a:t>
            </a:r>
          </a:p>
        </p:txBody>
      </p:sp>
      <p:sp>
        <p:nvSpPr>
          <p:cNvPr id="34" name="model-upgrade-reset">
            <a:extLst xmlns:a="http://schemas.openxmlformats.org/drawingml/2006/main">
              <a:ext uri="{FF2B5EF4-FFF2-40B4-BE49-F238E27FC236}">
                <a16:creationId xmlns:a16="http://schemas.microsoft.com/office/drawing/2014/main" id="{E32D7375-E423-4E83-8F5D-54D10D6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05250"/>
            <a:ext cx="58674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69F6"/>
          </a:solidFill>
          <a:ln xmlns:a="http://schemas.openxmlformats.org/drawingml/2006/main" w="9525">
            <a:solidFill>
              <a:srgbClr val="1769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model-upgrade-reset-text">
            <a:extLst xmlns:a="http://schemas.openxmlformats.org/drawingml/2006/main">
              <a:ext uri="{FF2B5EF4-FFF2-40B4-BE49-F238E27FC236}">
                <a16:creationId xmlns:a16="http://schemas.microsoft.com/office/drawing/2014/main" id="{E0BD219B-40D0-4B10-A5A6-1893255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862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共同缺口：跨模型、可复用的企业生产系统</a:t>
            </a:r>
          </a:p>
        </p:txBody>
      </p:sp>
      <p:sp>
        <p:nvSpPr>
          <p:cNvPr id="36" name="business-cost-label">
            <a:extLst xmlns:a="http://schemas.openxmlformats.org/drawingml/2006/main">
              <a:ext uri="{FF2B5EF4-FFF2-40B4-BE49-F238E27FC236}">
                <a16:creationId xmlns:a16="http://schemas.microsoft.com/office/drawing/2014/main" id="{681C0783-DF09-40E4-B5B2-DC129A7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首个商业切入口</a:t>
            </a:r>
          </a:p>
        </p:txBody>
      </p:sp>
      <p:sp>
        <p:nvSpPr>
          <p:cNvPr id="37" name="business-costs">
            <a:extLst xmlns:a="http://schemas.openxmlformats.org/drawingml/2006/main">
              <a:ext uri="{FF2B5EF4-FFF2-40B4-BE49-F238E27FC236}">
                <a16:creationId xmlns:a16="http://schemas.microsoft.com/office/drawing/2014/main" id="{4042654F-7973-4F6F-89C9-DC8CF93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769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多品牌创意 / 本地化 / 跨境营销服务商</a:t>
            </a:r>
          </a:p>
        </p:txBody>
      </p:sp>
      <p:sp>
        <p:nvSpPr>
          <p:cNvPr id="38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977E12C0-3361-4DE1-B7A5-D07B649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0007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上接模型与工具，下接终端品牌；返工与换模成本最集中，最适合作为付费试点入口。</a:t>
            </a:r>
          </a:p>
        </p:txBody>
      </p:sp>
    </p:spTree>
    <p:extLst>
      <p:ext uri="{BB962C8B-B14F-4D97-AF65-F5344CB8AC3E}">
        <p14:creationId xmlns:p14="http://schemas.microsoft.com/office/powerpoint/2010/main" val="1348703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2">
            <a:extLst xmlns:a="http://schemas.openxmlformats.org/drawingml/2006/main">
              <a:ext uri="{FF2B5EF4-FFF2-40B4-BE49-F238E27FC236}">
                <a16:creationId xmlns:a16="http://schemas.microsoft.com/office/drawing/2014/main" id="{EDC80EE0-B55F-44C8-AF02-79D90DD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 /  虚构企业演示（非客户案例）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1E781A8-C3FA-47D1-A1D4-DEF8490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一家新锐美妆品牌，要在 7 天内上线中英双市场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8DACBE-3A08-45EC-A5EF-0DA5E55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EBEBF16-E888-4B90-BC16-CF77AB3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AFBE6E2E-E9AF-4B24-A9CA-24371BC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5146359D-8834-4971-A1B9-66115F6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oblem-arrow-3">
            <a:extLst xmlns:a="http://schemas.openxmlformats.org/drawingml/2006/main">
              <a:ext uri="{FF2B5EF4-FFF2-40B4-BE49-F238E27FC236}">
                <a16:creationId xmlns:a16="http://schemas.microsoft.com/office/drawing/2014/main" id="{89730037-E7C3-40BD-819A-CB0A014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oblem-arrow-4">
            <a:extLst xmlns:a="http://schemas.openxmlformats.org/drawingml/2006/main">
              <a:ext uri="{FF2B5EF4-FFF2-40B4-BE49-F238E27FC236}">
                <a16:creationId xmlns:a16="http://schemas.microsoft.com/office/drawing/2014/main" id="{1C6AE048-6E8D-4589-9609-9D6FC07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blem-arrow-5">
            <a:extLst xmlns:a="http://schemas.openxmlformats.org/drawingml/2006/main">
              <a:ext uri="{FF2B5EF4-FFF2-40B4-BE49-F238E27FC236}">
                <a16:creationId xmlns:a16="http://schemas.microsoft.com/office/drawing/2014/main" id="{8BE0BB40-DAFA-415A-ACB5-7AFD7F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oblem-card-01">
            <a:extLst xmlns:a="http://schemas.openxmlformats.org/drawingml/2006/main">
              <a:ext uri="{FF2B5EF4-FFF2-40B4-BE49-F238E27FC236}">
                <a16:creationId xmlns:a16="http://schemas.microsoft.com/office/drawing/2014/main" id="{E67F7437-9FFF-40C5-8928-9A7D90D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4295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1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D9F4A155-4C77-477C-B147-A96DAB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2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12695C17-F2D5-4F74-A407-36A884C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3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AE28D1C3-121D-4354-9C3A-DABB6B6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4" name="problem-card-02">
            <a:extLst xmlns:a="http://schemas.openxmlformats.org/drawingml/2006/main">
              <a:ext uri="{FF2B5EF4-FFF2-40B4-BE49-F238E27FC236}">
                <a16:creationId xmlns:a16="http://schemas.microsoft.com/office/drawing/2014/main" id="{D2424645-FC2A-4DF6-AACF-A2F9B0DA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28750"/>
            <a:ext cx="37338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AFCBFF"/>
            </a:solidFill>
            <a:prstDash val="solid"/>
          </a:ln>
        </p:spPr>
      </p:sp>
      <p:sp>
        <p:nvSpPr>
          <p:cNvPr id="15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795042DC-2E7A-41E9-A3A0-A500397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示例任务</a:t>
            </a:r>
          </a:p>
        </p:txBody>
      </p:sp>
      <p:sp>
        <p:nvSpPr>
          <p:cNvPr id="16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268FC771-6882-4566-A6BF-1A989BE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43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7 天上线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中英双市场</a:t>
            </a:r>
          </a:p>
        </p:txBody>
      </p:sp>
      <p:sp>
        <p:nvSpPr>
          <p:cNvPr id="17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F1D1AE0E-4E3C-4939-BF1D-26889C4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同一产品覆盖电商主图、社媒尺寸与本地化版本。</a:t>
            </a:r>
          </a:p>
        </p:txBody>
      </p:sp>
      <p:sp>
        <p:nvSpPr>
          <p:cNvPr id="18" name="problem-card-03">
            <a:extLst xmlns:a="http://schemas.openxmlformats.org/drawingml/2006/main">
              <a:ext uri="{FF2B5EF4-FFF2-40B4-BE49-F238E27FC236}">
                <a16:creationId xmlns:a16="http://schemas.microsoft.com/office/drawing/2014/main" id="{D882D7C7-7572-41B6-B4FB-F8B979F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327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F5"/>
            </a:solidFill>
            <a:prstDash val="solid"/>
          </a:ln>
        </p:spPr>
      </p:sp>
      <p:sp>
        <p:nvSpPr>
          <p:cNvPr id="19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25AEB4F8-5C06-4D52-BD68-7F40938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623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企业提供</a:t>
            </a:r>
          </a:p>
        </p:txBody>
      </p:sp>
      <p:sp>
        <p:nvSpPr>
          <p:cNvPr id="20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07CD8DD-1679-4649-9C11-CE7C4E8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产品参考 / 品牌要求 / 渠道 / 审批人</a:t>
            </a:r>
          </a:p>
        </p:txBody>
      </p:sp>
      <p:sp>
        <p:nvSpPr>
          <p:cNvPr id="21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2E2EC799-2ED9-45D2-AC0C-93D09AF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909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企业只做业务判断，不负责模型编排</a:t>
            </a:r>
          </a:p>
        </p:txBody>
      </p:sp>
      <p:sp>
        <p:nvSpPr>
          <p:cNvPr id="22" name="problem-card-04">
            <a:extLst xmlns:a="http://schemas.openxmlformats.org/drawingml/2006/main">
              <a:ext uri="{FF2B5EF4-FFF2-40B4-BE49-F238E27FC236}">
                <a16:creationId xmlns:a16="http://schemas.microsoft.com/office/drawing/2014/main" id="{2E66F1ED-1966-41DE-9BF7-9CD2DE5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32766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F5"/>
            </a:solidFill>
            <a:prstDash val="solid"/>
          </a:ln>
        </p:spPr>
      </p:sp>
      <p:sp>
        <p:nvSpPr>
          <p:cNvPr id="23" name="problem-number-04">
            <a:extLst xmlns:a="http://schemas.openxmlformats.org/drawingml/2006/main">
              <a:ext uri="{FF2B5EF4-FFF2-40B4-BE49-F238E27FC236}">
                <a16:creationId xmlns:a16="http://schemas.microsoft.com/office/drawing/2014/main" id="{03E6F693-C315-4F2E-B0D2-E9556DD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62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执行</a:t>
            </a:r>
          </a:p>
        </p:txBody>
      </p:sp>
      <p:sp>
        <p:nvSpPr>
          <p:cNvPr id="24" name="problem-title-04">
            <a:extLst xmlns:a="http://schemas.openxmlformats.org/drawingml/2006/main">
              <a:ext uri="{FF2B5EF4-FFF2-40B4-BE49-F238E27FC236}">
                <a16:creationId xmlns:a16="http://schemas.microsoft.com/office/drawing/2014/main" id="{3240C053-45B0-4125-A034-87B2732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接 brief → 候选 → 定点修改 → 采纳</a:t>
            </a:r>
          </a:p>
        </p:txBody>
      </p:sp>
      <p:sp>
        <p:nvSpPr>
          <p:cNvPr id="25" name="problem-body-04">
            <a:extLst xmlns:a="http://schemas.openxmlformats.org/drawingml/2006/main">
              <a:ext uri="{FF2B5EF4-FFF2-40B4-BE49-F238E27FC236}">
                <a16:creationId xmlns:a16="http://schemas.microsoft.com/office/drawing/2014/main" id="{A22E207A-98E0-405E-AFC0-FD8363F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规则、版本与采用记录留在同一条生产线</a:t>
            </a:r>
          </a:p>
        </p:txBody>
      </p:sp>
      <p:sp>
        <p:nvSpPr>
          <p:cNvPr id="26" name="problem-card-05">
            <a:extLst xmlns:a="http://schemas.openxmlformats.org/drawingml/2006/main">
              <a:ext uri="{FF2B5EF4-FFF2-40B4-BE49-F238E27FC236}">
                <a16:creationId xmlns:a16="http://schemas.microsoft.com/office/drawing/2014/main" id="{8E1711D1-7814-4671-8A80-3C65EA9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problem-number-05">
            <a:extLst xmlns:a="http://schemas.openxmlformats.org/drawingml/2006/main">
              <a:ext uri="{FF2B5EF4-FFF2-40B4-BE49-F238E27FC236}">
                <a16:creationId xmlns:a16="http://schemas.microsoft.com/office/drawing/2014/main" id="{236372BC-20C2-408D-9F1B-8DEDBF2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28" name="problem-title-05">
            <a:extLst xmlns:a="http://schemas.openxmlformats.org/drawingml/2006/main">
              <a:ext uri="{FF2B5EF4-FFF2-40B4-BE49-F238E27FC236}">
                <a16:creationId xmlns:a16="http://schemas.microsoft.com/office/drawing/2014/main" id="{53A2CEA4-F3E8-4048-BC49-2EF5488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29" name="problem-body-05">
            <a:extLst xmlns:a="http://schemas.openxmlformats.org/drawingml/2006/main">
              <a:ext uri="{FF2B5EF4-FFF2-40B4-BE49-F238E27FC236}">
                <a16:creationId xmlns:a16="http://schemas.microsoft.com/office/drawing/2014/main" id="{B856A33B-0EB3-4D56-B446-BF2CE3A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0" name="problem-card-06">
            <a:extLst xmlns:a="http://schemas.openxmlformats.org/drawingml/2006/main">
              <a:ext uri="{FF2B5EF4-FFF2-40B4-BE49-F238E27FC236}">
                <a16:creationId xmlns:a16="http://schemas.microsoft.com/office/drawing/2014/main" id="{8DB2FEA2-AA46-4C77-9328-02D2AD7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problem-number-06">
            <a:extLst xmlns:a="http://schemas.openxmlformats.org/drawingml/2006/main">
              <a:ext uri="{FF2B5EF4-FFF2-40B4-BE49-F238E27FC236}">
                <a16:creationId xmlns:a16="http://schemas.microsoft.com/office/drawing/2014/main" id="{8A03D233-81E7-4CEB-BD8C-C8D3C22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2" name="problem-title-06">
            <a:extLst xmlns:a="http://schemas.openxmlformats.org/drawingml/2006/main">
              <a:ext uri="{FF2B5EF4-FFF2-40B4-BE49-F238E27FC236}">
                <a16:creationId xmlns:a16="http://schemas.microsoft.com/office/drawing/2014/main" id="{FE26F51C-E6C0-4FDA-89D6-6285C58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3" name="problem-body-06">
            <a:extLst xmlns:a="http://schemas.openxmlformats.org/drawingml/2006/main">
              <a:ext uri="{FF2B5EF4-FFF2-40B4-BE49-F238E27FC236}">
                <a16:creationId xmlns:a16="http://schemas.microsoft.com/office/drawing/2014/main" id="{9187A1C8-78CF-4A3D-8474-B425A09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4" name="model-upgrade-reset">
            <a:extLst xmlns:a="http://schemas.openxmlformats.org/drawingml/2006/main">
              <a:ext uri="{FF2B5EF4-FFF2-40B4-BE49-F238E27FC236}">
                <a16:creationId xmlns:a16="http://schemas.microsoft.com/office/drawing/2014/main" id="{E32D7375-E423-4E83-8F5D-54D10D6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11391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211C19"/>
            </a:solidFill>
            <a:prstDash val="solid"/>
          </a:ln>
        </p:spPr>
      </p:sp>
      <p:sp>
        <p:nvSpPr>
          <p:cNvPr id="35" name="model-upgrade-reset-text">
            <a:extLst xmlns:a="http://schemas.openxmlformats.org/drawingml/2006/main">
              <a:ext uri="{FF2B5EF4-FFF2-40B4-BE49-F238E27FC236}">
                <a16:creationId xmlns:a16="http://schemas.microsoft.com/office/drawing/2014/main" id="{E0BD219B-40D0-4B10-A5A6-1893255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企业给目标、品牌判断与授权；VULCA 组织模型、执行修改、记录采用。</a:t>
            </a:r>
          </a:p>
        </p:txBody>
      </p:sp>
      <p:sp>
        <p:nvSpPr>
          <p:cNvPr id="36" name="business-cost-label">
            <a:extLst xmlns:a="http://schemas.openxmlformats.org/drawingml/2006/main">
              <a:ext uri="{FF2B5EF4-FFF2-40B4-BE49-F238E27FC236}">
                <a16:creationId xmlns:a16="http://schemas.microsoft.com/office/drawing/2014/main" id="{681C0783-DF09-40E4-B5B2-DC129A7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试点如何衡量</a:t>
            </a:r>
          </a:p>
        </p:txBody>
      </p:sp>
      <p:sp>
        <p:nvSpPr>
          <p:cNvPr id="37" name="business-costs">
            <a:extLst xmlns:a="http://schemas.openxmlformats.org/drawingml/2006/main">
              <a:ext uri="{FF2B5EF4-FFF2-40B4-BE49-F238E27FC236}">
                <a16:creationId xmlns:a16="http://schemas.microsoft.com/office/drawing/2014/main" id="{4042654F-7973-4F6F-89C9-DC8CF93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816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首个获批时间 / 修改轮次 / 单个获批素材成本 / 换模人时</a:t>
            </a:r>
          </a:p>
        </p:txBody>
      </p:sp>
      <p:sp>
        <p:nvSpPr>
          <p:cNvPr id="38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977E12C0-3361-4DE1-B7A5-D07B649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6938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6938C"/>
                </a:solidFill>
                <a:latin typeface="PingFang SC"/>
                <a:ea typeface="PingFang SC"/>
                <a:cs typeface="PingFang SC"/>
              </a:rPr>
              <a:t>VULCA 虚构演示任务｜非客户案例｜不代表已验证的业务结果或付费意愿。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a0680d35745c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76250" y="1677723"/>
            <a:ext cx="7277100" cy="293105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03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一次企业意见，变成可执行、可检查的修改记录</a:t>
            </a:r>
          </a:p>
        </p:txBody>
      </p:sp>
      <p:cxnSp>
        <p:nvCxnSpPr>
          <p:cNvPr id="70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143500" cy="4476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81125"/>
            <a:ext cx="60198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14750"/>
            <a:ext cx="6019800" cy="21431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211C19"/>
            </a:solidFill>
            <a:prstDash val="solid"/>
          </a:ln>
        </p:spPr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② VULCA 目标记录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多余包装 · 目标层 4.57%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① 候选 B：3 个产品单元，未通过约束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③ 采纳版本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只保留 2 个产品单元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进入下一批渠道版本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14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81125"/>
            <a:ext cx="601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14750"/>
            <a:ext cx="601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c4643c83945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8650" y="1619250"/>
            <a:ext cx="4686300" cy="3352800"/>
          </a:xfrm>
          <a:prstGeom xmlns:a="http://schemas.openxmlformats.org/drawingml/2006/main" prst="round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445a694fe4c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0" y="1600200"/>
            <a:ext cx="1619250" cy="1428750"/>
          </a:xfrm>
          <a:prstGeom xmlns:a="http://schemas.openxmlformats.org/drawingml/2006/main" prst="round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cb14d48d548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981700" y="3905250"/>
            <a:ext cx="2857500" cy="1714500"/>
          </a:xfrm>
          <a:prstGeom xmlns:a="http://schemas.openxmlformats.org/drawingml/2006/main" prst="roundRect">
            <a:avLst/>
          </a:prstGeom>
        </p:spPr>
      </p:pic>
      <p:sp>
        <p:nvSpPr>
          <p:cNvPr id="43" name="evidence-status-sl-uz6hie">
            <a:extLst xmlns:a="http://schemas.openxmlformats.org/drawingml/2006/main">
              <a:ext uri="{FF2B5EF4-FFF2-40B4-BE49-F238E27FC236}">
                <a16:creationId xmlns:a16="http://schemas.microsoft.com/office/drawing/2014/main" id="{AA9F230E-67C1-41A3-B667-9867713D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6938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6938C"/>
                </a:solidFill>
                <a:latin typeface="PingFang SC"/>
                <a:ea typeface="PingFang SC"/>
                <a:cs typeface="PingFang SC"/>
              </a:rPr>
              <a:t>VULCA 0.23.1 本地实际运行｜自动分割未完成时，降级为 brief 驱动、人工确认目标的 V3 图层记录｜虚构演示</a:t>
            </a:r>
          </a:p>
        </p:txBody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被采用的不只是一张图，而是一份可迁移的视觉资产</a:t>
            </a:r>
          </a:p>
        </p:txBody>
      </p:sp>
      <p:cxnSp>
        <p:nvCxnSpPr>
          <p:cNvPr id="70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239000" cy="3905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886200" cy="18573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886200" cy="17621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097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受保护层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产品不重做 · 10.63%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采纳版本：2 个产品单元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5287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目标层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多余包装 · 4.57%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23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886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886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5323351554f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90550" y="1619250"/>
            <a:ext cx="6858000" cy="3000375"/>
          </a:xfrm>
          <a:prstGeom xmlns:a="http://schemas.openxmlformats.org/drawingml/2006/main" prst="round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48909cee041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096250" y="1619250"/>
            <a:ext cx="1381125" cy="1143000"/>
          </a:xfrm>
          <a:prstGeom xmlns:a="http://schemas.openxmlformats.org/drawingml/2006/main" prst="round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692326ca042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096250" y="3762375"/>
            <a:ext cx="1381125" cy="1095375"/>
          </a:xfrm>
          <a:prstGeom xmlns:a="http://schemas.openxmlformats.org/drawingml/2006/main" prst="roundRect">
            <a:avLst/>
          </a:prstGeom>
        </p:spPr>
      </p:pic>
      <p:sp>
        <p:nvSpPr>
          <p:cNvPr id="43" name="evidence-status-sl-9pqj7q">
            <a:extLst xmlns:a="http://schemas.openxmlformats.org/drawingml/2006/main">
              <a:ext uri="{FF2B5EF4-FFF2-40B4-BE49-F238E27FC236}">
                <a16:creationId xmlns:a16="http://schemas.microsoft.com/office/drawing/2014/main" id="{8ABD14DE-126F-4FCC-BCD0-5ED7DBD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局部变化诊断：目标区域 74.72%｜环境 1.11%｜受保护产品 6.10%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价值：换模型时带走任务、目标层、保留规则与采用记录｜阈值诊断，非正式评测</a:t>
            </a:r>
          </a:p>
        </p:txBody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5">
            <a:extLst xmlns:a="http://schemas.openxmlformats.org/drawingml/2006/main">
              <a:ext uri="{FF2B5EF4-FFF2-40B4-BE49-F238E27FC236}">
                <a16:creationId xmlns:a16="http://schemas.microsoft.com/office/drawing/2014/main" id="{20259635-4086-44AD-85C8-1F109791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224343B-2A9F-4427-AC41-4CE31097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从一条生产线，长成企业自己的视觉智能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A26F662B-C2A2-4F63-BDB4-CA93538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55678973-B753-4DEC-B97E-F5E40BEA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5" name="pilot-scope">
            <a:extLst xmlns:a="http://schemas.openxmlformats.org/drawingml/2006/main">
              <a:ext uri="{FF2B5EF4-FFF2-40B4-BE49-F238E27FC236}">
                <a16:creationId xmlns:a16="http://schemas.microsoft.com/office/drawing/2014/main" id="{3B451D4F-D713-4103-B5DF-B17ECDF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AFCBFF"/>
            </a:solidFill>
            <a:prstDash val="solid"/>
          </a:ln>
        </p:spPr>
      </p:sp>
      <p:sp>
        <p:nvSpPr>
          <p:cNvPr id="6" name="pilot-scope-text">
            <a:extLst xmlns:a="http://schemas.openxmlformats.org/drawingml/2006/main">
              <a:ext uri="{FF2B5EF4-FFF2-40B4-BE49-F238E27FC236}">
                <a16:creationId xmlns:a16="http://schemas.microsoft.com/office/drawing/2014/main" id="{04150355-CDFE-4C7B-81BD-D5CE3F83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E4FC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E4FC5"/>
                </a:solidFill>
                <a:latin typeface="PingFang SC"/>
                <a:ea typeface="PingFang SC"/>
                <a:cs typeface="PingFang SC"/>
              </a:rPr>
              <a:t>愿景：每家企业都有一支会创作、会协作、也记得自身要求的 AI 视觉团队</a:t>
            </a:r>
          </a:p>
        </p:txBody>
      </p:sp>
      <p:sp>
        <p:nvSpPr>
          <p:cNvPr id="7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E298C98A-2ECD-4459-B493-21A56C59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4765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F6F72D8-810A-40CB-8DA1-78F780C6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01 付费试点</a:t>
            </a:r>
          </a:p>
        </p:txBody>
      </p:sp>
      <p:sp>
        <p:nvSpPr>
          <p:cNvPr id="9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9CF20165-4EB3-422F-A147-7B56FA52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跑通一个高频任务</a:t>
            </a:r>
          </a:p>
        </p:txBody>
      </p:sp>
      <p:sp>
        <p:nvSpPr>
          <p:cNvPr id="10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C2F6D952-ABA9-4A43-930A-30A1F3A8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FDE 式共同落地</a:t>
            </a:r>
          </a:p>
        </p:txBody>
      </p:sp>
      <p:sp>
        <p:nvSpPr>
          <p:cNvPr id="11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17904D8C-B28E-46BC-A16C-834DF698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62250"/>
            <a:ext cx="2476500" cy="1666875"/>
          </a:xfrm>
          <a:prstGeom xmlns:a="http://schemas.openxmlformats.org/drawingml/2006/main" prst="roundRect">
            <a:avLst>
              <a:gd name="adj" fmla="val 10286"/>
            </a:avLst>
          </a:prstGeom>
          <a:solidFill xmlns:a="http://schemas.openxmlformats.org/drawingml/2006/main">
            <a:srgbClr val="F0F5FF"/>
          </a:solidFill>
          <a:ln xmlns:a="http://schemas.openxmlformats.org/drawingml/2006/main" w="9525">
            <a:solidFill>
              <a:srgbClr val="C6D8F8"/>
            </a:solidFill>
            <a:prstDash val="solid"/>
          </a:ln>
        </p:spPr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C3DF1656-F55F-4BD3-9A3F-84402A56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02 生产线上线</a:t>
            </a:r>
          </a:p>
        </p:txBody>
      </p:sp>
      <p:sp>
        <p:nvSpPr>
          <p:cNvPr id="13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E5992E41-7287-4AEE-800E-C7F2C67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8612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接入团队、模型与审批</a:t>
            </a:r>
          </a:p>
        </p:txBody>
      </p:sp>
      <p:sp>
        <p:nvSpPr>
          <p:cNvPr id="14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CE99C9A1-57EA-43D3-9A67-EED7A05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从一次交付变成流程</a:t>
            </a:r>
          </a:p>
        </p:txBody>
      </p:sp>
      <p:sp>
        <p:nvSpPr>
          <p:cNvPr id="15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9E0DCE02-68B9-4503-B97D-A55401B8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81250"/>
            <a:ext cx="24765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D7E5FF"/>
          </a:solidFill>
          <a:ln xmlns:a="http://schemas.openxmlformats.org/drawingml/2006/main" w="9525">
            <a:solidFill>
              <a:srgbClr val="AFCBFF"/>
            </a:solidFill>
            <a:prstDash val="solid"/>
          </a:ln>
        </p:spPr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9A0ECF98-57D7-49C8-B9F9-B8FE5D78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03 视觉资产</a:t>
            </a:r>
          </a:p>
        </p:txBody>
      </p:sp>
      <p:sp>
        <p:nvSpPr>
          <p:cNvPr id="17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BF6C2944-51C4-40C7-84FE-04510FA7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718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沉淀品牌要求与采用记录</a:t>
            </a:r>
          </a:p>
        </p:txBody>
      </p:sp>
      <p:sp>
        <p:nvSpPr>
          <p:cNvPr id="18" name="metric-detail-3">
            <a:extLst xmlns:a="http://schemas.openxmlformats.org/drawingml/2006/main">
              <a:ext uri="{FF2B5EF4-FFF2-40B4-BE49-F238E27FC236}">
                <a16:creationId xmlns:a16="http://schemas.microsoft.com/office/drawing/2014/main" id="{55B9EF98-0960-4C52-AADD-00BBFD20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换模型也可迁移</a:t>
            </a:r>
          </a:p>
        </p:txBody>
      </p:sp>
      <p:sp>
        <p:nvSpPr>
          <p:cNvPr id="19" name="metric-card-4">
            <a:extLst xmlns:a="http://schemas.openxmlformats.org/drawingml/2006/main">
              <a:ext uri="{FF2B5EF4-FFF2-40B4-BE49-F238E27FC236}">
                <a16:creationId xmlns:a16="http://schemas.microsoft.com/office/drawing/2014/main" id="{0C183853-ED1D-405C-835B-DD8B738F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000250"/>
            <a:ext cx="3590925" cy="242887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69F6"/>
          </a:solidFill>
          <a:ln xmlns:a="http://schemas.openxmlformats.org/drawingml/2006/main" w="9525">
            <a:solidFill>
              <a:srgbClr val="1769F6"/>
            </a:solidFill>
            <a:prstDash val="solid"/>
          </a:ln>
        </p:spPr>
      </p:sp>
      <p:sp>
        <p:nvSpPr>
          <p:cNvPr id="20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DD461D3B-2F60-421F-A3F8-6E874216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90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 企业视觉智能</a:t>
            </a:r>
          </a:p>
        </p:txBody>
      </p:sp>
      <p:sp>
        <p:nvSpPr>
          <p:cNvPr id="21" name="metric-name-4">
            <a:extLst xmlns:a="http://schemas.openxmlformats.org/drawingml/2006/main">
              <a:ext uri="{FF2B5EF4-FFF2-40B4-BE49-F238E27FC236}">
                <a16:creationId xmlns:a16="http://schemas.microsoft.com/office/drawing/2014/main" id="{59EA064D-E8B6-4C14-A9DF-668820F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051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跨团队、跨市场、跨模型</a:t>
            </a:r>
          </a:p>
        </p:txBody>
      </p:sp>
      <p:sp>
        <p:nvSpPr>
          <p:cNvPr id="22" name="metric-detail-4">
            <a:extLst xmlns:a="http://schemas.openxmlformats.org/drawingml/2006/main">
              <a:ext uri="{FF2B5EF4-FFF2-40B4-BE49-F238E27FC236}">
                <a16:creationId xmlns:a16="http://schemas.microsoft.com/office/drawing/2014/main" id="{C820A929-97A0-44E3-ABBD-CD9D950A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62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AF1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AF1FF"/>
                </a:solidFill>
                <a:latin typeface="PingFang SC"/>
                <a:ea typeface="PingFang SC"/>
                <a:cs typeface="PingFang SC"/>
              </a:rPr>
              <a:t>授权并验证后，再优化模型</a:t>
            </a:r>
          </a:p>
        </p:txBody>
      </p:sp>
      <p:sp>
        <p:nvSpPr>
          <p:cNvPr id="23" name="business-model-panel">
            <a:extLst xmlns:a="http://schemas.openxmlformats.org/drawingml/2006/main">
              <a:ext uri="{FF2B5EF4-FFF2-40B4-BE49-F238E27FC236}">
                <a16:creationId xmlns:a16="http://schemas.microsoft.com/office/drawing/2014/main" id="{620FA37D-9117-44B4-A1CA-323906D4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24" name="business-model-label">
            <a:extLst xmlns:a="http://schemas.openxmlformats.org/drawingml/2006/main">
              <a:ext uri="{FF2B5EF4-FFF2-40B4-BE49-F238E27FC236}">
                <a16:creationId xmlns:a16="http://schemas.microsoft.com/office/drawing/2014/main" id="{699C4FF1-48E2-4AEE-B395-329CAE9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商业路径</a:t>
            </a:r>
          </a:p>
        </p:txBody>
      </p:sp>
      <p:sp>
        <p:nvSpPr>
          <p:cNvPr id="25" name="business-model-title">
            <a:extLst xmlns:a="http://schemas.openxmlformats.org/drawingml/2006/main">
              <a:ext uri="{FF2B5EF4-FFF2-40B4-BE49-F238E27FC236}">
                <a16:creationId xmlns:a16="http://schemas.microsoft.com/office/drawing/2014/main" id="{B5B8646C-0F9D-430D-A670-B0F59095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付费试点 → 软件化上线 → 年度订阅</a:t>
            </a:r>
          </a:p>
        </p:txBody>
      </p:sp>
      <p:sp>
        <p:nvSpPr>
          <p:cNvPr id="26" name="business-model-detail">
            <a:extLst xmlns:a="http://schemas.openxmlformats.org/drawingml/2006/main">
              <a:ext uri="{FF2B5EF4-FFF2-40B4-BE49-F238E27FC236}">
                <a16:creationId xmlns:a16="http://schemas.microsoft.com/office/drawing/2014/main" id="{7AD30BFE-95CD-42F4-9BE1-DE40D68B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私有部署、模型优化按授权与验证增购</a:t>
            </a:r>
          </a:p>
        </p:txBody>
      </p:sp>
      <p:sp>
        <p:nvSpPr>
          <p:cNvPr id="27" name="ask-panel">
            <a:extLst xmlns:a="http://schemas.openxmlformats.org/drawingml/2006/main">
              <a:ext uri="{FF2B5EF4-FFF2-40B4-BE49-F238E27FC236}">
                <a16:creationId xmlns:a16="http://schemas.microsoft.com/office/drawing/2014/main" id="{01DDF50D-DB84-466A-AF62-279CD869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14875"/>
            <a:ext cx="58293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211C19"/>
            </a:solidFill>
            <a:prstDash val="solid"/>
          </a:ln>
        </p:spPr>
      </p:sp>
      <p:sp>
        <p:nvSpPr>
          <p:cNvPr id="28" name="ask-label">
            <a:extLst xmlns:a="http://schemas.openxmlformats.org/drawingml/2006/main">
              <a:ext uri="{FF2B5EF4-FFF2-40B4-BE49-F238E27FC236}">
                <a16:creationId xmlns:a16="http://schemas.microsoft.com/office/drawing/2014/main" id="{103BDC2E-A993-4820-8F60-283C9DFC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95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AE5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7AE56"/>
                </a:solidFill>
                <a:latin typeface="PingFang SC"/>
                <a:ea typeface="PingFang SC"/>
                <a:cs typeface="PingFang SC"/>
              </a:rPr>
              <a:t>现场希望连接</a:t>
            </a:r>
          </a:p>
        </p:txBody>
      </p:sp>
      <p:sp>
        <p:nvSpPr>
          <p:cNvPr id="29" name="ask-title">
            <a:extLst xmlns:a="http://schemas.openxmlformats.org/drawingml/2006/main">
              <a:ext uri="{FF2B5EF4-FFF2-40B4-BE49-F238E27FC236}">
                <a16:creationId xmlns:a16="http://schemas.microsoft.com/office/drawing/2014/main" id="{B29083A1-FA50-495F-9FAB-62C909D5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006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试点企业 / 创意与本地化服务商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 · 数据 · 算力伙伴 / 南沙场景资源 / 早期资本</a:t>
            </a:r>
          </a:p>
        </p:txBody>
      </p:sp>
      <p:sp>
        <p:nvSpPr>
          <p:cNvPr id="30" name="current-stage">
            <a:extLst xmlns:a="http://schemas.openxmlformats.org/drawingml/2006/main">
              <a:ext uri="{FF2B5EF4-FFF2-40B4-BE49-F238E27FC236}">
                <a16:creationId xmlns:a16="http://schemas.microsoft.com/office/drawing/2014/main" id="{38C61AA9-9343-424E-B3FC-2BEA661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150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带一个真实任务来，用 30 分钟判断它是否适合成为首条生产线。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现场诉求依据南沙公开资源方向，不代表活动已承诺具体资源。</a:t>
            </a:r>
          </a:p>
        </p:txBody>
      </p:sp>
    </p:spTree>
    <p:extLst>
      <p:ext uri="{BB962C8B-B14F-4D97-AF65-F5344CB8AC3E}">
        <p14:creationId xmlns:p14="http://schemas.microsoft.com/office/powerpoint/2010/main" val="2071999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2026-08-09T22:44:47.9350000Z</dcterms:created>
  <dcterms:modified xsi:type="dcterms:W3CDTF">2026-08-09T22:44:47.9350000Z</dcterms:modified>
</coreProperties>
</file>
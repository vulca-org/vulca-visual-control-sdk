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02ac9c44540f5" /><Relationship Type="http://schemas.openxmlformats.org/officeDocument/2006/relationships/extended-properties" Target="/docProps/app.xml" Id="R576695d8b99946fa" /><Relationship Type="http://schemas.openxmlformats.org/officeDocument/2006/relationships/officeDocument" Target="/ppt/presentation.xml" Id="R3739a9e2eebe40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1123adbbf492a"/>
  </p:sldMasterIdLst>
  <p:notesMasterIdLst>
    <p:notesMasterId xmlns:r="http://schemas.openxmlformats.org/officeDocument/2006/relationships" r:id="R589f2f3b120646a5"/>
  </p:notesMasterIdLst>
  <p:sldIdLst>
    <p:sldId xmlns:r="http://schemas.openxmlformats.org/officeDocument/2006/relationships" id="256" r:id="Rda4ab529113e43ce"/>
    <p:sldId xmlns:r="http://schemas.openxmlformats.org/officeDocument/2006/relationships" id="257" r:id="Ra4313391003b4ed1"/>
    <p:sldId xmlns:r="http://schemas.openxmlformats.org/officeDocument/2006/relationships" id="258" r:id="R87381d8b6c704117"/>
    <p:sldId xmlns:r="http://schemas.openxmlformats.org/officeDocument/2006/relationships" id="259" r:id="R6aaee9bcd0d14bb7"/>
    <p:sldId xmlns:r="http://schemas.openxmlformats.org/officeDocument/2006/relationships" id="260" r:id="Raece346ab31e46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cebdd0230146ff" /><Relationship Type="http://schemas.openxmlformats.org/officeDocument/2006/relationships/slideMaster" Target="/ppt/slideMasters/slideMaster1.xml" Id="R5751123adbbf492a" /><Relationship Type="http://schemas.openxmlformats.org/officeDocument/2006/relationships/notesMaster" Target="/ppt/notesMasters/notesMaster1.xml" Id="R589f2f3b120646a5" /><Relationship Type="http://schemas.openxmlformats.org/officeDocument/2006/relationships/presProps" Target="/ppt/presProps.xml" Id="Rf1782be3274f488c" /><Relationship Type="http://schemas.openxmlformats.org/officeDocument/2006/relationships/tableStyles" Target="/ppt/tableStyles.xml" Id="Rcdc2365bffca44c6" /><Relationship Type="http://schemas.openxmlformats.org/officeDocument/2006/relationships/slide" Target="/ppt/slides/slide1.xml" Id="Rda4ab529113e43ce" /><Relationship Type="http://schemas.openxmlformats.org/officeDocument/2006/relationships/slide" Target="/ppt/slides/slide2.xml" Id="Ra4313391003b4ed1" /><Relationship Type="http://schemas.openxmlformats.org/officeDocument/2006/relationships/slide" Target="/ppt/slides/slide3.xml" Id="R87381d8b6c704117" /><Relationship Type="http://schemas.openxmlformats.org/officeDocument/2006/relationships/slide" Target="/ppt/slides/slide4.xml" Id="R6aaee9bcd0d14bb7" /><Relationship Type="http://schemas.openxmlformats.org/officeDocument/2006/relationships/slide" Target="/ppt/slides/slide5.xml" Id="Raece346ab31e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50ec75de74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fc1989f6724cfc" /><Relationship Type="http://schemas.openxmlformats.org/officeDocument/2006/relationships/notesMaster" Target="/ppt/notesMasters/notesMaster1.xml" Id="Rf1389cccb5bb47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a15d049ac14a69" /><Relationship Type="http://schemas.openxmlformats.org/officeDocument/2006/relationships/notesMaster" Target="/ppt/notesMasters/notesMaster1.xml" Id="Rc1bc101e30bb41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8a4881bcc44f3f" /><Relationship Type="http://schemas.openxmlformats.org/officeDocument/2006/relationships/notesMaster" Target="/ppt/notesMasters/notesMaster1.xml" Id="R2f9c0537c10b44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2acf9426ad41c9" /><Relationship Type="http://schemas.openxmlformats.org/officeDocument/2006/relationships/notesMaster" Target="/ppt/notesMasters/notesMaster1.xml" Id="R55ed6964e4134c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e77a66a98b45f3" /><Relationship Type="http://schemas.openxmlformats.org/officeDocument/2006/relationships/notesMaster" Target="/ppt/notesMasters/notesMaster1.xml" Id="R072a30bad0e74d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先把问题说直白：企业今天不只是缺一个更强的模型。还没开始的企业，不知道第一条值得改造的流程在哪里；已经开始的企业，又担心模型一升级，前一代的参数、工具链和使用经验都要重来。VULCA 要做的是企业 AI 内容生产线升级公司：先帮客户跑通一条真实生产线，再让它在模型换代后继续工作。McKinsey 2025 的调查也显示，AI 使用已经很普遍，但真正进入规模化的企业仍约只有三分之一，工作流重构是高绩效企业的关键差异。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https://www.mckinsey.com/capabilities/quantumblack/our-insights/the-state-of-ai/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我们先进入一个足够具体的场景：同时服务多个品牌的 AI 创意、本地化或跨境营销服务商。一个真实项目从素材、期限和品牌要求开始，团队临时选模型、拼工具、反复生成和修改，最后靠资深人员把关。问题不是团队没有努力，而是判断没有被保留成组织资产。模型换代后，他们又要重新测试。这里的场景链路是我们的首个客户假设，必须通过客户访谈和 90 天试点逐项核验；目前不把它写成已经验证的市场结果。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这页就是我们到底卖什么。上游是模型、算力和创作工具；下游是品牌、零售和渠道。VULCA 不去再造基础模型，而是站在中间，把这些能力变成服务商每天可以运行的内容生产线。企业保留目标、素材、最终采用和用途授权；VULCA 负责场景选择、模型选型、部署、质量和成本基线，以及模型升级时的判断和迁移。每次采用、退回、修改以及时间成本，都沉淀为客户控制的资产包，而不是散落在个人聊天记录和临时脚本里。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/Users/yhryzy/.codex/worktrees/e027/vulca/docs/product/roadmap.md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这里需要把三个容易混淆的词分开。FDE 是我们的起步方式：工程人员进入客户现场，完成场景发现、技术边界、系统设计和上线。它本身不是长期壁垒。VULCA 的价值，是把反复出现的流程、评测和资产包产品化，让第二个、第三个客户不再从零开始。AI-native 则是客户最终形成的能力：AI 不再是外挂工具，而是日常生产方式的一部分。我们不批判 FDE 本身，而是避免永远停留在按人头交付。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https://openai.com/index/openai-launches-the-deployment-company/</a:t>
            </a:r>
          </a:p>
          <a:p xmlns:a="http://schemas.openxmlformats.org/drawingml/2006/main">
            <a:r>
              <a:t>- https://openai.com/careers/forward-deployed-engineer-%28fde%29-seattle-seattle/</a:t>
            </a:r>
          </a:p>
          <a:p xmlns:a="http://schemas.openxmlformats.org/drawingml/2006/main">
            <a:r>
              <a:t>- https://www.crv.com/content/what-is-ai-native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我们不在 BP 里承诺一个未经验证的降本百分比。90 天只证明一件事：同一条真实内容流程换模型时，是否能够复用流程、标准、案例和评测，而不是整条重建。试点先选一家服务商、一条高频流程，持续跑真实项目，并至少比较一次替代模型。用四组指标回答商业问题：多久产出第一个可采用内容、一个可采用内容的真实成本、平均需要几轮修改，以及迁移模型需要多少人时、多少资产可以复用。收入先从上线费和持续优化订阅开始，私有部署与深度适配按需提供。当前代码库已有 v0.23.1 的多 provider 与本地优先基础，但企业迁移收益和商业收入都还没有被这份材料验证。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/Users/yhryzy/.codex/worktrees/e027/vulca/pyproject.toml</a:t>
            </a:r>
          </a:p>
          <a:p xmlns:a="http://schemas.openxmlformats.org/drawingml/2006/main">
            <a:r>
              <a:t>- /Users/yhryzy/.codex/worktrees/e027/vulca/README.md</a:t>
            </a:r>
          </a:p>
          <a:p xmlns:a="http://schemas.openxmlformats.org/drawingml/2006/main">
            <a:r>
              <a:t>- /Users/yhryzy/.codex/worktrees/e027/vulca/docs/product/roadmap.md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e578ff2c943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f13749e3f14238" /><Relationship Type="http://schemas.openxmlformats.org/officeDocument/2006/relationships/slideLayout" Target="/ppt/slideLayouts/slideLayout1.xml" Id="R6276c6864c81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76c6864c81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b16d7f0464334" /><Relationship Type="http://schemas.openxmlformats.org/officeDocument/2006/relationships/notesSlide" Target="/ppt/notesSlides/notesSlide1.xml" Id="R1068256a756b4b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1f45e81b44c5a" /><Relationship Type="http://schemas.openxmlformats.org/officeDocument/2006/relationships/notesSlide" Target="/ppt/notesSlides/notesSlide2.xml" Id="R34d50c7f419745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0b5d25d1740fc" /><Relationship Type="http://schemas.openxmlformats.org/officeDocument/2006/relationships/notesSlide" Target="/ppt/notesSlides/notesSlide3.xml" Id="Rb8513258e0ee4f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a005aed964c51" /><Relationship Type="http://schemas.openxmlformats.org/officeDocument/2006/relationships/notesSlide" Target="/ppt/notesSlides/notesSlide4.xml" Id="Rdda20fcc55fa4a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2e374058d4c51" /><Relationship Type="http://schemas.openxmlformats.org/officeDocument/2006/relationships/notesSlide" Target="/ppt/notesSlides/notesSlide5.xml" Id="R4f2ea3d0b6ca43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96492B1-5D3C-45F6-BBA7-DB5AAE1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模型不断换代，
企业能力不应反复归零。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6F4624-1B28-401E-81B8-E705160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VULCA 帮企业跑通第一条 AI 内容生产线，
并让流程、标准和经验跨模型复用。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79E03-6909-4236-B26A-B1715B7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BUSINESS PLAN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D039481-609D-4B94-92D0-B387101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5" name="cover-first-customer-panel">
            <a:extLst xmlns:a="http://schemas.openxmlformats.org/drawingml/2006/main">
              <a:ext uri="{FF2B5EF4-FFF2-40B4-BE49-F238E27FC236}">
                <a16:creationId xmlns:a16="http://schemas.microsoft.com/office/drawing/2014/main" id="{FC41BE4E-576D-43E8-B039-30B89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8862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cover-first-customer-label">
            <a:extLst xmlns:a="http://schemas.openxmlformats.org/drawingml/2006/main">
              <a:ext uri="{FF2B5EF4-FFF2-40B4-BE49-F238E27FC236}">
                <a16:creationId xmlns:a16="http://schemas.microsoft.com/office/drawing/2014/main" id="{AEA8BE6C-EBD2-440D-A72E-D85A1CA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首个客户</a:t>
            </a:r>
          </a:p>
        </p:txBody>
      </p:sp>
      <p:sp>
        <p:nvSpPr>
          <p:cNvPr id="7" name="cover-first-customer">
            <a:extLst xmlns:a="http://schemas.openxmlformats.org/drawingml/2006/main">
              <a:ext uri="{FF2B5EF4-FFF2-40B4-BE49-F238E27FC236}">
                <a16:creationId xmlns:a16="http://schemas.microsoft.com/office/drawing/2014/main" id="{9A8AAAF8-12F1-4828-86B5-EBC498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创意 · 本地化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跨境营销服务商</a:t>
            </a:r>
          </a:p>
        </p:txBody>
      </p:sp>
    </p:spTree>
    <p:extLst>
      <p:ext uri="{BB962C8B-B14F-4D97-AF65-F5344CB8AC3E}">
        <p14:creationId xmlns:p14="http://schemas.microsoft.com/office/powerpoint/2010/main" val="195226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 AI 内容生产线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同时服务多个品牌的团队，</a:t>
            </a:r>
          </a:p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正在为每个项目重复搭建 AI 内容流程。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8C7FA"/>
          </a:solidFill>
          <a:ln xmlns:a="http://schemas.openxmlformats.org/drawingml/2006/main" w="0">
            <a:solidFill>
              <a:srgbClr val="A8C7FA"/>
            </a:solidFill>
            <a:prstDash val="solid"/>
          </a:ln>
        </p:spPr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收到项目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素材 · 期限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品牌要求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临时选模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为这一单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重新试模型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拼接工具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工作流依赖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个人经验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多轮修改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生成 · 返工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资深把关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标准藏在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少数人脑中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3E3E3"/>
            </a:solidFill>
            <a:prstDash val="solid"/>
          </a:ln>
        </p:spPr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客户采用</a:t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采用与退回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没有沉淀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模型一升级，前一代的经验、参数和工具链很难直接复用。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企业真正付出的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1150"/>
            <a:ext cx="948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交付时间  ·  返工轮次  ·  单个可采用内容成本  ·  更换模型所需人时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他们不缺更强模型，而缺能跨模型保留业务能力的生产线。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3">
            <a:extLst xmlns:a="http://schemas.openxmlformats.org/drawingml/2006/main">
              <a:ext uri="{FF2B5EF4-FFF2-40B4-BE49-F238E27FC236}">
                <a16:creationId xmlns:a16="http://schemas.microsoft.com/office/drawing/2014/main" id="{457B0763-9E3D-4C8D-9360-204E2758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 AI 内容生产线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903FBA9-C8C5-48F3-9170-E48C7B53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41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VULCA 站在模型公司与终端品牌之间，</a:t>
            </a:r>
          </a:p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交付一条可以更换发动机的生产线。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415FE65-70A3-4103-8FE8-FF4BB89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9CD16C8-B3BC-4FF5-A891-7841E94C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ecosystem-arrow-1">
            <a:extLst xmlns:a="http://schemas.openxmlformats.org/drawingml/2006/main">
              <a:ext uri="{FF2B5EF4-FFF2-40B4-BE49-F238E27FC236}">
                <a16:creationId xmlns:a16="http://schemas.microsoft.com/office/drawing/2014/main" id="{B06E8889-AB21-4D4B-87A0-A5E2E23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6" name="ecosystem-arrow-2">
            <a:extLst xmlns:a="http://schemas.openxmlformats.org/drawingml/2006/main">
              <a:ext uri="{FF2B5EF4-FFF2-40B4-BE49-F238E27FC236}">
                <a16:creationId xmlns:a16="http://schemas.microsoft.com/office/drawing/2014/main" id="{38E68B1B-D6A8-4E60-B59D-DF938EE0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7" name="ecosystem-arrow-3">
            <a:extLst xmlns:a="http://schemas.openxmlformats.org/drawingml/2006/main">
              <a:ext uri="{FF2B5EF4-FFF2-40B4-BE49-F238E27FC236}">
                <a16:creationId xmlns:a16="http://schemas.microsoft.com/office/drawing/2014/main" id="{82C13C44-E963-4A34-AC69-C7258760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813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8" name="upstream-panel">
            <a:extLst xmlns:a="http://schemas.openxmlformats.org/drawingml/2006/main">
              <a:ext uri="{FF2B5EF4-FFF2-40B4-BE49-F238E27FC236}">
                <a16:creationId xmlns:a16="http://schemas.microsoft.com/office/drawing/2014/main" id="{6A8C4F2C-9C40-4093-86B0-2B03BCB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09750" cy="22669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upstream-eyebrow">
            <a:extLst xmlns:a="http://schemas.openxmlformats.org/drawingml/2006/main">
              <a:ext uri="{FF2B5EF4-FFF2-40B4-BE49-F238E27FC236}">
                <a16:creationId xmlns:a16="http://schemas.microsoft.com/office/drawing/2014/main" id="{492036FB-34D8-463D-BEC9-ABE92A7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上游</a:t>
            </a:r>
          </a:p>
        </p:txBody>
      </p:sp>
      <p:sp>
        <p:nvSpPr>
          <p:cNvPr id="10" name="upstream-title">
            <a:extLst xmlns:a="http://schemas.openxmlformats.org/drawingml/2006/main">
              <a:ext uri="{FF2B5EF4-FFF2-40B4-BE49-F238E27FC236}">
                <a16:creationId xmlns:a16="http://schemas.microsoft.com/office/drawing/2014/main" id="{B2CEEB09-E4A9-493B-B42B-B728373C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能力供应</a:t>
            </a:r>
          </a:p>
        </p:txBody>
      </p:sp>
      <p:sp>
        <p:nvSpPr>
          <p:cNvPr id="11" name="upstream-body">
            <a:extLst xmlns:a="http://schemas.openxmlformats.org/drawingml/2006/main">
              <a:ext uri="{FF2B5EF4-FFF2-40B4-BE49-F238E27FC236}">
                <a16:creationId xmlns:a16="http://schemas.microsoft.com/office/drawing/2014/main" id="{B7DC8B5F-080F-484D-AB1C-C61D83DA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基础 / 开源模型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推理与算力</a:t>
            </a:r>
          </a:p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创作工具</a:t>
            </a:r>
          </a:p>
        </p:txBody>
      </p:sp>
      <p:sp>
        <p:nvSpPr>
          <p:cNvPr id="12" name="vulca-core-panel">
            <a:extLst xmlns:a="http://schemas.openxmlformats.org/drawingml/2006/main">
              <a:ext uri="{FF2B5EF4-FFF2-40B4-BE49-F238E27FC236}">
                <a16:creationId xmlns:a16="http://schemas.microsoft.com/office/drawing/2014/main" id="{CCD1B24A-9D77-42DB-93A0-06D5AEF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3810000" cy="2266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0B5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vulca-core-eyebrow">
            <a:extLst xmlns:a="http://schemas.openxmlformats.org/drawingml/2006/main">
              <a:ext uri="{FF2B5EF4-FFF2-40B4-BE49-F238E27FC236}">
                <a16:creationId xmlns:a16="http://schemas.microsoft.com/office/drawing/2014/main" id="{69314350-45A5-4072-A5F9-9B2FCA77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0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</a:t>
            </a:r>
          </a:p>
        </p:txBody>
      </p:sp>
      <p:sp>
        <p:nvSpPr>
          <p:cNvPr id="14" name="vulca-core-title">
            <a:extLst xmlns:a="http://schemas.openxmlformats.org/drawingml/2006/main">
              <a:ext uri="{FF2B5EF4-FFF2-40B4-BE49-F238E27FC236}">
                <a16:creationId xmlns:a16="http://schemas.microsoft.com/office/drawing/2014/main" id="{6A355F26-D8B6-47BA-AA36-45F5A13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</p:txBody>
      </p:sp>
      <p:sp>
        <p:nvSpPr>
          <p:cNvPr id="15" name="vulca-core-body">
            <a:extLst xmlns:a="http://schemas.openxmlformats.org/drawingml/2006/main">
              <a:ext uri="{FF2B5EF4-FFF2-40B4-BE49-F238E27FC236}">
                <a16:creationId xmlns:a16="http://schemas.microsoft.com/office/drawing/2014/main" id="{F6E611BE-6E5F-46C4-A08E-FE6DBB5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76550"/>
            <a:ext cx="3257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找场景  ·  选模型  ·  部署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质量与成本基线  ·  持续优化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新模型出现时判断、测试与迁移</a:t>
            </a:r>
          </a:p>
        </p:txBody>
      </p:sp>
      <p:sp>
        <p:nvSpPr>
          <p:cNvPr id="16" name="vulca-core-tag">
            <a:extLst xmlns:a="http://schemas.openxmlformats.org/drawingml/2006/main">
              <a:ext uri="{FF2B5EF4-FFF2-40B4-BE49-F238E27FC236}">
                <a16:creationId xmlns:a16="http://schemas.microsoft.com/office/drawing/2014/main" id="{BD9F5919-6C8A-47F7-836D-30C206A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不绑定单一模型</a:t>
            </a:r>
          </a:p>
        </p:txBody>
      </p:sp>
      <p:sp>
        <p:nvSpPr>
          <p:cNvPr id="17" name="direct-customer-panel">
            <a:extLst xmlns:a="http://schemas.openxmlformats.org/drawingml/2006/main">
              <a:ext uri="{FF2B5EF4-FFF2-40B4-BE49-F238E27FC236}">
                <a16:creationId xmlns:a16="http://schemas.microsoft.com/office/drawing/2014/main" id="{798B778D-FD59-4A01-847E-7D32303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22860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direct-customer-eyebrow">
            <a:extLst xmlns:a="http://schemas.openxmlformats.org/drawingml/2006/main">
              <a:ext uri="{FF2B5EF4-FFF2-40B4-BE49-F238E27FC236}">
                <a16:creationId xmlns:a16="http://schemas.microsoft.com/office/drawing/2014/main" id="{1B36CBCF-B146-475F-8165-41B205B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直接客户</a:t>
            </a:r>
          </a:p>
        </p:txBody>
      </p:sp>
      <p:sp>
        <p:nvSpPr>
          <p:cNvPr id="19" name="direct-customer-title">
            <a:extLst xmlns:a="http://schemas.openxmlformats.org/drawingml/2006/main">
              <a:ext uri="{FF2B5EF4-FFF2-40B4-BE49-F238E27FC236}">
                <a16:creationId xmlns:a16="http://schemas.microsoft.com/office/drawing/2014/main" id="{4E8F0B38-D961-472B-80E5-3154EE4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多品牌服务商</a:t>
            </a:r>
          </a:p>
        </p:txBody>
      </p:sp>
      <p:sp>
        <p:nvSpPr>
          <p:cNvPr id="20" name="direct-customer-body">
            <a:extLst xmlns:a="http://schemas.openxmlformats.org/drawingml/2006/main">
              <a:ext uri="{FF2B5EF4-FFF2-40B4-BE49-F238E27FC236}">
                <a16:creationId xmlns:a16="http://schemas.microsoft.com/office/drawing/2014/main" id="{7FCBB342-CD7F-4808-97C5-EEA66C39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33700"/>
            <a:ext cx="1847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AI 创意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本地化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跨境营销</a:t>
            </a:r>
          </a:p>
        </p:txBody>
      </p:sp>
      <p:sp>
        <p:nvSpPr>
          <p:cNvPr id="21" name="end-customer-panel">
            <a:extLst xmlns:a="http://schemas.openxmlformats.org/drawingml/2006/main">
              <a:ext uri="{FF2B5EF4-FFF2-40B4-BE49-F238E27FC236}">
                <a16:creationId xmlns:a16="http://schemas.microsoft.com/office/drawing/2014/main" id="{09431AAD-5A48-467B-8660-13A875F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3431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2" name="end-customer-eyebrow">
            <a:extLst xmlns:a="http://schemas.openxmlformats.org/drawingml/2006/main">
              <a:ext uri="{FF2B5EF4-FFF2-40B4-BE49-F238E27FC236}">
                <a16:creationId xmlns:a16="http://schemas.microsoft.com/office/drawing/2014/main" id="{E91FCB72-B283-4B4B-AFA4-49B7FB4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下游</a:t>
            </a:r>
          </a:p>
        </p:txBody>
      </p:sp>
      <p:sp>
        <p:nvSpPr>
          <p:cNvPr id="23" name="end-customer-title">
            <a:extLst xmlns:a="http://schemas.openxmlformats.org/drawingml/2006/main">
              <a:ext uri="{FF2B5EF4-FFF2-40B4-BE49-F238E27FC236}">
                <a16:creationId xmlns:a16="http://schemas.microsoft.com/office/drawing/2014/main" id="{9B3D15F8-125F-4217-946A-14C1A70E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003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终端品牌</a:t>
            </a:r>
          </a:p>
        </p:txBody>
      </p:sp>
      <p:sp>
        <p:nvSpPr>
          <p:cNvPr id="24" name="end-customer-body">
            <a:extLst xmlns:a="http://schemas.openxmlformats.org/drawingml/2006/main">
              <a:ext uri="{FF2B5EF4-FFF2-40B4-BE49-F238E27FC236}">
                <a16:creationId xmlns:a16="http://schemas.microsoft.com/office/drawing/2014/main" id="{29015A1F-6508-4B44-9851-3FF1CD5F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品牌方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零售与渠道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最终采用者</a:t>
            </a:r>
          </a:p>
        </p:txBody>
      </p:sp>
      <p:sp>
        <p:nvSpPr>
          <p:cNvPr id="25" name="feedback-arrow">
            <a:extLst xmlns:a="http://schemas.openxmlformats.org/drawingml/2006/main">
              <a:ext uri="{FF2B5EF4-FFF2-40B4-BE49-F238E27FC236}">
                <a16:creationId xmlns:a16="http://schemas.microsoft.com/office/drawing/2014/main" id="{FDA60C9B-E9BC-4A7F-8BC2-70FB1F0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5775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26" name="feedback-panel">
            <a:extLst xmlns:a="http://schemas.openxmlformats.org/drawingml/2006/main">
              <a:ext uri="{FF2B5EF4-FFF2-40B4-BE49-F238E27FC236}">
                <a16:creationId xmlns:a16="http://schemas.microsoft.com/office/drawing/2014/main" id="{C8A670F7-8B94-4464-9B5E-D13B6EF4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286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7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6F18C59B-9405-4C6B-9162-A4DFC45C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真实业务反馈</a:t>
            </a:r>
          </a:p>
        </p:txBody>
      </p:sp>
      <p:sp>
        <p:nvSpPr>
          <p:cNvPr id="28" name="feedback-items">
            <a:extLst xmlns:a="http://schemas.openxmlformats.org/drawingml/2006/main">
              <a:ext uri="{FF2B5EF4-FFF2-40B4-BE49-F238E27FC236}">
                <a16:creationId xmlns:a16="http://schemas.microsoft.com/office/drawing/2014/main" id="{A5E24B71-44D4-4C97-943D-B6D43A2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573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采用  ·  退回  ·  修改  ·  时间  ·  成本</a:t>
            </a:r>
          </a:p>
        </p:txBody>
      </p:sp>
      <p:sp>
        <p:nvSpPr>
          <p:cNvPr id="29" name="asset-pack-panel">
            <a:extLst xmlns:a="http://schemas.openxmlformats.org/drawingml/2006/main">
              <a:ext uri="{FF2B5EF4-FFF2-40B4-BE49-F238E27FC236}">
                <a16:creationId xmlns:a16="http://schemas.microsoft.com/office/drawing/2014/main" id="{9AD556A9-7F3C-4EEE-A47A-45D9EB1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4629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30" name="asset-pack-title">
            <a:extLst xmlns:a="http://schemas.openxmlformats.org/drawingml/2006/main">
              <a:ext uri="{FF2B5EF4-FFF2-40B4-BE49-F238E27FC236}">
                <a16:creationId xmlns:a16="http://schemas.microsoft.com/office/drawing/2014/main" id="{F52BDA4B-BA2F-4A71-B075-0092A878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客户控制的 AI 资产包</a:t>
            </a:r>
          </a:p>
        </p:txBody>
      </p:sp>
      <p:sp>
        <p:nvSpPr>
          <p:cNvPr id="31" name="asset-pack-body">
            <a:extLst xmlns:a="http://schemas.openxmlformats.org/drawingml/2006/main">
              <a:ext uri="{FF2B5EF4-FFF2-40B4-BE49-F238E27FC236}">
                <a16:creationId xmlns:a16="http://schemas.microsoft.com/office/drawing/2014/main" id="{FE9A1C55-CD57-4DB2-82A7-0A219BD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81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流程 / 标准 / 已采用案例 / 评测 / 权限记录</a:t>
            </a:r>
          </a:p>
        </p:txBody>
      </p:sp>
      <p:sp>
        <p:nvSpPr>
          <p:cNvPr id="32" name="role-boundary">
            <a:extLst xmlns:a="http://schemas.openxmlformats.org/drawingml/2006/main">
              <a:ext uri="{FF2B5EF4-FFF2-40B4-BE49-F238E27FC236}">
                <a16:creationId xmlns:a16="http://schemas.microsoft.com/office/drawing/2014/main" id="{4582F04A-E8C9-4B9E-8A51-1BABF36C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企业决定目标、最终采用与用途授权；VULCA 负责选型、部署、基线与升级。</a:t>
            </a:r>
          </a:p>
        </p:txBody>
      </p:sp>
    </p:spTree>
    <p:extLst>
      <p:ext uri="{BB962C8B-B14F-4D97-AF65-F5344CB8AC3E}">
        <p14:creationId xmlns:p14="http://schemas.microsoft.com/office/powerpoint/2010/main" val="1205685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先跑通第一条生产线，再把一次性交付变成可复制产品。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7BF94F58-9BAD-4820-8488-6AA6D25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贴近客户跑通 0→1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先选一条高频流程
接入真实素材、标准与期限
证明每天能用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29DB4510-53A0-4A75-BF20-564FA7E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沉淀为产品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流程、评测、采用案例和权限进入资产包
一次性交付变成可复用配置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6AE1D53-4FF6-424E-A2A4-B6F4B61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伙伴规模化复制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通过模型、算力、园区和服务伙伴进入更多客户
升级时复用同一套资产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= 可复用系统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FDE = 起步方式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AI-native = 客户能力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59635-4086-44AD-85C8-1F10979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VULCA  /  企业 AI 内容生产线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24343B-2A9F-4427-AC41-4CE3109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90 天先证明一件事：换模型，不再等于重建生产线。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F662B-C2A2-4F63-BDB4-CA93538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solidFill>
              <a:srgbClr val="0B5FFF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5678973-B753-4DEC-B97E-F5E40BE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5" name="pilot-scope">
            <a:extLst xmlns:a="http://schemas.openxmlformats.org/drawingml/2006/main">
              <a:ext uri="{FF2B5EF4-FFF2-40B4-BE49-F238E27FC236}">
                <a16:creationId xmlns:a16="http://schemas.microsoft.com/office/drawing/2014/main" id="{3B451D4F-D713-4103-B5DF-B17ECD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A8C7FA"/>
            </a:solidFill>
            <a:prstDash val="solid"/>
          </a:ln>
        </p:spPr>
      </p:sp>
      <p:sp>
        <p:nvSpPr>
          <p:cNvPr id="6" name="pilot-scope-text">
            <a:extLst xmlns:a="http://schemas.openxmlformats.org/drawingml/2006/main">
              <a:ext uri="{FF2B5EF4-FFF2-40B4-BE49-F238E27FC236}">
                <a16:creationId xmlns:a16="http://schemas.microsoft.com/office/drawing/2014/main" id="{04150355-CDFE-4C7B-81BD-D5CE3F8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3B9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3B9E"/>
                </a:solidFill>
                <a:latin typeface="PingFang SC"/>
                <a:ea typeface="PingFang SC"/>
                <a:cs typeface="PingFang SC"/>
              </a:rPr>
              <a:t>1 家服务商   ×   1 条高频内容流程   ×   连续真实项目   ×   至少比较 1 次替代模型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298C98A-2ECD-4459-B493-21A56C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F6F72D8-810A-40CB-8DA1-78F7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9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CF20165-4EB3-422F-A147-7B56FA5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首个可采用内容时间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C2F6D952-ABA9-4A43-930A-30A1F3A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从收到素材到客户第一次采用</a:t>
            </a:r>
          </a:p>
        </p:txBody>
      </p:sp>
      <p:sp>
        <p:nvSpPr>
          <p:cNvPr id="1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7904D8C-B28E-46BC-A16C-834DF6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3DF1656-F55F-4BD3-9A3F-84402A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3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E5992E41-7287-4AEE-800E-C7F2C67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单个可采用内容成本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E99C9A1-57EA-43D3-9A67-EED7A0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算力 + 人工 + 工具</a:t>
            </a:r>
          </a:p>
        </p:txBody>
      </p:sp>
      <p:sp>
        <p:nvSpPr>
          <p:cNvPr id="15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E0DCE02-68B9-4503-B97D-A55401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A0ECF98-57D7-49C8-B9F9-B8FE5D7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返工</a:t>
            </a:r>
          </a:p>
        </p:txBody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BF6C2944-51C4-40C7-84FE-04510FA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平均修改轮次</a:t>
            </a:r>
          </a:p>
        </p:txBody>
      </p: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55B9EF98-0960-4C52-AADD-00BBFD2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每个最终采用内容经历多少轮</a:t>
            </a:r>
          </a:p>
        </p:txBody>
      </p:sp>
      <p:sp>
        <p:nvSpPr>
          <p:cNvPr id="19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0C183853-ED1D-405C-835B-DD8B738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0030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D461D3B-2F60-421F-A3F8-6E87421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0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迁移</a:t>
            </a:r>
          </a:p>
        </p:txBody>
      </p:sp>
      <p:sp>
        <p:nvSpPr>
          <p:cNvPr id="21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59EA064D-E8B6-4C14-A9DF-668820F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099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换模型人时 / 资产复用率</a:t>
            </a:r>
          </a:p>
        </p:txBody>
      </p:sp>
      <p:sp>
        <p:nvSpPr>
          <p:cNvPr id="22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C820A929-97A0-44E3-ABBD-CD9D950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同一流程切换模型的真实代价</a:t>
            </a:r>
          </a:p>
        </p:txBody>
      </p:sp>
      <p:sp>
        <p:nvSpPr>
          <p:cNvPr id="23" name="business-model-panel">
            <a:extLst xmlns:a="http://schemas.openxmlformats.org/drawingml/2006/main">
              <a:ext uri="{FF2B5EF4-FFF2-40B4-BE49-F238E27FC236}">
                <a16:creationId xmlns:a16="http://schemas.microsoft.com/office/drawing/2014/main" id="{620FA37D-9117-44B4-A1CA-323906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5334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4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699C4FF1-48E2-4AEE-B395-329CAE9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商业模式</a:t>
            </a:r>
          </a:p>
        </p:txBody>
      </p:sp>
      <p:sp>
        <p:nvSpPr>
          <p:cNvPr id="25" name="business-model-title">
            <a:extLst xmlns:a="http://schemas.openxmlformats.org/drawingml/2006/main">
              <a:ext uri="{FF2B5EF4-FFF2-40B4-BE49-F238E27FC236}">
                <a16:creationId xmlns:a16="http://schemas.microsoft.com/office/drawing/2014/main" id="{B5B8646C-0F9D-430D-A670-B0F5909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上线费 + 持续优化订阅</a:t>
            </a:r>
          </a:p>
        </p:txBody>
      </p:sp>
      <p:sp>
        <p:nvSpPr>
          <p:cNvPr id="26" name="business-model-detail">
            <a:extLst xmlns:a="http://schemas.openxmlformats.org/drawingml/2006/main">
              <a:ext uri="{FF2B5EF4-FFF2-40B4-BE49-F238E27FC236}">
                <a16:creationId xmlns:a16="http://schemas.microsoft.com/office/drawing/2014/main" id="{7AD30BFE-95CD-42F4-9BE1-DE40D68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私有部署与深度适配按需提供</a:t>
            </a:r>
          </a:p>
        </p:txBody>
      </p:sp>
      <p:sp>
        <p:nvSpPr>
          <p:cNvPr id="27" name="ask-panel">
            <a:extLst xmlns:a="http://schemas.openxmlformats.org/drawingml/2006/main">
              <a:ext uri="{FF2B5EF4-FFF2-40B4-BE49-F238E27FC236}">
                <a16:creationId xmlns:a16="http://schemas.microsoft.com/office/drawing/2014/main" id="{01DDF50D-DB84-466A-AF62-279CD86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57700"/>
            <a:ext cx="5829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28" name="ask-label">
            <a:extLst xmlns:a="http://schemas.openxmlformats.org/drawingml/2006/main">
              <a:ext uri="{FF2B5EF4-FFF2-40B4-BE49-F238E27FC236}">
                <a16:creationId xmlns:a16="http://schemas.microsoft.com/office/drawing/2014/main" id="{103BDC2E-A993-4820-8F60-283C9DF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现在要找</a:t>
            </a:r>
          </a:p>
        </p:txBody>
      </p:sp>
      <p:sp>
        <p:nvSpPr>
          <p:cNvPr id="29" name="ask-title">
            <a:extLst xmlns:a="http://schemas.openxmlformats.org/drawingml/2006/main">
              <a:ext uri="{FF2B5EF4-FFF2-40B4-BE49-F238E27FC236}">
                <a16:creationId xmlns:a16="http://schemas.microsoft.com/office/drawing/2014/main" id="{B29083A1-FA50-495F-9FAB-62C909D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482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设计伙伴 / 模型与算力 / 园区与早期资本</a:t>
            </a:r>
          </a:p>
        </p:txBody>
      </p:sp>
      <p:sp>
        <p:nvSpPr>
          <p:cNvPr id="30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8C61AA9-9343-424E-B3FC-2BEA661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>当前已有 v0.23.1 多 provider 产品基础；企业迁移收益仍待试点验证。</a:t>
            </a:r>
          </a:p>
        </p:txBody>
      </p:sp>
    </p:spTree>
    <p:extLst>
      <p:ext uri="{BB962C8B-B14F-4D97-AF65-F5344CB8AC3E}">
        <p14:creationId xmlns:p14="http://schemas.microsoft.com/office/powerpoint/2010/main" val="20719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2026-08-09T14:21:05.9930000Z</dcterms:created>
  <dcterms:modified xsi:type="dcterms:W3CDTF">2026-08-09T14:21:05.9930000Z</dcterms:modified>
</coreProperties>
</file>
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5c6588a62b4de0" /><Relationship Type="http://schemas.openxmlformats.org/officeDocument/2006/relationships/extended-properties" Target="/docProps/app.xml" Id="Re2d5b7d37ede4ac2" /><Relationship Type="http://schemas.openxmlformats.org/officeDocument/2006/relationships/officeDocument" Target="/ppt/presentation.xml" Id="Rcdd58a149c17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b1b27ee8954fae"/>
  </p:sldMasterIdLst>
  <p:notesMasterIdLst>
    <p:notesMasterId xmlns:r="http://schemas.openxmlformats.org/officeDocument/2006/relationships" r:id="Ra476fead1400444e"/>
  </p:notesMasterIdLst>
  <p:sldIdLst>
    <p:sldId xmlns:r="http://schemas.openxmlformats.org/officeDocument/2006/relationships" id="256" r:id="R772415a0c71a4933"/>
    <p:sldId xmlns:r="http://schemas.openxmlformats.org/officeDocument/2006/relationships" id="257" r:id="R0736496db42e40a0"/>
    <p:sldId xmlns:r="http://schemas.openxmlformats.org/officeDocument/2006/relationships" id="258" r:id="R3a9c890d3fc346fd"/>
    <p:sldId xmlns:r="http://schemas.openxmlformats.org/officeDocument/2006/relationships" id="259" r:id="R2b4d7bbc0324426f"/>
    <p:sldId xmlns:r="http://schemas.openxmlformats.org/officeDocument/2006/relationships" id="260" r:id="R4b7ff47cb2ff41d3"/>
    <p:sldId xmlns:r="http://schemas.openxmlformats.org/officeDocument/2006/relationships" id="261" r:id="Rcdf98373e8e94b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7a1e4a4ca74b8c" /><Relationship Type="http://schemas.openxmlformats.org/officeDocument/2006/relationships/slideMaster" Target="/ppt/slideMasters/slideMaster1.xml" Id="R52b1b27ee8954fae" /><Relationship Type="http://schemas.openxmlformats.org/officeDocument/2006/relationships/notesMaster" Target="/ppt/notesMasters/notesMaster1.xml" Id="Ra476fead1400444e" /><Relationship Type="http://schemas.openxmlformats.org/officeDocument/2006/relationships/presProps" Target="/ppt/presProps.xml" Id="Ra5ca061620af4f53" /><Relationship Type="http://schemas.openxmlformats.org/officeDocument/2006/relationships/tableStyles" Target="/ppt/tableStyles.xml" Id="R0b70fb4594434bb6" /><Relationship Type="http://schemas.openxmlformats.org/officeDocument/2006/relationships/slide" Target="/ppt/slides/slide1.xml" Id="R772415a0c71a4933" /><Relationship Type="http://schemas.openxmlformats.org/officeDocument/2006/relationships/slide" Target="/ppt/slides/slide2.xml" Id="R0736496db42e40a0" /><Relationship Type="http://schemas.openxmlformats.org/officeDocument/2006/relationships/slide" Target="/ppt/slides/slide3.xml" Id="R3a9c890d3fc346fd" /><Relationship Type="http://schemas.openxmlformats.org/officeDocument/2006/relationships/slide" Target="/ppt/slides/slide4.xml" Id="R2b4d7bbc0324426f" /><Relationship Type="http://schemas.openxmlformats.org/officeDocument/2006/relationships/slide" Target="/ppt/slides/slide5.xml" Id="R4b7ff47cb2ff41d3" /><Relationship Type="http://schemas.openxmlformats.org/officeDocument/2006/relationships/slide" Target="/ppt/slides/slide6.xml" Id="Rcdf98373e8e94b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7f7b6d826e4d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41f4e1ecef4f3e" /><Relationship Type="http://schemas.openxmlformats.org/officeDocument/2006/relationships/notesMaster" Target="/ppt/notesMasters/notesMaster1.xml" Id="R855b92ba535348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b6670d1b2a4af7" /><Relationship Type="http://schemas.openxmlformats.org/officeDocument/2006/relationships/notesMaster" Target="/ppt/notesMasters/notesMaster1.xml" Id="R5e0fd50c9ad749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ab8a19daad4995" /><Relationship Type="http://schemas.openxmlformats.org/officeDocument/2006/relationships/notesMaster" Target="/ppt/notesMasters/notesMaster1.xml" Id="R0cfd284b4a984c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e010a8cba1412d" /><Relationship Type="http://schemas.openxmlformats.org/officeDocument/2006/relationships/notesMaster" Target="/ppt/notesMasters/notesMaster1.xml" Id="R9c78bfe5672c4d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76ec2629c4483c" /><Relationship Type="http://schemas.openxmlformats.org/officeDocument/2006/relationships/notesMaster" Target="/ppt/notesMasters/notesMaster1.xml" Id="R6061f06a705d45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57c249d9e640da" /><Relationship Type="http://schemas.openxmlformats.org/officeDocument/2006/relationships/notesMaster" Target="/ppt/notesMasters/notesMaster1.xml" Id="R229ee88f0b1243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公司定位：VULCA 是一家企业视觉智能公司。当前产品与市场入口是企业 AI 内容生产线。</a:t>
            </a:r>
          </a:p>
          <a:p xmlns:a="http://schemas.openxmlformats.org/drawingml/2006/main">
            <a:r>
              <a:t>封面同时包含消费品、工业产品和建筑内容，用于明确公司不受彩妆行业限制。图像为虚构演示。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generated cover: /Users/yhryzy/.codex/worktrees/e027/vulca/docs/visual-specs/2026-08-10-vulca-bp-cross-industry-visual-system/iters/3101/company_cover.png</a:t>
            </a:r>
          </a:p>
          <a:p xmlns:a="http://schemas.openxmlformats.org/drawingml/2006/main">
            <a:r>
              <a:t>- Visual design and generation record: /Users/yhryzy/.codex/worktrees/e027/vulca/docs/visual-specs/2026-08-10-vulca-bp-cross-industry-visual-system/plan.md</a:t>
            </a:r>
          </a:p>
          <a:p xmlns:a="http://schemas.openxmlformats.org/drawingml/2006/main">
            <a:r>
              <a:t>- Rendering backend: GPT Image 2 through Codex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三个数字分别证明 AI 已广泛采用、企业级规模化仍不足、内容需求持续上升；不把它们讲成因果链。</a:t>
            </a:r>
          </a:p>
          <a:p xmlns:a="http://schemas.openxmlformats.org/drawingml/2006/main">
            <a:r>
              <a:t>VULCA 的直接商业判断是：模型替换时，分散在个人、聊天和文件中的任务知识难以迁移。该判断仍需真实试点验证。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McKinsey &amp; Company, The State of AI: Global Survey 2025. https://www.mckinsey.com/capabilities/quantumblack/our-insights/the-state-of-ai</a:t>
            </a:r>
          </a:p>
          <a:p xmlns:a="http://schemas.openxmlformats.org/drawingml/2006/main">
            <a:r>
              <a:t>- Adobe, Adobe research finds demand for content will grow 5x by 2027, 2025-06-16. https://business.adobe.com/blog/71-percent-of-marketers-say-content-demand-to-increase-5x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界面由仓库中的实际 Prompt Studio widget 源码渲染，填入虚构工业目录任务。它证明已有可展示的产品表面，不代表完整企业控制台已经完成。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Widget source: /Users/yhryzy/.codex/worktrees/e027/vulca/src/vulca/chatgpt_prompt_studio_widget.py</a:t>
            </a:r>
          </a:p>
          <a:p xmlns:a="http://schemas.openxmlformats.org/drawingml/2006/main">
            <a:r>
              <a:t>- Local screenshot: /Users/yhryzy/.codex/worktrees/e027/vulca/docs/visual-specs/2026-08-10-vulca-bp-cross-industry-visual-system/evidence/prompt-studio-actual-ui-padded.png</a:t>
            </a:r>
          </a:p>
          <a:p xmlns:a="http://schemas.openxmlformats.org/drawingml/2006/main">
            <a:r>
              <a:t>- Product preview note: /Users/yhryzy/.codex/worktrees/e027/vulca/docs/platform/chatgpt-prompt-studio-preview.md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三个场景仅用于展示同一条生产线可承接不同视觉任务，不是客户案例、付费证明或效果结果。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Consumer product demo: /Users/yhryzy/.codex/worktrees/e027/vulca/docs/visual-specs/2026-08-10-vulca-bp-cross-industry-visual-system/iters/3102/consumer_product.png</a:t>
            </a:r>
          </a:p>
          <a:p xmlns:a="http://schemas.openxmlformats.org/drawingml/2006/main">
            <a:r>
              <a:t>- Industrial manufacturing demo: /Users/yhryzy/.codex/worktrees/e027/vulca/docs/visual-specs/2026-08-10-vulca-bp-cross-industry-visual-system/iters/3103/industrial_manufacturing.png</a:t>
            </a:r>
          </a:p>
          <a:p xmlns:a="http://schemas.openxmlformats.org/drawingml/2006/main">
            <a:r>
              <a:t>- Cultural tourism localization demo: /Users/yhryzy/.codex/worktrees/e027/vulca/docs/visual-specs/2026-08-10-vulca-bp-cross-industry-visual-system/iters/3104/cultural_tourism_localization.png</a:t>
            </a:r>
          </a:p>
          <a:p xmlns:a="http://schemas.openxmlformats.org/drawingml/2006/main">
            <a:r>
              <a:t>- Visual design and generation record: /Users/yhryzy/.codex/worktrees/e027/vulca/docs/visual-specs/2026-08-10-vulca-bp-cross-industry-visual-system/plan.md</a:t>
            </a:r>
          </a:p>
          <a:p xmlns:a="http://schemas.openxmlformats.org/drawingml/2006/main">
            <a:r>
              <a:t>- Rendering backend: GPT Image 2 through Codex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这是一个虚构彩妆任务的本地 VULCA 演示。自动 orchestrated decomposition 因缺少 SAM checkpoint 未完成；目标区域由 brief 驱动并人工确认，再写入 V3 manifest。</a:t>
            </a:r>
          </a:p>
          <a:p xmlns:a="http://schemas.openxmlformats.org/drawingml/2006/main">
            <a:r>
              <a:t>生成像素来自 GPT Image 2。采用记录只证明本地演示链条被记录，不证明客户采用、效率提升、付费意愿或模型训练效果。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Before candidate: /Users/yhryzy/.codex/worktrees/e027/vulca/docs/visual-specs/2026-08-09-vulca-bp-beauty-launch-evidence/iters/1338/candidate_b.png</a:t>
            </a:r>
          </a:p>
          <a:p xmlns:a="http://schemas.openxmlformats.org/drawingml/2006/main">
            <a:r>
              <a:t>- Human-confirmed target layer: /Users/yhryzy/.codex/worktrees/e027/vulca/docs/visual-specs/2026-08-09-vulca-bp-beauty-launch-evidence/evidence/manual_layers/target_mask.png</a:t>
            </a:r>
          </a:p>
          <a:p xmlns:a="http://schemas.openxmlformats.org/drawingml/2006/main">
            <a:r>
              <a:t>- Presentation overlay derived mechanically from the candidate and target layer: /Users/yhryzy/.codex/worktrees/e027/vulca/docs/visual-specs/2026-08-10-vulca-bp-cross-industry-visual-system/evidence/beauty-target-overlay.png</a:t>
            </a:r>
          </a:p>
          <a:p xmlns:a="http://schemas.openxmlformats.org/drawingml/2006/main">
            <a:r>
              <a:t>- Adopted demonstration visual: /Users/yhryzy/.codex/worktrees/e027/vulca/docs/visual-specs/2026-08-09-vulca-bp-beauty-launch-evidence/iters/selected/hero_final.png</a:t>
            </a:r>
          </a:p>
          <a:p xmlns:a="http://schemas.openxmlformats.org/drawingml/2006/main">
            <a:r>
              <a:t>- Orchestrated attempt: /Users/yhryzy/.codex/worktrees/e027/vulca/docs/visual-specs/2026-08-09-vulca-bp-beauty-launch-evidence/evidence/orchestrated_attempt.json</a:t>
            </a:r>
          </a:p>
          <a:p xmlns:a="http://schemas.openxmlformats.org/drawingml/2006/main">
            <a:r>
              <a:t>- V3 layer manifest: /Users/yhryzy/.codex/worktrees/e027/vulca/docs/visual-specs/2026-08-09-vulca-bp-beauty-launch-evidence/evidence/manual_layers/manifest.json</a:t>
            </a:r>
          </a:p>
          <a:p xmlns:a="http://schemas.openxmlformats.org/drawingml/2006/main">
            <a:r>
              <a:t>- Adoption record: /Users/yhryzy/.codex/worktrees/e027/vulca/docs/visual-specs/2026-08-09-vulca-bp-beauty-launch-evidence/evidence/adoption_record.json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FDE 是进入企业并共同跑通首个任务的方法，不是长期人力外包。软件化资产是任务、规则、版本、采用记录、权限与评测。</a:t>
            </a:r>
          </a:p>
          <a:p xmlns:a="http://schemas.openxmlformats.org/drawingml/2006/main">
            <a:r>
              <a:t>私有部署、持续学习与模型后训练属于未来可选路径，只有在企业明确授权并验证效果后才进入。商业路线与愿景仍是 proposed roadmap。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Palantir AI FDE official overview, used only as delivery-pattern context. https://www.palantir.com/docs/foundry/ai-fde/overview</a:t>
            </a:r>
          </a:p>
          <a:p xmlns:a="http://schemas.openxmlformats.org/drawingml/2006/main">
            <a:r>
              <a:t>- Nansha 2026 digital-technology application-scenario solicitation. https://www.gzns.gov.cn/zwgk/rdzt/zzyyzq/tzgg/content/post_10799928.html</a:t>
            </a:r>
          </a:p>
          <a:p xmlns:a="http://schemas.openxmlformats.org/drawingml/2006/main">
            <a:r>
              <a:t>- Nansha scenario supply-demand matching public information. https://www.gzns.gov.cn/gznskgx/gkmlpt/content/10/10653/post_10653101.html</a:t>
            </a:r>
          </a:p>
          <a:p xmlns:a="http://schemas.openxmlformats.org/drawingml/2006/main">
            <a:r>
              <a:t>- Nansha OPC ecosystem public information. https://www.gzns.gov.cn/zwgk/rdzt/OPC/OPCYLS/content/post_10815933.html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af11c2ef240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ce309e4ea248b7" /><Relationship Type="http://schemas.openxmlformats.org/officeDocument/2006/relationships/slideLayout" Target="/ppt/slideLayouts/slideLayout1.xml" Id="R7fcad7c356da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cad7c356da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29583e30e4ae1" /><Relationship Type="http://schemas.openxmlformats.org/officeDocument/2006/relationships/image" Target="/ppt/media/image.png" Id="Rdcfd8fc88fcc4089" /><Relationship Type="http://schemas.openxmlformats.org/officeDocument/2006/relationships/notesSlide" Target="/ppt/notesSlides/notesSlide1.xml" Id="R9a442ccfe53449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de24b5568443c" /><Relationship Type="http://schemas.openxmlformats.org/officeDocument/2006/relationships/notesSlide" Target="/ppt/notesSlides/notesSlide2.xml" Id="Rf8560fa89e4947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3f7245ee34383" /><Relationship Type="http://schemas.openxmlformats.org/officeDocument/2006/relationships/image" Target="/ppt/media/image2.png" Id="R0f391ab490d04bc5" /><Relationship Type="http://schemas.openxmlformats.org/officeDocument/2006/relationships/notesSlide" Target="/ppt/notesSlides/notesSlide3.xml" Id="Rf6f635582e6441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0513ccd00438d" /><Relationship Type="http://schemas.openxmlformats.org/officeDocument/2006/relationships/image" Target="/ppt/media/image3.png" Id="R6cade510b3e54e6a" /><Relationship Type="http://schemas.openxmlformats.org/officeDocument/2006/relationships/image" Target="/ppt/media/image4.png" Id="Reb8b347100514af7" /><Relationship Type="http://schemas.openxmlformats.org/officeDocument/2006/relationships/image" Target="/ppt/media/image5.png" Id="Rc63abd0df40e45b1" /><Relationship Type="http://schemas.openxmlformats.org/officeDocument/2006/relationships/notesSlide" Target="/ppt/notesSlides/notesSlide4.xml" Id="R0891f6a8448546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0cb604bf24152" /><Relationship Type="http://schemas.openxmlformats.org/officeDocument/2006/relationships/image" Target="/ppt/media/image6.png" Id="R370d5afa4e41408e" /><Relationship Type="http://schemas.openxmlformats.org/officeDocument/2006/relationships/image" Target="/ppt/media/image7.png" Id="Re8fda31d455b496e" /><Relationship Type="http://schemas.openxmlformats.org/officeDocument/2006/relationships/image" Target="/ppt/media/image8.png" Id="R791466ffbfb34433" /><Relationship Type="http://schemas.openxmlformats.org/officeDocument/2006/relationships/notesSlide" Target="/ppt/notesSlides/notesSlide5.xml" Id="R77c277d1a34747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4b6dd1ee4705" /><Relationship Type="http://schemas.openxmlformats.org/officeDocument/2006/relationships/notesSlide" Target="/ppt/notesSlides/notesSlide6.xml" Id="Rfa5b27cf7f7046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A96492B1-5D3C-45F6-BBA7-DB5AAE1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609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让企业用上 AI，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换模型也不必从头再来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46F4624-1B28-401E-81B8-E705160E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619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把任务、品牌要求、修改与采用记录留在企业手里；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模型可以替换，生产线不必重建。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79E03-6909-4236-B26A-B1715B7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4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9D039481-609D-4B94-92D0-B387101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first-customer-panel">
            <a:extLst xmlns:a="http://schemas.openxmlformats.org/drawingml/2006/main">
              <a:ext uri="{FF2B5EF4-FFF2-40B4-BE49-F238E27FC236}">
                <a16:creationId xmlns:a16="http://schemas.microsoft.com/office/drawing/2014/main" id="{FC41BE4E-576D-43E8-B039-30B89734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9339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6" name="cover-first-customer-label">
            <a:extLst xmlns:a="http://schemas.openxmlformats.org/drawingml/2006/main">
              <a:ext uri="{FF2B5EF4-FFF2-40B4-BE49-F238E27FC236}">
                <a16:creationId xmlns:a16="http://schemas.microsoft.com/office/drawing/2014/main" id="{AEA8BE6C-EBD2-440D-A72E-D85A1CA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577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当前产品与市场入口</a:t>
            </a:r>
          </a:p>
        </p:txBody>
      </p:sp>
      <p:sp>
        <p:nvSpPr>
          <p:cNvPr id="7" name="cover-first-customer">
            <a:extLst xmlns:a="http://schemas.openxmlformats.org/drawingml/2006/main">
              <a:ext uri="{FF2B5EF4-FFF2-40B4-BE49-F238E27FC236}">
                <a16:creationId xmlns:a16="http://schemas.microsoft.com/office/drawing/2014/main" id="{9A8AAAF8-12F1-4828-86B5-EBC4987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911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企业 AI 内容生产线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从一个高频任务开始，跨模型持续复用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d8fc88fcc4089"/>
          <a:srcRect xmlns:a="http://schemas.openxmlformats.org/drawingml/2006/main" l="1200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58000" y="990600"/>
            <a:ext cx="4933950" cy="36385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68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企业真正承担的，是每次换模型的迁移成本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391150" cy="25908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还没用上 AI</a:t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不知道从哪段业务开始</a:t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场景怎么选？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模型怎么接？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团队怎么协作与验收？</a:t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5791200" cy="25908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已经用上 AI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新模型一来，旧经验又散了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提示词留在个人手里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反馈散在聊天与文件里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流程、规则和审批重新搭建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AI 已进入企业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88%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至少一个职能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常态使用 AI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规模化仍不足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≈1/3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91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开始规模化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AI 项目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625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内容需求上升</a:t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29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96%</a:t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91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过去两年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需求至少翻倍</a:t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0198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rPr>
              <a:t>来源：McKinsey 2025；Adobe 2025</a:t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58674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69F6"/>
          </a:solidFill>
          <a:ln xmlns:a="http://schemas.openxmlformats.org/drawingml/2006/main" w="9525">
            <a:solidFill>
              <a:srgbClr val="1769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862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模型可以一代代更强，企业资产不该一代代清零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首个商业入口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769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多品牌创意 / 本地化 / 跨境营销服务商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0007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上接闭源、开源与私有部署模型，下接终端品牌；迁移、返工和审批成本最集中。</a:t>
            </a:r>
          </a:p>
        </p:txBody>
      </p:sp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2">
            <a:extLst xmlns:a="http://schemas.openxmlformats.org/drawingml/2006/main">
              <a:ext uri="{FF2B5EF4-FFF2-40B4-BE49-F238E27FC236}">
                <a16:creationId xmlns:a16="http://schemas.microsoft.com/office/drawing/2014/main" id="{EDC80EE0-B55F-44C8-AF02-79D90DDF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当前产品 · 本地界面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1E781A8-C3FA-47D1-A1D4-DEF8490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企业只做业务判断，VULCA 把它变成可运行的生产流程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B8DACBE-3A08-45EC-A5EF-0DA5E55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EEBEBF16-E888-4B90-BC16-CF77AB36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AFBE6E2E-E9AF-4B24-A9CA-24371BC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oblem-arrow-2">
            <a:extLst xmlns:a="http://schemas.openxmlformats.org/drawingml/2006/main">
              <a:ext uri="{FF2B5EF4-FFF2-40B4-BE49-F238E27FC236}">
                <a16:creationId xmlns:a16="http://schemas.microsoft.com/office/drawing/2014/main" id="{5146359D-8834-4971-A1B9-66115F6A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oblem-arrow-3">
            <a:extLst xmlns:a="http://schemas.openxmlformats.org/drawingml/2006/main">
              <a:ext uri="{FF2B5EF4-FFF2-40B4-BE49-F238E27FC236}">
                <a16:creationId xmlns:a16="http://schemas.microsoft.com/office/drawing/2014/main" id="{89730037-E7C3-40BD-819A-CB0A014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oblem-arrow-4">
            <a:extLst xmlns:a="http://schemas.openxmlformats.org/drawingml/2006/main">
              <a:ext uri="{FF2B5EF4-FFF2-40B4-BE49-F238E27FC236}">
                <a16:creationId xmlns:a16="http://schemas.microsoft.com/office/drawing/2014/main" id="{1C6AE048-6E8D-4589-9609-9D6FC071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blem-arrow-5">
            <a:extLst xmlns:a="http://schemas.openxmlformats.org/drawingml/2006/main">
              <a:ext uri="{FF2B5EF4-FFF2-40B4-BE49-F238E27FC236}">
                <a16:creationId xmlns:a16="http://schemas.microsoft.com/office/drawing/2014/main" id="{8BE0BB40-DAFA-415A-ACB5-7AFD7FA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209550" cy="228600"/>
          </a:xfrm>
          <a:prstGeom xmlns:a="http://schemas.openxmlformats.org/drawingml/2006/main" prst="rightArrow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oblem-card-01">
            <a:extLst xmlns:a="http://schemas.openxmlformats.org/drawingml/2006/main">
              <a:ext uri="{FF2B5EF4-FFF2-40B4-BE49-F238E27FC236}">
                <a16:creationId xmlns:a16="http://schemas.microsoft.com/office/drawing/2014/main" id="{E67F7437-9FFF-40C5-8928-9A7D90D7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4295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problem-number-01">
            <a:extLst xmlns:a="http://schemas.openxmlformats.org/drawingml/2006/main">
              <a:ext uri="{FF2B5EF4-FFF2-40B4-BE49-F238E27FC236}">
                <a16:creationId xmlns:a16="http://schemas.microsoft.com/office/drawing/2014/main" id="{D9F4A155-4C77-477C-B147-A96DAB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2" name="problem-title-01">
            <a:extLst xmlns:a="http://schemas.openxmlformats.org/drawingml/2006/main">
              <a:ext uri="{FF2B5EF4-FFF2-40B4-BE49-F238E27FC236}">
                <a16:creationId xmlns:a16="http://schemas.microsoft.com/office/drawing/2014/main" id="{12695C17-F2D5-4F74-A407-36A884C9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3" name="problem-body-01">
            <a:extLst xmlns:a="http://schemas.openxmlformats.org/drawingml/2006/main">
              <a:ext uri="{FF2B5EF4-FFF2-40B4-BE49-F238E27FC236}">
                <a16:creationId xmlns:a16="http://schemas.microsoft.com/office/drawing/2014/main" id="{AE28D1C3-121D-4354-9C3A-DABB6B6F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4" name="problem-card-02">
            <a:extLst xmlns:a="http://schemas.openxmlformats.org/drawingml/2006/main">
              <a:ext uri="{FF2B5EF4-FFF2-40B4-BE49-F238E27FC236}">
                <a16:creationId xmlns:a16="http://schemas.microsoft.com/office/drawing/2014/main" id="{D2424645-FC2A-4DF6-AACF-A2F9B0DA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7338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15" name="problem-number-02">
            <a:extLst xmlns:a="http://schemas.openxmlformats.org/drawingml/2006/main">
              <a:ext uri="{FF2B5EF4-FFF2-40B4-BE49-F238E27FC236}">
                <a16:creationId xmlns:a16="http://schemas.microsoft.com/office/drawing/2014/main" id="{795042DC-2E7A-41E9-A3A0-A5003976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企业输入</a:t>
            </a:r>
          </a:p>
        </p:txBody>
      </p:sp>
      <p:sp>
        <p:nvSpPr>
          <p:cNvPr id="16" name="problem-title-02">
            <a:extLst xmlns:a="http://schemas.openxmlformats.org/drawingml/2006/main">
              <a:ext uri="{FF2B5EF4-FFF2-40B4-BE49-F238E27FC236}">
                <a16:creationId xmlns:a16="http://schemas.microsoft.com/office/drawing/2014/main" id="{268FC771-6882-4566-A6BF-1A989BEF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目标 / 参考 / 品牌要求 / 渠道 / 审批人</a:t>
            </a:r>
          </a:p>
        </p:txBody>
      </p:sp>
      <p:sp>
        <p:nvSpPr>
          <p:cNvPr id="17" name="problem-body-02">
            <a:extLst xmlns:a="http://schemas.openxmlformats.org/drawingml/2006/main">
              <a:ext uri="{FF2B5EF4-FFF2-40B4-BE49-F238E27FC236}">
                <a16:creationId xmlns:a16="http://schemas.microsoft.com/office/drawing/2014/main" id="{F1D1AE0E-4E3C-4939-BF1D-26889C4C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不要求企业先学会模型编排</a:t>
            </a:r>
          </a:p>
        </p:txBody>
      </p:sp>
      <p:sp>
        <p:nvSpPr>
          <p:cNvPr id="18" name="problem-card-03">
            <a:extLst xmlns:a="http://schemas.openxmlformats.org/drawingml/2006/main">
              <a:ext uri="{FF2B5EF4-FFF2-40B4-BE49-F238E27FC236}">
                <a16:creationId xmlns:a16="http://schemas.microsoft.com/office/drawing/2014/main" id="{D882D7C7-7572-41B6-B4FB-F8B979F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327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F5"/>
            </a:solidFill>
            <a:prstDash val="solid"/>
          </a:ln>
        </p:spPr>
      </p:sp>
      <p:sp>
        <p:nvSpPr>
          <p:cNvPr id="19" name="problem-number-03">
            <a:extLst xmlns:a="http://schemas.openxmlformats.org/drawingml/2006/main">
              <a:ext uri="{FF2B5EF4-FFF2-40B4-BE49-F238E27FC236}">
                <a16:creationId xmlns:a16="http://schemas.microsoft.com/office/drawing/2014/main" id="{25AEB4F8-5C06-4D52-BD68-7F40938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23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组织</a:t>
            </a:r>
          </a:p>
        </p:txBody>
      </p:sp>
      <p:sp>
        <p:nvSpPr>
          <p:cNvPr id="20" name="problem-title-03">
            <a:extLst xmlns:a="http://schemas.openxmlformats.org/drawingml/2006/main">
              <a:ext uri="{FF2B5EF4-FFF2-40B4-BE49-F238E27FC236}">
                <a16:creationId xmlns:a16="http://schemas.microsoft.com/office/drawing/2014/main" id="{E07CD8DD-1679-4649-9C11-CE7C4E8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选模型 → 生成候选 → 定点修改</a:t>
            </a:r>
          </a:p>
        </p:txBody>
      </p:sp>
      <p:sp>
        <p:nvSpPr>
          <p:cNvPr id="21" name="problem-body-03">
            <a:extLst xmlns:a="http://schemas.openxmlformats.org/drawingml/2006/main">
              <a:ext uri="{FF2B5EF4-FFF2-40B4-BE49-F238E27FC236}">
                <a16:creationId xmlns:a16="http://schemas.microsoft.com/office/drawing/2014/main" id="{2E2EC799-2ED9-45D2-AC0C-93D09AF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857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闭源、开源、私有部署均可接入</a:t>
            </a:r>
          </a:p>
        </p:txBody>
      </p:sp>
      <p:sp>
        <p:nvSpPr>
          <p:cNvPr id="22" name="problem-card-04">
            <a:extLst xmlns:a="http://schemas.openxmlformats.org/drawingml/2006/main">
              <a:ext uri="{FF2B5EF4-FFF2-40B4-BE49-F238E27FC236}">
                <a16:creationId xmlns:a16="http://schemas.microsoft.com/office/drawing/2014/main" id="{2E66F1ED-1966-41DE-9BF7-9CD2DE5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32766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F5"/>
            </a:solidFill>
            <a:prstDash val="solid"/>
          </a:ln>
        </p:spPr>
      </p:sp>
      <p:sp>
        <p:nvSpPr>
          <p:cNvPr id="23" name="problem-number-04">
            <a:extLst xmlns:a="http://schemas.openxmlformats.org/drawingml/2006/main">
              <a:ext uri="{FF2B5EF4-FFF2-40B4-BE49-F238E27FC236}">
                <a16:creationId xmlns:a16="http://schemas.microsoft.com/office/drawing/2014/main" id="{03E6F693-C315-4F2E-B0D2-E9556DD6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62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企业决定</a:t>
            </a:r>
          </a:p>
        </p:txBody>
      </p:sp>
      <p:sp>
        <p:nvSpPr>
          <p:cNvPr id="24" name="problem-title-04">
            <a:extLst xmlns:a="http://schemas.openxmlformats.org/drawingml/2006/main">
              <a:ext uri="{FF2B5EF4-FFF2-40B4-BE49-F238E27FC236}">
                <a16:creationId xmlns:a16="http://schemas.microsoft.com/office/drawing/2014/main" id="{3240C053-45B0-4125-A034-87B27323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比较 → 反馈 → 采纳 → 授权</a:t>
            </a:r>
          </a:p>
        </p:txBody>
      </p:sp>
      <p:sp>
        <p:nvSpPr>
          <p:cNvPr id="25" name="problem-body-04">
            <a:extLst xmlns:a="http://schemas.openxmlformats.org/drawingml/2006/main">
              <a:ext uri="{FF2B5EF4-FFF2-40B4-BE49-F238E27FC236}">
                <a16:creationId xmlns:a16="http://schemas.microsoft.com/office/drawing/2014/main" id="{A22E207A-98E0-405E-AFC0-FD8363F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关键判断始终由业务方掌握</a:t>
            </a:r>
          </a:p>
        </p:txBody>
      </p:sp>
      <p:sp>
        <p:nvSpPr>
          <p:cNvPr id="26" name="problem-card-05">
            <a:extLst xmlns:a="http://schemas.openxmlformats.org/drawingml/2006/main">
              <a:ext uri="{FF2B5EF4-FFF2-40B4-BE49-F238E27FC236}">
                <a16:creationId xmlns:a16="http://schemas.microsoft.com/office/drawing/2014/main" id="{8E1711D1-7814-4671-8A80-3C65EA9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problem-number-05">
            <a:extLst xmlns:a="http://schemas.openxmlformats.org/drawingml/2006/main">
              <a:ext uri="{FF2B5EF4-FFF2-40B4-BE49-F238E27FC236}">
                <a16:creationId xmlns:a16="http://schemas.microsoft.com/office/drawing/2014/main" id="{236372BC-20C2-408D-9F1B-8DEDBF2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28" name="problem-title-05">
            <a:extLst xmlns:a="http://schemas.openxmlformats.org/drawingml/2006/main">
              <a:ext uri="{FF2B5EF4-FFF2-40B4-BE49-F238E27FC236}">
                <a16:creationId xmlns:a16="http://schemas.microsoft.com/office/drawing/2014/main" id="{53A2CEA4-F3E8-4048-BC49-2EF54886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29" name="problem-body-05">
            <a:extLst xmlns:a="http://schemas.openxmlformats.org/drawingml/2006/main">
              <a:ext uri="{FF2B5EF4-FFF2-40B4-BE49-F238E27FC236}">
                <a16:creationId xmlns:a16="http://schemas.microsoft.com/office/drawing/2014/main" id="{B856A33B-0EB3-4D56-B446-BF2CE3A5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0" name="problem-card-06">
            <a:extLst xmlns:a="http://schemas.openxmlformats.org/drawingml/2006/main">
              <a:ext uri="{FF2B5EF4-FFF2-40B4-BE49-F238E27FC236}">
                <a16:creationId xmlns:a16="http://schemas.microsoft.com/office/drawing/2014/main" id="{8DB2FEA2-AA46-4C77-9328-02D2AD73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1657350" cy="23431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problem-number-06">
            <a:extLst xmlns:a="http://schemas.openxmlformats.org/drawingml/2006/main">
              <a:ext uri="{FF2B5EF4-FFF2-40B4-BE49-F238E27FC236}">
                <a16:creationId xmlns:a16="http://schemas.microsoft.com/office/drawing/2014/main" id="{8A03D233-81E7-4CEB-BD8C-C8D3C22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81200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2" name="problem-title-06">
            <a:extLst xmlns:a="http://schemas.openxmlformats.org/drawingml/2006/main">
              <a:ext uri="{FF2B5EF4-FFF2-40B4-BE49-F238E27FC236}">
                <a16:creationId xmlns:a16="http://schemas.microsoft.com/office/drawing/2014/main" id="{FE26F51C-E6C0-4FDA-89D6-6285C58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3840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3" name="problem-body-06">
            <a:extLst xmlns:a="http://schemas.openxmlformats.org/drawingml/2006/main">
              <a:ext uri="{FF2B5EF4-FFF2-40B4-BE49-F238E27FC236}">
                <a16:creationId xmlns:a16="http://schemas.microsoft.com/office/drawing/2014/main" id="{9187A1C8-78CF-4A3D-8474-B425A09E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6368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4" name="model-upgrade-reset">
            <a:extLst xmlns:a="http://schemas.openxmlformats.org/drawingml/2006/main">
              <a:ext uri="{FF2B5EF4-FFF2-40B4-BE49-F238E27FC236}">
                <a16:creationId xmlns:a16="http://schemas.microsoft.com/office/drawing/2014/main" id="{E32D7375-E423-4E83-8F5D-54D10D6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13919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211C19"/>
            </a:solidFill>
            <a:prstDash val="solid"/>
          </a:ln>
        </p:spPr>
      </p:sp>
      <p:sp>
        <p:nvSpPr>
          <p:cNvPr id="35" name="model-upgrade-reset-text">
            <a:extLst xmlns:a="http://schemas.openxmlformats.org/drawingml/2006/main">
              <a:ext uri="{FF2B5EF4-FFF2-40B4-BE49-F238E27FC236}">
                <a16:creationId xmlns:a16="http://schemas.microsoft.com/office/drawing/2014/main" id="{E0BD219B-40D0-4B10-A5A6-18932554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48275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任务、规则、修改与采用记录留在同一条生产线；换模型时一起迁移。</a:t>
            </a:r>
          </a:p>
        </p:txBody>
      </p:sp>
      <p:sp>
        <p:nvSpPr>
          <p:cNvPr id="36" name="business-cost-label">
            <a:extLst xmlns:a="http://schemas.openxmlformats.org/drawingml/2006/main">
              <a:ext uri="{FF2B5EF4-FFF2-40B4-BE49-F238E27FC236}">
                <a16:creationId xmlns:a16="http://schemas.microsoft.com/office/drawing/2014/main" id="{681C0783-DF09-40E4-B5B2-DC129A7A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试点先看四个指标</a:t>
            </a:r>
          </a:p>
        </p:txBody>
      </p:sp>
      <p:sp>
        <p:nvSpPr>
          <p:cNvPr id="37" name="business-costs">
            <a:extLst xmlns:a="http://schemas.openxmlformats.org/drawingml/2006/main">
              <a:ext uri="{FF2B5EF4-FFF2-40B4-BE49-F238E27FC236}">
                <a16:creationId xmlns:a16="http://schemas.microsoft.com/office/drawing/2014/main" id="{4042654F-7973-4F6F-89C9-DC8CF93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816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首个获批时间 / 修改轮次 / 单个获批素材成本 / 换模人时</a:t>
            </a:r>
          </a:p>
        </p:txBody>
      </p:sp>
      <p:sp>
        <p:nvSpPr>
          <p:cNvPr id="38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977E12C0-3361-4DE1-B7A5-D07B649E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6938C"/>
                </a:solidFill>
                <a:latin typeface="PingFang SC"/>
                <a:ea typeface="PingFang SC"/>
                <a:cs typeface="PingFang SC"/>
              </a:rPr>
              <a:t>本地 Prompt Studio 产品预览｜示例为虚构工业目录任务｜非完整企业控制台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91ab490d04bc5"/>
          <a:srcRect xmlns:a="http://schemas.openxmlformats.org/drawingml/2006/main" l="0" t="0" r="0" b="43000"/>
          <a:stretch xmlns:a="http://schemas.openxmlformats.org/drawingml/2006/main"/>
        </p:blipFill>
        <p:spPr>
          <a:xfrm xmlns:a="http://schemas.openxmlformats.org/drawingml/2006/main" flipH="0" flipV="0">
            <a:off x="476250" y="1677723"/>
            <a:ext cx="7277100" cy="293105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03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同一条生产线，可以服务完全不同的企业视觉任务</a:t>
            </a:r>
          </a:p>
        </p:txBody>
      </p:sp>
      <p:cxnSp>
        <p:nvCxnSpPr>
          <p:cNvPr id="8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43500" cy="4476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601980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6019800" cy="21431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211C19"/>
            </a:solidFill>
            <a:prstDash val="solid"/>
          </a:ln>
        </p:spPr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90700"/>
            <a:ext cx="2724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02  工业与制造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产品目录 · 结构与材质必须保持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4686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01  消费品与电商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新品上市 · 主图 / 社媒 / 渠道版本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  文旅与出海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5FFF"/>
                </a:solidFill>
                <a:latin typeface="PingFang SC"/>
                <a:ea typeface="PingFang SC"/>
                <a:cs typeface="PingFang SC"/>
              </a:rPr>
              <a:t>目的地内容 · 跨市场本地化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381125"/>
            <a:ext cx="601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6019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de510b3e54e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8650" y="1619250"/>
            <a:ext cx="4686300" cy="3105150"/>
          </a:xfrm>
          <a:prstGeom xmlns:a="http://schemas.openxmlformats.org/drawingml/2006/main" prst="round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b347100514a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81700" y="1600200"/>
            <a:ext cx="2514600" cy="1619250"/>
          </a:xfrm>
          <a:prstGeom xmlns:a="http://schemas.openxmlformats.org/drawingml/2006/main" prst="round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abd0df40e45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81700" y="3905250"/>
            <a:ext cx="2857500" cy="1714500"/>
          </a:xfrm>
          <a:prstGeom xmlns:a="http://schemas.openxmlformats.org/drawingml/2006/main" prst="roundRect">
            <a:avLst/>
          </a:prstGeom>
        </p:spPr>
      </p:pic>
      <p:sp>
        <p:nvSpPr>
          <p:cNvPr id="43" name="evidence-status-sl-uz6hie">
            <a:extLst xmlns:a="http://schemas.openxmlformats.org/drawingml/2006/main">
              <a:ext uri="{FF2B5EF4-FFF2-40B4-BE49-F238E27FC236}">
                <a16:creationId xmlns:a16="http://schemas.microsoft.com/office/drawing/2014/main" id="{AA9F230E-67C1-41A3-B667-9867713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6938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6938C"/>
                </a:solidFill>
                <a:latin typeface="PingFang SC"/>
                <a:ea typeface="PingFang SC"/>
                <a:cs typeface="PingFang SC"/>
              </a:rPr>
              <a:t>三个场景均为 VULCA 虚构演示｜展示产品边界，不代表客户、付费或业务效果</a:t>
            </a:r>
          </a:p>
        </p:txBody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2709312-9020-47ED-B726-37D4F928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AA91B2-D6DB-4354-B7EF-903E0B85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深看一个彩妆演示：业务反馈如何变成可复用记录</a:t>
            </a:r>
          </a:p>
        </p:txBody>
      </p:sp>
      <p:cxnSp>
        <p:nvCxnSpPr>
          <p:cNvPr id="8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6A9C7A8-7AA4-415D-BDA7-3319BB7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10738D4-9742-48D8-8B61-34383EBE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972FC68-6991-4E89-A778-7940909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6D891C5E-8A04-42EA-95CC-59F280B6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2390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2BF377E1-1A55-4076-B3A9-5731F1E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886200" cy="18573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5B704797-7BA6-450D-9C97-0B0796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886200" cy="17621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CE6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DB5FB3A-F94E-41EB-9C5A-33F2DD3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714500"/>
            <a:ext cx="1200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② 企业反馈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删掉多余包装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33F60C6-7D7F-4A5C-BCBB-D3137B1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425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① 候选：出现 3 个产品单元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C9C4B23-9F2C-44E9-AF7F-4EEF5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290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③ 采纳版本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保留 2 个产品单元</a:t>
            </a:r>
          </a:p>
        </p:txBody>
      </p:sp>
      <p:sp>
        <p:nvSpPr>
          <p:cNvPr id="16" name="scale-accent-1">
            <a:extLst xmlns:a="http://schemas.openxmlformats.org/drawingml/2006/main">
              <a:ext uri="{FF2B5EF4-FFF2-40B4-BE49-F238E27FC236}">
                <a16:creationId xmlns:a16="http://schemas.microsoft.com/office/drawing/2014/main" id="{B7A05BD8-4874-47B7-8CE2-DF368B3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723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ale-accent-2">
            <a:extLst xmlns:a="http://schemas.openxmlformats.org/drawingml/2006/main">
              <a:ext uri="{FF2B5EF4-FFF2-40B4-BE49-F238E27FC236}">
                <a16:creationId xmlns:a16="http://schemas.microsoft.com/office/drawing/2014/main" id="{B185E3E9-101B-4D2E-9C2F-55E42C3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886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ale-accent-3">
            <a:extLst xmlns:a="http://schemas.openxmlformats.org/drawingml/2006/main">
              <a:ext uri="{FF2B5EF4-FFF2-40B4-BE49-F238E27FC236}">
                <a16:creationId xmlns:a16="http://schemas.microsoft.com/office/drawing/2014/main" id="{7C5BA57F-D4D8-4AEC-8965-FEC8D836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886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d5afa4e4140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90550" y="1619250"/>
            <a:ext cx="6858000" cy="2857500"/>
          </a:xfrm>
          <a:prstGeom xmlns:a="http://schemas.openxmlformats.org/drawingml/2006/main" prst="roundRect">
            <a:avLst/>
          </a:prstGeom>
        </p:spPr>
      </p:pic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da31d455b49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096250" y="1619250"/>
            <a:ext cx="2190750" cy="1238250"/>
          </a:xfrm>
          <a:prstGeom xmlns:a="http://schemas.openxmlformats.org/drawingml/2006/main" prst="roundRect">
            <a:avLst/>
          </a:prstGeom>
        </p:spPr>
      </p:pic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466ffbfb344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096250" y="3762375"/>
            <a:ext cx="1905000" cy="1190625"/>
          </a:xfrm>
          <a:prstGeom xmlns:a="http://schemas.openxmlformats.org/drawingml/2006/main" prst="roundRect">
            <a:avLst/>
          </a:prstGeom>
        </p:spPr>
      </p:pic>
      <p:sp>
        <p:nvSpPr>
          <p:cNvPr id="43" name="evidence-status-sl-9pqj7q">
            <a:extLst xmlns:a="http://schemas.openxmlformats.org/drawingml/2006/main">
              <a:ext uri="{FF2B5EF4-FFF2-40B4-BE49-F238E27FC236}">
                <a16:creationId xmlns:a16="http://schemas.microsoft.com/office/drawing/2014/main" id="{8ABD14DE-126F-4FCC-BCD0-5ED7DBDC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VULCA 0.23.1 本地演示｜自动分割未完成，目标层由 brief 驱动并人工确认｜非客户案例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采用记录可带入后续渠道版本；未宣称已验证付费、效率提升或模型训练效果</a:t>
            </a:r>
          </a:p>
        </p:txBody>
      </p:sp>
    </p:spTree>
    <p:extLst>
      <p:ext uri="{BB962C8B-B14F-4D97-AF65-F5344CB8AC3E}">
        <p14:creationId xmlns:p14="http://schemas.microsoft.com/office/powerpoint/2010/main" val="1576433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5">
            <a:extLst xmlns:a="http://schemas.openxmlformats.org/drawingml/2006/main">
              <a:ext uri="{FF2B5EF4-FFF2-40B4-BE49-F238E27FC236}">
                <a16:creationId xmlns:a16="http://schemas.microsoft.com/office/drawing/2014/main" id="{20259635-4086-44AD-85C8-1F10979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VULCA  /  企业视觉智能公司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224343B-2A9F-4427-AC41-4CE3109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当前从内容生产切入，长期成为企业的视觉智能层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A26F662B-C2A2-4F63-BDB4-CA93538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55678973-B753-4DEC-B97E-F5E40BEA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579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5" name="pilot-scope">
            <a:extLst xmlns:a="http://schemas.openxmlformats.org/drawingml/2006/main">
              <a:ext uri="{FF2B5EF4-FFF2-40B4-BE49-F238E27FC236}">
                <a16:creationId xmlns:a16="http://schemas.microsoft.com/office/drawing/2014/main" id="{3B451D4F-D713-4103-B5DF-B17ECD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6" name="pilot-scope-text">
            <a:extLst xmlns:a="http://schemas.openxmlformats.org/drawingml/2006/main">
              <a:ext uri="{FF2B5EF4-FFF2-40B4-BE49-F238E27FC236}">
                <a16:creationId xmlns:a16="http://schemas.microsoft.com/office/drawing/2014/main" id="{04150355-CDFE-4C7B-81BD-D5CE3F8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089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E4FC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4FC5"/>
                </a:solidFill>
                <a:latin typeface="PingFang SC"/>
                <a:ea typeface="PingFang SC"/>
                <a:cs typeface="PingFang SC"/>
              </a:rPr>
              <a:t>愿景：让每家企业都拥有可跨团队、跨市场、跨模型延续的视觉能力</a:t>
            </a:r>
          </a:p>
        </p:txBody>
      </p:sp>
      <p:sp>
        <p:nvSpPr>
          <p:cNvPr id="7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E298C98A-2ECD-4459-B493-21A56C5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476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F6F72D8-810A-40CB-8DA1-78F780C6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01 付费试点</a:t>
            </a:r>
          </a:p>
        </p:txBody>
      </p:sp>
      <p:sp>
        <p:nvSpPr>
          <p:cNvPr id="9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9CF20165-4EB3-422F-A147-7B56FA52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6087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跑通一个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高频任务</a:t>
            </a:r>
          </a:p>
        </p:txBody>
      </p:sp>
      <p:sp>
        <p:nvSpPr>
          <p:cNvPr id="10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C2F6D952-ABA9-4A43-930A-30A1F3A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与企业共同落地</a:t>
            </a:r>
          </a:p>
        </p:txBody>
      </p:sp>
      <p:sp>
        <p:nvSpPr>
          <p:cNvPr id="1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17904D8C-B28E-46BC-A16C-834DF69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62250"/>
            <a:ext cx="2476500" cy="1666875"/>
          </a:xfrm>
          <a:prstGeom xmlns:a="http://schemas.openxmlformats.org/drawingml/2006/main" prst="roundRect">
            <a:avLst>
              <a:gd name="adj" fmla="val 10286"/>
            </a:avLst>
          </a:prstGeom>
          <a:solidFill xmlns:a="http://schemas.openxmlformats.org/drawingml/2006/main">
            <a:srgbClr val="F0F5FF"/>
          </a:solidFill>
          <a:ln xmlns:a="http://schemas.openxmlformats.org/drawingml/2006/main" w="9525">
            <a:solidFill>
              <a:srgbClr val="C6D8F8"/>
            </a:solidFill>
            <a:prstDash val="solid"/>
          </a:ln>
        </p:spPr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3DF1656-F55F-4BD3-9A3F-84402A56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14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02 软件化上线</a:t>
            </a:r>
          </a:p>
        </p:txBody>
      </p:sp>
      <p:sp>
        <p:nvSpPr>
          <p:cNvPr id="13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E5992E41-7287-4AEE-800E-C7F2C67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86125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接入团队、模型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与审批</a:t>
            </a:r>
          </a:p>
        </p:txBody>
      </p:sp>
      <p:sp>
        <p:nvSpPr>
          <p:cNvPr id="14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CE99C9A1-57EA-43D3-9A67-EED7A055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从交付变成流程</a:t>
            </a:r>
          </a:p>
        </p:txBody>
      </p:sp>
      <p:sp>
        <p:nvSpPr>
          <p:cNvPr id="15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9E0DCE02-68B9-4503-B97D-A55401B8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81250"/>
            <a:ext cx="24765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D7E5FF"/>
          </a:solidFill>
          <a:ln xmlns:a="http://schemas.openxmlformats.org/drawingml/2006/main" w="9525">
            <a:solidFill>
              <a:srgbClr val="AFCBFF"/>
            </a:solidFill>
            <a:prstDash val="solid"/>
          </a:ln>
        </p:spPr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9A0ECF98-57D7-49C8-B9F9-B8FE5D7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33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03 企业视觉资产</a:t>
            </a:r>
          </a:p>
        </p:txBody>
      </p:sp>
      <p:sp>
        <p:nvSpPr>
          <p:cNvPr id="17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BF6C2944-51C4-40C7-84FE-04510FA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718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沉淀规则、版本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与采用记录</a:t>
            </a:r>
          </a:p>
        </p:txBody>
      </p:sp>
      <p:sp>
        <p:nvSpPr>
          <p:cNvPr id="18" name="metric-detail-3">
            <a:extLst xmlns:a="http://schemas.openxmlformats.org/drawingml/2006/main">
              <a:ext uri="{FF2B5EF4-FFF2-40B4-BE49-F238E27FC236}">
                <a16:creationId xmlns:a16="http://schemas.microsoft.com/office/drawing/2014/main" id="{55B9EF98-0960-4C52-AADD-00BBFD20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57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换模型也能迁移</a:t>
            </a:r>
          </a:p>
        </p:txBody>
      </p:sp>
      <p:sp>
        <p:nvSpPr>
          <p:cNvPr id="19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0C183853-ED1D-405C-835B-DD8B738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00250"/>
            <a:ext cx="3590925" cy="24288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69F6"/>
          </a:solidFill>
          <a:ln xmlns:a="http://schemas.openxmlformats.org/drawingml/2006/main" w="9525">
            <a:solidFill>
              <a:srgbClr val="1769F6"/>
            </a:solidFill>
            <a:prstDash val="solid"/>
          </a:ln>
        </p:spPr>
      </p:sp>
      <p:sp>
        <p:nvSpPr>
          <p:cNvPr id="20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DD461D3B-2F60-421F-A3F8-6E874216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 深度接入</a:t>
            </a:r>
          </a:p>
        </p:txBody>
      </p:sp>
      <p:sp>
        <p:nvSpPr>
          <p:cNvPr id="21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59EA064D-E8B6-4C14-A9DF-668820F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051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私有部署与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模型持续优化</a:t>
            </a:r>
          </a:p>
        </p:txBody>
      </p:sp>
      <p:sp>
        <p:nvSpPr>
          <p:cNvPr id="22" name="metric-detail-4">
            <a:extLst xmlns:a="http://schemas.openxmlformats.org/drawingml/2006/main">
              <a:ext uri="{FF2B5EF4-FFF2-40B4-BE49-F238E27FC236}">
                <a16:creationId xmlns:a16="http://schemas.microsoft.com/office/drawing/2014/main" id="{C820A929-97A0-44E3-ABBD-CD9D950A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62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AF1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AF1FF"/>
                </a:solidFill>
                <a:latin typeface="PingFang SC"/>
                <a:ea typeface="PingFang SC"/>
                <a:cs typeface="PingFang SC"/>
              </a:rPr>
              <a:t>仅在授权与效果验证后</a:t>
            </a:r>
          </a:p>
        </p:txBody>
      </p:sp>
      <p:sp>
        <p:nvSpPr>
          <p:cNvPr id="23" name="business-model-panel">
            <a:extLst xmlns:a="http://schemas.openxmlformats.org/drawingml/2006/main">
              <a:ext uri="{FF2B5EF4-FFF2-40B4-BE49-F238E27FC236}">
                <a16:creationId xmlns:a16="http://schemas.microsoft.com/office/drawing/2014/main" id="{620FA37D-9117-44B4-A1CA-323906D4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53340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E"/>
            </a:solidFill>
            <a:prstDash val="solid"/>
          </a:ln>
        </p:spPr>
      </p:sp>
      <p:sp>
        <p:nvSpPr>
          <p:cNvPr id="24" name="business-model-label">
            <a:extLst xmlns:a="http://schemas.openxmlformats.org/drawingml/2006/main">
              <a:ext uri="{FF2B5EF4-FFF2-40B4-BE49-F238E27FC236}">
                <a16:creationId xmlns:a16="http://schemas.microsoft.com/office/drawing/2014/main" id="{699C4FF1-48E2-4AEE-B395-329CAE9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69F6"/>
                </a:solidFill>
                <a:latin typeface="PingFang SC"/>
                <a:ea typeface="PingFang SC"/>
                <a:cs typeface="PingFang SC"/>
              </a:rPr>
              <a:t>商业路径</a:t>
            </a:r>
          </a:p>
        </p:txBody>
      </p:sp>
      <p:sp>
        <p:nvSpPr>
          <p:cNvPr id="25" name="business-model-title">
            <a:extLst xmlns:a="http://schemas.openxmlformats.org/drawingml/2006/main">
              <a:ext uri="{FF2B5EF4-FFF2-40B4-BE49-F238E27FC236}">
                <a16:creationId xmlns:a16="http://schemas.microsoft.com/office/drawing/2014/main" id="{B5B8646C-0F9D-430D-A670-B0F5909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1716"/>
                </a:solidFill>
                <a:latin typeface="PingFang SC"/>
                <a:ea typeface="PingFang SC"/>
                <a:cs typeface="PingFang SC"/>
              </a:rPr>
              <a:t>付费试点 → 软件化上线 → 年度订阅</a:t>
            </a:r>
          </a:p>
        </p:txBody>
      </p:sp>
      <p:sp>
        <p:nvSpPr>
          <p:cNvPr id="26" name="business-model-detail">
            <a:extLst xmlns:a="http://schemas.openxmlformats.org/drawingml/2006/main">
              <a:ext uri="{FF2B5EF4-FFF2-40B4-BE49-F238E27FC236}">
                <a16:creationId xmlns:a16="http://schemas.microsoft.com/office/drawing/2014/main" id="{7AD30BFE-95CD-42F4-9BE1-DE40D68B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私有部署、模型优化与企业级支持按需增购</a:t>
            </a:r>
          </a:p>
        </p:txBody>
      </p:sp>
      <p:sp>
        <p:nvSpPr>
          <p:cNvPr id="27" name="ask-panel">
            <a:extLst xmlns:a="http://schemas.openxmlformats.org/drawingml/2006/main">
              <a:ext uri="{FF2B5EF4-FFF2-40B4-BE49-F238E27FC236}">
                <a16:creationId xmlns:a16="http://schemas.microsoft.com/office/drawing/2014/main" id="{01DDF50D-DB84-466A-AF62-279CD86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14875"/>
            <a:ext cx="58293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211C19"/>
          </a:solidFill>
          <a:ln xmlns:a="http://schemas.openxmlformats.org/drawingml/2006/main" w="9525">
            <a:solidFill>
              <a:srgbClr val="211C19"/>
            </a:solidFill>
            <a:prstDash val="solid"/>
          </a:ln>
        </p:spPr>
      </p:sp>
      <p:sp>
        <p:nvSpPr>
          <p:cNvPr id="28" name="ask-label">
            <a:extLst xmlns:a="http://schemas.openxmlformats.org/drawingml/2006/main">
              <a:ext uri="{FF2B5EF4-FFF2-40B4-BE49-F238E27FC236}">
                <a16:creationId xmlns:a16="http://schemas.microsoft.com/office/drawing/2014/main" id="{103BDC2E-A993-4820-8F60-283C9DFC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95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AE5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7AE56"/>
                </a:solidFill>
                <a:latin typeface="PingFang SC"/>
                <a:ea typeface="PingFang SC"/>
                <a:cs typeface="PingFang SC"/>
              </a:rPr>
              <a:t>现场希望连接</a:t>
            </a:r>
          </a:p>
        </p:txBody>
      </p:sp>
      <p:sp>
        <p:nvSpPr>
          <p:cNvPr id="29" name="ask-title">
            <a:extLst xmlns:a="http://schemas.openxmlformats.org/drawingml/2006/main">
              <a:ext uri="{FF2B5EF4-FFF2-40B4-BE49-F238E27FC236}">
                <a16:creationId xmlns:a16="http://schemas.microsoft.com/office/drawing/2014/main" id="{B29083A1-FA50-495F-9FAB-62C909D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006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试点企业 / 创意、本地化与跨境服务商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 · 数据 · 算力伙伴 / 南沙场景资源 / 早期资本</a:t>
            </a:r>
          </a:p>
        </p:txBody>
      </p:sp>
      <p:sp>
        <p:nvSpPr>
          <p:cNvPr id="30" name="current-stage">
            <a:extLst xmlns:a="http://schemas.openxmlformats.org/drawingml/2006/main">
              <a:ext uri="{FF2B5EF4-FFF2-40B4-BE49-F238E27FC236}">
                <a16:creationId xmlns:a16="http://schemas.microsoft.com/office/drawing/2014/main" id="{38C61AA9-9343-424E-B3FC-2BEA661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150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655F"/>
                </a:solidFill>
                <a:latin typeface="PingFang SC"/>
                <a:ea typeface="PingFang SC"/>
                <a:cs typeface="PingFang SC"/>
              </a:rPr>
              <a:t>上游：闭源 / 开源 / 私有部署模型  →  VULCA：任务、规则、版本、采用记录  →  下游：品牌 / 电商 / 制造 / 文旅</a:t>
            </a:r>
          </a:p>
        </p:txBody>
      </p:sp>
    </p:spTree>
    <p:extLst>
      <p:ext uri="{BB962C8B-B14F-4D97-AF65-F5344CB8AC3E}">
        <p14:creationId xmlns:p14="http://schemas.microsoft.com/office/powerpoint/2010/main" val="207199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2026-08-10T00:09:09.6460000Z</dcterms:created>
  <dcterms:modified xsi:type="dcterms:W3CDTF">2026-08-10T00:09:09.6460000Z</dcterms:modified>
</coreProperties>
</file>
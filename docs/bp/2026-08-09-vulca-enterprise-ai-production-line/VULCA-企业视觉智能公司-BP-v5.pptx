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21e40294d94bff" /><Relationship Type="http://schemas.openxmlformats.org/officeDocument/2006/relationships/extended-properties" Target="/docProps/app.xml" Id="Rdca19a50ff444760" /><Relationship Type="http://schemas.openxmlformats.org/officeDocument/2006/relationships/officeDocument" Target="/ppt/presentation.xml" Id="R4dde282e017243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570e74ff154fd7"/>
  </p:sldMasterIdLst>
  <p:notesMasterIdLst>
    <p:notesMasterId xmlns:r="http://schemas.openxmlformats.org/officeDocument/2006/relationships" r:id="R749b2af7a85a44a4"/>
  </p:notesMasterIdLst>
  <p:sldIdLst>
    <p:sldId xmlns:r="http://schemas.openxmlformats.org/officeDocument/2006/relationships" id="256" r:id="R7b711d9a7a91433c"/>
    <p:sldId xmlns:r="http://schemas.openxmlformats.org/officeDocument/2006/relationships" id="257" r:id="R3fe9ca4f54114214"/>
    <p:sldId xmlns:r="http://schemas.openxmlformats.org/officeDocument/2006/relationships" id="258" r:id="Rc2bb052348dc48b0"/>
    <p:sldId xmlns:r="http://schemas.openxmlformats.org/officeDocument/2006/relationships" id="259" r:id="R9a6b7ad5db364c5d"/>
    <p:sldId xmlns:r="http://schemas.openxmlformats.org/officeDocument/2006/relationships" id="260" r:id="Rceb9fd45c9994345"/>
    <p:sldId xmlns:r="http://schemas.openxmlformats.org/officeDocument/2006/relationships" id="261" r:id="Rbf1bb77fddc840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519963fd4b4fde" /><Relationship Type="http://schemas.openxmlformats.org/officeDocument/2006/relationships/slideMaster" Target="/ppt/slideMasters/slideMaster1.xml" Id="Re0570e74ff154fd7" /><Relationship Type="http://schemas.openxmlformats.org/officeDocument/2006/relationships/notesMaster" Target="/ppt/notesMasters/notesMaster1.xml" Id="R749b2af7a85a44a4" /><Relationship Type="http://schemas.openxmlformats.org/officeDocument/2006/relationships/presProps" Target="/ppt/presProps.xml" Id="Rbaf08ae6878a443c" /><Relationship Type="http://schemas.openxmlformats.org/officeDocument/2006/relationships/tableStyles" Target="/ppt/tableStyles.xml" Id="R4bf39d1fe10448e7" /><Relationship Type="http://schemas.openxmlformats.org/officeDocument/2006/relationships/slide" Target="/ppt/slides/slide1.xml" Id="R7b711d9a7a91433c" /><Relationship Type="http://schemas.openxmlformats.org/officeDocument/2006/relationships/slide" Target="/ppt/slides/slide2.xml" Id="R3fe9ca4f54114214" /><Relationship Type="http://schemas.openxmlformats.org/officeDocument/2006/relationships/slide" Target="/ppt/slides/slide3.xml" Id="Rc2bb052348dc48b0" /><Relationship Type="http://schemas.openxmlformats.org/officeDocument/2006/relationships/slide" Target="/ppt/slides/slide4.xml" Id="R9a6b7ad5db364c5d" /><Relationship Type="http://schemas.openxmlformats.org/officeDocument/2006/relationships/slide" Target="/ppt/slides/slide5.xml" Id="Rceb9fd45c9994345" /><Relationship Type="http://schemas.openxmlformats.org/officeDocument/2006/relationships/slide" Target="/ppt/slides/slide6.xml" Id="Rbf1bb77fddc840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79852bce8845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ea007cd9f4f5e" /><Relationship Type="http://schemas.openxmlformats.org/officeDocument/2006/relationships/notesMaster" Target="/ppt/notesMasters/notesMaster1.xml" Id="R550a508c7c514c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234543b86c40cd" /><Relationship Type="http://schemas.openxmlformats.org/officeDocument/2006/relationships/notesMaster" Target="/ppt/notesMasters/notesMaster1.xml" Id="Rf72d3cb5b50749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46b38349c346a9" /><Relationship Type="http://schemas.openxmlformats.org/officeDocument/2006/relationships/notesMaster" Target="/ppt/notesMasters/notesMaster1.xml" Id="R5b3b956c7a7745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f6d156d51a4a13" /><Relationship Type="http://schemas.openxmlformats.org/officeDocument/2006/relationships/notesMaster" Target="/ppt/notesMasters/notesMaster1.xml" Id="Ra29de1bb0d6a43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e0b167f9c84553" /><Relationship Type="http://schemas.openxmlformats.org/officeDocument/2006/relationships/notesMaster" Target="/ppt/notesMasters/notesMaster1.xml" Id="Rd6239bc66dcd45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9e2b62a5bf4c16" /><Relationship Type="http://schemas.openxmlformats.org/officeDocument/2006/relationships/notesMaster" Target="/ppt/notesMasters/notesMaster1.xml" Id="R7b7dcec657d54c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开场先卖结果：企业不缺会生成图片的模型，缺的是能稳定交付、能留下组织能力的生产线。</a:t>
            </a:r>
          </a:p>
          <a:p xmlns:a="http://schemas.openxmlformats.org/drawingml/2006/main">
            <a:r>
              <a:t>图片是 VULCA 仓库中的视觉输出示例，不代表企业客户业绩。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assets/demo/v2/workflow-brand-output.png</a:t>
            </a:r>
          </a:p>
          <a:p xmlns:a="http://schemas.openxmlformats.org/drawingml/2006/main">
            <a:r>
              <a:t>Local: docs/bp/2026-08-09-vulca-enterprise-ai-production-line/VULCA-企业视觉智能公司-BP-v4.pptx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 Why now 和谁最先付费。统计来自公开报告，口径不同，不应相加或推导成市场规模。</a:t>
            </a:r>
          </a:p>
          <a:p xmlns:a="http://schemas.openxmlformats.org/drawingml/2006/main">
            <a:r>
              <a:t>88% 与 79% 为 Stanford AI Index 2026 对 2025 年组织使用情况的汇总。</a:t>
            </a:r>
          </a:p>
          <a:p xmlns:a="http://schemas.openxmlformats.org/drawingml/2006/main">
            <a:r>
              <a:t>近三分之二未开始全企业规模化来自 McKinsey 2025 调查。</a:t>
            </a:r>
          </a:p>
          <a:p xmlns:a="http://schemas.openxmlformats.org/drawingml/2006/main">
            <a:r>
              <a:t>71% 与 58% 来自 Adobe 2025 内容需求研究；61% 来自 Canva 2025 AI literacy 报告。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https://hai.stanford.edu/assets/files/ai_index_report_2026_chapter_4_economy.pdf</a:t>
            </a:r>
          </a:p>
          <a:p xmlns:a="http://schemas.openxmlformats.org/drawingml/2006/main">
            <a:r>
              <a:t>https://www.mckinsey.com/capabilities/quantumblack/our-insights/the-state-of-ai</a:t>
            </a:r>
          </a:p>
          <a:p xmlns:a="http://schemas.openxmlformats.org/drawingml/2006/main">
            <a:r>
              <a:t>https://business.adobe.com/blog/71-percent-of-marketers-say-content-demand-to-increase-5x</a:t>
            </a:r>
          </a:p>
          <a:p xmlns:a="http://schemas.openxmlformats.org/drawingml/2006/main">
            <a:r>
              <a:t>https://www.canva.com/newsroom/news/ai-literacy/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这是用于解释产品和试点方式的假设客户场景，不是已签客户、真实订单或已验证结果。</a:t>
            </a:r>
          </a:p>
          <a:p xmlns:a="http://schemas.openxmlformats.org/drawingml/2006/main">
            <a:r>
              <a:t>建议销售时将市场数、渠道数、现有模型、审批角色和基线数据替换为目标客户的真实参数。</a:t>
            </a:r>
          </a:p>
          <a:p xmlns:a="http://schemas.openxmlformats.org/drawingml/2006/main">
            <a:r>
              <a:t>能力包可包括品牌规则、市场规则、被采用案例、审批记录和可复用评测；模型后训练不是默认步骤。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Scenario assumptions created for this BP; no customer outcome is claimed.</a:t>
            </a:r>
          </a:p>
          <a:p xmlns:a="http://schemas.openxmlformats.org/drawingml/2006/main">
            <a:r>
              <a:t>Local: docs/bp/2026-08-09-vulca-enterprise-ai-production-line/VULCA-企业视觉智能公司-BP-v4.pptx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三张图为 2026-08-09 在本机启动当前 VULCA Studio /demo 路由后截取的实际界面。</a:t>
            </a:r>
          </a:p>
          <a:p xmlns:a="http://schemas.openxmlformats.org/drawingml/2006/main">
            <a:r>
              <a:t>该 walkthrough 使用仓库内版本化演示数据与 preview/mock provider，不代表付费生成、线上 SaaS 可用性或企业客户成果。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/Users/yhryzy/dev/vulca-platform/wenxin-moyun/src/pages/DemoPage.tsx</a:t>
            </a:r>
          </a:p>
          <a:p xmlns:a="http://schemas.openxmlformats.org/drawingml/2006/main">
            <a:r>
              <a:t>Local: /Users/yhryzy/dev/vulca-platform/wenxin-moyun/src/components/demo/views/EvaluationView.tsx</a:t>
            </a:r>
          </a:p>
          <a:p xmlns:a="http://schemas.openxmlformats.org/drawingml/2006/main">
            <a:r>
              <a:t>Local: /Users/yhryzy/dev/vulca-platform/wenxin-moyun/src/components/demo/views/DigestionView.tsx</a:t>
            </a:r>
          </a:p>
          <a:p xmlns:a="http://schemas.openxmlformats.org/drawingml/2006/main">
            <a:r>
              <a:t>Local screenshots: .tmp-bp-v5/ui-brief.png; ui-eval-r1.png; ui-digestion.png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这三张图来自仓库中的 Scottish–Chinese fusion 展示材料，可追溯到同一演示包。</a:t>
            </a:r>
          </a:p>
          <a:p xmlns:a="http://schemas.openxmlformats.org/drawingml/2006/main">
            <a:r>
              <a:t>slide1 比较同一模型的 naive 与 VULCA-mediated 路径；slide3 展示语义分层；slide4 展示隔离元素与重绘两条修改路径。</a:t>
            </a:r>
          </a:p>
          <a:p xmlns:a="http://schemas.openxmlformats.org/drawingml/2006/main">
            <a:r>
              <a:t>重要边界：展示包 caption 记录维护者允许 showcase，但严格 rubric 曾在 L2 hard-fail；因此本页只证明可展示的工作流和编辑路径，不声称文化效果或企业收益已验证。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docs/visual-specs/2026-04-23-scottish-chinese-fusion/carousel/slide1.png</a:t>
            </a:r>
          </a:p>
          <a:p xmlns:a="http://schemas.openxmlformats.org/drawingml/2006/main">
            <a:r>
              <a:t>Local: docs/visual-specs/2026-04-23-scottish-chinese-fusion/carousel/slide3.png</a:t>
            </a:r>
          </a:p>
          <a:p xmlns:a="http://schemas.openxmlformats.org/drawingml/2006/main">
            <a:r>
              <a:t>Local: docs/visual-specs/2026-04-23-scottish-chinese-fusion/carousel/slide4.png</a:t>
            </a:r>
          </a:p>
          <a:p xmlns:a="http://schemas.openxmlformats.org/drawingml/2006/main">
            <a:r>
              <a:t>Local: docs/visual-specs/2026-04-23-scottish-chinese-fusion/caption_devto_en.md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公司定位是企业视觉智能公司；当前可卖产品是企业 AI 内容生产线；首个市场入口是跨市场广告素材本地化。</a:t>
            </a:r>
          </a:p>
          <a:p xmlns:a="http://schemas.openxmlformats.org/drawingml/2006/main">
            <a:r>
              <a:t>私有化、开源模型适配、持续学习或后训练是可选扩展，不应在没有客户授权、数据资格与效果验证时承诺。</a:t>
            </a:r>
          </a:p>
          <a:p xmlns:a="http://schemas.openxmlformats.org/drawingml/2006/main">
            <a:r>
              <a:t>下一阶段必须用真实客户基线验证时间、质量、成本和换模迁移，而不是把 UI、样本或模型可运行当作商业验证。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docs/bp/2026-08-09-vulca-enterprise-ai-production-line/VULCA-企业视觉智能公司-BP-v4.pptx</a:t>
            </a:r>
          </a:p>
          <a:p xmlns:a="http://schemas.openxmlformats.org/drawingml/2006/main">
            <a:r>
              <a:t>Local: docs/visual-specs/2026-04-23-scottish-chinese-fusion/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a8e54c4ec4d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236e4a1c90418b" /><Relationship Type="http://schemas.openxmlformats.org/officeDocument/2006/relationships/slideLayout" Target="/ppt/slideLayouts/slideLayout1.xml" Id="R7005c5a015984c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05c5a015984c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36f527ce64771" /><Relationship Type="http://schemas.openxmlformats.org/officeDocument/2006/relationships/image" Target="/ppt/media/image.jpeg" Id="R0a9fe7fb27cd4474" /><Relationship Type="http://schemas.openxmlformats.org/officeDocument/2006/relationships/notesSlide" Target="/ppt/notesSlides/notesSlide1.xml" Id="R9666cceec7bc47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338c5f2ae48a2" /><Relationship Type="http://schemas.openxmlformats.org/officeDocument/2006/relationships/notesSlide" Target="/ppt/notesSlides/notesSlide2.xml" Id="R27908f8a05624d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93cb7b23f4e1c" /><Relationship Type="http://schemas.openxmlformats.org/officeDocument/2006/relationships/notesSlide" Target="/ppt/notesSlides/notesSlide3.xml" Id="R65dec2fa7de64a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a404bb07f4f1e" /><Relationship Type="http://schemas.openxmlformats.org/officeDocument/2006/relationships/image" Target="/ppt/media/image.png" Id="R6a58b442d5ad45c8" /><Relationship Type="http://schemas.openxmlformats.org/officeDocument/2006/relationships/image" Target="/ppt/media/image2.png" Id="Re44c299f981d468b" /><Relationship Type="http://schemas.openxmlformats.org/officeDocument/2006/relationships/image" Target="/ppt/media/image3.png" Id="Rfb77352e3458499b" /><Relationship Type="http://schemas.openxmlformats.org/officeDocument/2006/relationships/notesSlide" Target="/ppt/notesSlides/notesSlide4.xml" Id="R8b7ace2b599645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91ee71d764722" /><Relationship Type="http://schemas.openxmlformats.org/officeDocument/2006/relationships/image" Target="/ppt/media/image4.png" Id="R61680d1b526e4fa1" /><Relationship Type="http://schemas.openxmlformats.org/officeDocument/2006/relationships/image" Target="/ppt/media/image5.png" Id="R1c04ee3bcc9b4555" /><Relationship Type="http://schemas.openxmlformats.org/officeDocument/2006/relationships/image" Target="/ppt/media/image6.png" Id="R2d6d27a1f49d41c1" /><Relationship Type="http://schemas.openxmlformats.org/officeDocument/2006/relationships/notesSlide" Target="/ppt/notesSlides/notesSlide5.xml" Id="R4e2d48a1def54c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516f7853e41c5" /><Relationship Type="http://schemas.openxmlformats.org/officeDocument/2006/relationships/notesSlide" Target="/ppt/notesSlides/notesSlide6.xml" Id="R6749c95b42b74c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A96492B1-5D3C-45F6-BBA7-DB5AAE1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6191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把企业的 AI 内容，</a:t>
            </a:r>
          </a:p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从“能生成”变成“能交付”。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46F4624-1B28-401E-81B8-E705160E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647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接入现有模型与团队，把品牌标准、市场判断和被采用的案例，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留在企业自己的生产线上。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79E03-6909-4236-B26A-B1715B7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4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9D039481-609D-4B94-92D0-B387101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5" name="cover-first-customer-panel">
            <a:extLst xmlns:a="http://schemas.openxmlformats.org/drawingml/2006/main">
              <a:ext uri="{FF2B5EF4-FFF2-40B4-BE49-F238E27FC236}">
                <a16:creationId xmlns:a16="http://schemas.microsoft.com/office/drawing/2014/main" id="{FC41BE4E-576D-43E8-B039-30B89734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38862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A8C7FA"/>
            </a:solidFill>
            <a:prstDash val="solid"/>
          </a:ln>
        </p:spPr>
      </p:sp>
      <p:sp>
        <p:nvSpPr>
          <p:cNvPr id="6" name="cover-first-customer-label">
            <a:extLst xmlns:a="http://schemas.openxmlformats.org/drawingml/2006/main">
              <a:ext uri="{FF2B5EF4-FFF2-40B4-BE49-F238E27FC236}">
                <a16:creationId xmlns:a16="http://schemas.microsoft.com/office/drawing/2014/main" id="{AEA8BE6C-EBD2-440D-A72E-D85A1CA9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现在卖什么</a:t>
            </a:r>
          </a:p>
        </p:txBody>
      </p:sp>
      <p:sp>
        <p:nvSpPr>
          <p:cNvPr id="7" name="cover-first-customer">
            <a:extLst xmlns:a="http://schemas.openxmlformats.org/drawingml/2006/main">
              <a:ext uri="{FF2B5EF4-FFF2-40B4-BE49-F238E27FC236}">
                <a16:creationId xmlns:a16="http://schemas.microsoft.com/office/drawing/2014/main" id="{9A8AAAF8-12F1-4828-86B5-EBC4987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企业 AI 内容生产线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连接模型 → 团队 → 品牌与渠道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fe7fb27cd4474"/>
          <a:srcRect xmlns:a="http://schemas.openxmlformats.org/drawingml/2006/main" l="0" t="13377" r="0" b="133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257300"/>
            <a:ext cx="4343400" cy="3181350"/>
          </a:xfrm>
          <a:prstGeom xmlns:a="http://schemas.openxmlformats.org/drawingml/2006/main" prst="roundRect">
            <a:avLst>
              <a:gd name="adj" fmla="val 3593"/>
            </a:avLst>
          </a:prstGeom>
        </p:spPr>
      </p:pic>
    </p:spTree>
    <p:extLst>
      <p:ext uri="{BB962C8B-B14F-4D97-AF65-F5344CB8AC3E}">
        <p14:creationId xmlns:p14="http://schemas.microsoft.com/office/powerpoint/2010/main" val="1952268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2">
            <a:extLst xmlns:a="http://schemas.openxmlformats.org/drawingml/2006/main">
              <a:ext uri="{FF2B5EF4-FFF2-40B4-BE49-F238E27FC236}">
                <a16:creationId xmlns:a16="http://schemas.microsoft.com/office/drawing/2014/main" id="{EDC80EE0-B55F-44C8-AF02-79D90DD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1E781A8-C3FA-47D1-A1D4-DEF8490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已经普及；真正稀缺的是可规模化、可迁移的生产能力。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B8DACBE-3A08-45EC-A5EF-0DA5E55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EBEBF16-E888-4B90-BC16-CF77AB3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AFBE6E2E-E9AF-4B24-A9CA-24371BC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6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5146359D-8834-4971-A1B9-66115F6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7" name="problem-arrow-3">
            <a:extLst xmlns:a="http://schemas.openxmlformats.org/drawingml/2006/main">
              <a:ext uri="{FF2B5EF4-FFF2-40B4-BE49-F238E27FC236}">
                <a16:creationId xmlns:a16="http://schemas.microsoft.com/office/drawing/2014/main" id="{89730037-E7C3-40BD-819A-CB0A014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8" name="problem-arrow-4">
            <a:extLst xmlns:a="http://schemas.openxmlformats.org/drawingml/2006/main">
              <a:ext uri="{FF2B5EF4-FFF2-40B4-BE49-F238E27FC236}">
                <a16:creationId xmlns:a16="http://schemas.microsoft.com/office/drawing/2014/main" id="{1C6AE048-6E8D-4589-9609-9D6FC07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9" name="problem-arrow-5">
            <a:extLst xmlns:a="http://schemas.openxmlformats.org/drawingml/2006/main">
              <a:ext uri="{FF2B5EF4-FFF2-40B4-BE49-F238E27FC236}">
                <a16:creationId xmlns:a16="http://schemas.microsoft.com/office/drawing/2014/main" id="{8BE0BB40-DAFA-415A-ACB5-7AFD7FA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10" name="problem-card-01">
            <a:extLst xmlns:a="http://schemas.openxmlformats.org/drawingml/2006/main">
              <a:ext uri="{FF2B5EF4-FFF2-40B4-BE49-F238E27FC236}">
                <a16:creationId xmlns:a16="http://schemas.microsoft.com/office/drawing/2014/main" id="{E67F7437-9FFF-40C5-8928-9A7D90D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1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D9F4A155-4C77-477C-B147-A96DAB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12695C17-F2D5-4F74-A407-36A884C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88%</a:t>
            </a:r>
          </a:p>
        </p:txBody>
      </p:sp>
      <p:sp>
        <p:nvSpPr>
          <p:cNvPr id="13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AE28D1C3-121D-4354-9C3A-DABB6B6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企业至少一个职能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已使用 AI</a:t>
            </a:r>
          </a:p>
        </p:txBody>
      </p:sp>
      <p:sp>
        <p:nvSpPr>
          <p:cNvPr id="14" name="problem-card-02">
            <a:extLst xmlns:a="http://schemas.openxmlformats.org/drawingml/2006/main">
              <a:ext uri="{FF2B5EF4-FFF2-40B4-BE49-F238E27FC236}">
                <a16:creationId xmlns:a16="http://schemas.microsoft.com/office/drawing/2014/main" id="{D2424645-FC2A-4DF6-AACF-A2F9B0DA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5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795042DC-2E7A-41E9-A3A0-A500397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268FC771-6882-4566-A6BF-1A989BE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79%</a:t>
            </a:r>
          </a:p>
        </p:txBody>
      </p:sp>
      <p:sp>
        <p:nvSpPr>
          <p:cNvPr id="17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F1D1AE0E-4E3C-4939-BF1D-26889C4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企业已常态使用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生成式 AI</a:t>
            </a:r>
          </a:p>
        </p:txBody>
      </p:sp>
      <p:sp>
        <p:nvSpPr>
          <p:cNvPr id="18" name="problem-card-03">
            <a:extLst xmlns:a="http://schemas.openxmlformats.org/drawingml/2006/main">
              <a:ext uri="{FF2B5EF4-FFF2-40B4-BE49-F238E27FC236}">
                <a16:creationId xmlns:a16="http://schemas.microsoft.com/office/drawing/2014/main" id="{D882D7C7-7572-41B6-B4FB-F8B979F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9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25AEB4F8-5C06-4D52-BD68-7F40938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E07CD8DD-1679-4649-9C11-CE7C4E8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近 2/3</a:t>
            </a:r>
          </a:p>
        </p:txBody>
      </p:sp>
      <p:sp>
        <p:nvSpPr>
          <p:cNvPr id="21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2E2EC799-2ED9-45D2-AC0C-93D09AF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仍未在全公司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规模化 AI</a:t>
            </a:r>
          </a:p>
        </p:txBody>
      </p:sp>
      <p:sp>
        <p:nvSpPr>
          <p:cNvPr id="22" name="problem-card-04">
            <a:extLst xmlns:a="http://schemas.openxmlformats.org/drawingml/2006/main">
              <a:ext uri="{FF2B5EF4-FFF2-40B4-BE49-F238E27FC236}">
                <a16:creationId xmlns:a16="http://schemas.microsoft.com/office/drawing/2014/main" id="{2E66F1ED-1966-41DE-9BF7-9CD2DE5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23" name="problem-number-04">
            <a:extLst xmlns:a="http://schemas.openxmlformats.org/drawingml/2006/main">
              <a:ext uri="{FF2B5EF4-FFF2-40B4-BE49-F238E27FC236}">
                <a16:creationId xmlns:a16="http://schemas.microsoft.com/office/drawing/2014/main" id="{03E6F693-C315-4F2E-B0D2-E9556DD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problem-title-04">
            <a:extLst xmlns:a="http://schemas.openxmlformats.org/drawingml/2006/main">
              <a:ext uri="{FF2B5EF4-FFF2-40B4-BE49-F238E27FC236}">
                <a16:creationId xmlns:a16="http://schemas.microsoft.com/office/drawing/2014/main" id="{3240C053-45B0-4125-A034-87B2732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71%</a:t>
            </a:r>
          </a:p>
        </p:txBody>
      </p:sp>
      <p:sp>
        <p:nvSpPr>
          <p:cNvPr id="25" name="problem-body-04">
            <a:extLst xmlns:a="http://schemas.openxmlformats.org/drawingml/2006/main">
              <a:ext uri="{FF2B5EF4-FFF2-40B4-BE49-F238E27FC236}">
                <a16:creationId xmlns:a16="http://schemas.microsoft.com/office/drawing/2014/main" id="{A22E207A-98E0-405E-AFC0-FD8363F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预计内容需求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到 2027 增长 ≥5×</a:t>
            </a:r>
          </a:p>
        </p:txBody>
      </p:sp>
      <p:sp>
        <p:nvSpPr>
          <p:cNvPr id="26" name="problem-card-05">
            <a:extLst xmlns:a="http://schemas.openxmlformats.org/drawingml/2006/main">
              <a:ext uri="{FF2B5EF4-FFF2-40B4-BE49-F238E27FC236}">
                <a16:creationId xmlns:a16="http://schemas.microsoft.com/office/drawing/2014/main" id="{8E1711D1-7814-4671-8A80-3C65EA9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27" name="problem-number-05">
            <a:extLst xmlns:a="http://schemas.openxmlformats.org/drawingml/2006/main">
              <a:ext uri="{FF2B5EF4-FFF2-40B4-BE49-F238E27FC236}">
                <a16:creationId xmlns:a16="http://schemas.microsoft.com/office/drawing/2014/main" id="{236372BC-20C2-408D-9F1B-8DEDBF2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8" name="problem-title-05">
            <a:extLst xmlns:a="http://schemas.openxmlformats.org/drawingml/2006/main">
              <a:ext uri="{FF2B5EF4-FFF2-40B4-BE49-F238E27FC236}">
                <a16:creationId xmlns:a16="http://schemas.microsoft.com/office/drawing/2014/main" id="{53A2CEA4-F3E8-4048-BC49-2EF54886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58%</a:t>
            </a:r>
          </a:p>
        </p:txBody>
      </p:sp>
      <p:sp>
        <p:nvSpPr>
          <p:cNvPr id="29" name="problem-body-05">
            <a:extLst xmlns:a="http://schemas.openxmlformats.org/drawingml/2006/main">
              <a:ext uri="{FF2B5EF4-FFF2-40B4-BE49-F238E27FC236}">
                <a16:creationId xmlns:a16="http://schemas.microsoft.com/office/drawing/2014/main" id="{B856A33B-0EB3-4D56-B446-BF2CE3A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超过 40% 时间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耗在评审审批</a:t>
            </a:r>
          </a:p>
        </p:txBody>
      </p:sp>
      <p:sp>
        <p:nvSpPr>
          <p:cNvPr id="30" name="problem-card-06">
            <a:extLst xmlns:a="http://schemas.openxmlformats.org/drawingml/2006/main">
              <a:ext uri="{FF2B5EF4-FFF2-40B4-BE49-F238E27FC236}">
                <a16:creationId xmlns:a16="http://schemas.microsoft.com/office/drawing/2014/main" id="{8DB2FEA2-AA46-4C77-9328-02D2AD7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31" name="problem-number-06">
            <a:extLst xmlns:a="http://schemas.openxmlformats.org/drawingml/2006/main">
              <a:ext uri="{FF2B5EF4-FFF2-40B4-BE49-F238E27FC236}">
                <a16:creationId xmlns:a16="http://schemas.microsoft.com/office/drawing/2014/main" id="{8A03D233-81E7-4CEB-BD8C-C8D3C22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2" name="problem-title-06">
            <a:extLst xmlns:a="http://schemas.openxmlformats.org/drawingml/2006/main">
              <a:ext uri="{FF2B5EF4-FFF2-40B4-BE49-F238E27FC236}">
                <a16:creationId xmlns:a16="http://schemas.microsoft.com/office/drawing/2014/main" id="{FE26F51C-E6C0-4FDA-89D6-6285C58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61%</a:t>
            </a:r>
          </a:p>
        </p:txBody>
      </p:sp>
      <p:sp>
        <p:nvSpPr>
          <p:cNvPr id="33" name="problem-body-06">
            <a:extLst xmlns:a="http://schemas.openxmlformats.org/drawingml/2006/main">
              <a:ext uri="{FF2B5EF4-FFF2-40B4-BE49-F238E27FC236}">
                <a16:creationId xmlns:a16="http://schemas.microsoft.com/office/drawing/2014/main" id="{9187A1C8-78CF-4A3D-8474-B425A09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难把 AI 接进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现有工作流</a:t>
            </a:r>
          </a:p>
        </p:txBody>
      </p:sp>
      <p:sp>
        <p:nvSpPr>
          <p:cNvPr id="34" name="model-upgrade-reset">
            <a:extLst xmlns:a="http://schemas.openxmlformats.org/drawingml/2006/main">
              <a:ext uri="{FF2B5EF4-FFF2-40B4-BE49-F238E27FC236}">
                <a16:creationId xmlns:a16="http://schemas.microsoft.com/office/drawing/2014/main" id="{E32D7375-E423-4E83-8F5D-54D10D6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solidFill>
              <a:srgbClr val="0B5FFF"/>
            </a:solidFill>
            <a:prstDash val="solid"/>
          </a:ln>
        </p:spPr>
      </p:sp>
      <p:sp>
        <p:nvSpPr>
          <p:cNvPr id="35" name="model-upgrade-reset-text">
            <a:extLst xmlns:a="http://schemas.openxmlformats.org/drawingml/2006/main">
              <a:ext uri="{FF2B5EF4-FFF2-40B4-BE49-F238E27FC236}">
                <a16:creationId xmlns:a16="http://schemas.microsoft.com/office/drawing/2014/main" id="{E0BD219B-40D0-4B10-A5A6-18932554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需求不是再买一个模型，而是让内容生产更快、更稳、换模型也不重建。</a:t>
            </a:r>
          </a:p>
        </p:txBody>
      </p:sp>
      <p:sp>
        <p:nvSpPr>
          <p:cNvPr id="36" name="business-cost-label">
            <a:extLst xmlns:a="http://schemas.openxmlformats.org/drawingml/2006/main">
              <a:ext uri="{FF2B5EF4-FFF2-40B4-BE49-F238E27FC236}">
                <a16:creationId xmlns:a16="http://schemas.microsoft.com/office/drawing/2014/main" id="{681C0783-DF09-40E4-B5B2-DC129A7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最先付费的人</a:t>
            </a:r>
          </a:p>
        </p:txBody>
      </p:sp>
      <p:sp>
        <p:nvSpPr>
          <p:cNvPr id="37" name="business-costs">
            <a:extLst xmlns:a="http://schemas.openxmlformats.org/drawingml/2006/main">
              <a:ext uri="{FF2B5EF4-FFF2-40B4-BE49-F238E27FC236}">
                <a16:creationId xmlns:a16="http://schemas.microsoft.com/office/drawing/2014/main" id="{4042654F-7973-4F6F-89C9-DC8CF93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1150"/>
            <a:ext cx="948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多品牌创意 / 本地化 / 跨境营销服务商</a:t>
            </a:r>
          </a:p>
        </p:txBody>
      </p:sp>
      <p:sp>
        <p:nvSpPr>
          <p:cNvPr id="38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977E12C0-3361-4DE1-B7A5-D07B649E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他们同时服务多个品牌、市场和模型，返工与迁移成本最集中。</a:t>
            </a:r>
          </a:p>
        </p:txBody>
      </p:sp>
    </p:spTree>
    <p:extLst>
      <p:ext uri="{BB962C8B-B14F-4D97-AF65-F5344CB8AC3E}">
        <p14:creationId xmlns:p14="http://schemas.microsoft.com/office/powerpoint/2010/main" val="1348703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2">
            <a:extLst xmlns:a="http://schemas.openxmlformats.org/drawingml/2006/main">
              <a:ext uri="{FF2B5EF4-FFF2-40B4-BE49-F238E27FC236}">
                <a16:creationId xmlns:a16="http://schemas.microsoft.com/office/drawing/2014/main" id="{EDC80EE0-B55F-44C8-AF02-79D90DD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1E781A8-C3FA-47D1-A1D4-DEF8490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假设客户：跨境消费品牌，1 套新品主视觉要交付 4 个市场 × 5 个渠道。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B8DACBE-3A08-45EC-A5EF-0DA5E55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EBEBF16-E888-4B90-BC16-CF77AB3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AFBE6E2E-E9AF-4B24-A9CA-24371BC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6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5146359D-8834-4971-A1B9-66115F6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7" name="problem-arrow-3">
            <a:extLst xmlns:a="http://schemas.openxmlformats.org/drawingml/2006/main">
              <a:ext uri="{FF2B5EF4-FFF2-40B4-BE49-F238E27FC236}">
                <a16:creationId xmlns:a16="http://schemas.microsoft.com/office/drawing/2014/main" id="{89730037-E7C3-40BD-819A-CB0A014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8" name="problem-arrow-4">
            <a:extLst xmlns:a="http://schemas.openxmlformats.org/drawingml/2006/main">
              <a:ext uri="{FF2B5EF4-FFF2-40B4-BE49-F238E27FC236}">
                <a16:creationId xmlns:a16="http://schemas.microsoft.com/office/drawing/2014/main" id="{1C6AE048-6E8D-4589-9609-9D6FC07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9" name="problem-arrow-5">
            <a:extLst xmlns:a="http://schemas.openxmlformats.org/drawingml/2006/main">
              <a:ext uri="{FF2B5EF4-FFF2-40B4-BE49-F238E27FC236}">
                <a16:creationId xmlns:a16="http://schemas.microsoft.com/office/drawing/2014/main" id="{8BE0BB40-DAFA-415A-ACB5-7AFD7FA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10" name="problem-card-01">
            <a:extLst xmlns:a="http://schemas.openxmlformats.org/drawingml/2006/main">
              <a:ext uri="{FF2B5EF4-FFF2-40B4-BE49-F238E27FC236}">
                <a16:creationId xmlns:a16="http://schemas.microsoft.com/office/drawing/2014/main" id="{E67F7437-9FFF-40C5-8928-9A7D90D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1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D9F4A155-4C77-477C-B147-A96DAB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12695C17-F2D5-4F74-A407-36A884C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接入</a:t>
            </a:r>
          </a:p>
        </p:txBody>
      </p:sp>
      <p:sp>
        <p:nvSpPr>
          <p:cNvPr id="13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AE28D1C3-121D-4354-9C3A-DABB6B6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品牌资产 / Brief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现有模型与工具</a:t>
            </a:r>
          </a:p>
        </p:txBody>
      </p:sp>
      <p:sp>
        <p:nvSpPr>
          <p:cNvPr id="14" name="problem-card-02">
            <a:extLst xmlns:a="http://schemas.openxmlformats.org/drawingml/2006/main">
              <a:ext uri="{FF2B5EF4-FFF2-40B4-BE49-F238E27FC236}">
                <a16:creationId xmlns:a16="http://schemas.microsoft.com/office/drawing/2014/main" id="{D2424645-FC2A-4DF6-AACF-A2F9B0DA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5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795042DC-2E7A-41E9-A3A0-A500397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268FC771-6882-4566-A6BF-1A989BE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</a:t>
            </a:r>
          </a:p>
        </p:txBody>
      </p:sp>
      <p:sp>
        <p:nvSpPr>
          <p:cNvPr id="17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F1D1AE0E-4E3C-4939-BF1D-26889C4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按市场、语言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渠道批量出稿</a:t>
            </a:r>
          </a:p>
        </p:txBody>
      </p:sp>
      <p:sp>
        <p:nvSpPr>
          <p:cNvPr id="18" name="problem-card-03">
            <a:extLst xmlns:a="http://schemas.openxmlformats.org/drawingml/2006/main">
              <a:ext uri="{FF2B5EF4-FFF2-40B4-BE49-F238E27FC236}">
                <a16:creationId xmlns:a16="http://schemas.microsoft.com/office/drawing/2014/main" id="{D882D7C7-7572-41B6-B4FB-F8B979F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9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25AEB4F8-5C06-4D52-BD68-7F40938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E07CD8DD-1679-4649-9C11-CE7C4E8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21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2E2EC799-2ED9-45D2-AC0C-93D09AF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品牌 / 文化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渠道规则过筛</a:t>
            </a:r>
          </a:p>
        </p:txBody>
      </p:sp>
      <p:sp>
        <p:nvSpPr>
          <p:cNvPr id="22" name="problem-card-04">
            <a:extLst xmlns:a="http://schemas.openxmlformats.org/drawingml/2006/main">
              <a:ext uri="{FF2B5EF4-FFF2-40B4-BE49-F238E27FC236}">
                <a16:creationId xmlns:a16="http://schemas.microsoft.com/office/drawing/2014/main" id="{2E66F1ED-1966-41DE-9BF7-9CD2DE5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23" name="problem-number-04">
            <a:extLst xmlns:a="http://schemas.openxmlformats.org/drawingml/2006/main">
              <a:ext uri="{FF2B5EF4-FFF2-40B4-BE49-F238E27FC236}">
                <a16:creationId xmlns:a16="http://schemas.microsoft.com/office/drawing/2014/main" id="{03E6F693-C315-4F2E-B0D2-E9556DD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problem-title-04">
            <a:extLst xmlns:a="http://schemas.openxmlformats.org/drawingml/2006/main">
              <a:ext uri="{FF2B5EF4-FFF2-40B4-BE49-F238E27FC236}">
                <a16:creationId xmlns:a16="http://schemas.microsoft.com/office/drawing/2014/main" id="{3240C053-45B0-4125-A034-87B2732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协作</a:t>
            </a:r>
          </a:p>
        </p:txBody>
      </p:sp>
      <p:sp>
        <p:nvSpPr>
          <p:cNvPr id="25" name="problem-body-04">
            <a:extLst xmlns:a="http://schemas.openxmlformats.org/drawingml/2006/main">
              <a:ext uri="{FF2B5EF4-FFF2-40B4-BE49-F238E27FC236}">
                <a16:creationId xmlns:a16="http://schemas.microsoft.com/office/drawing/2014/main" id="{A22E207A-98E0-405E-AFC0-FD8363F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当地团队修改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审批或退回</a:t>
            </a:r>
          </a:p>
        </p:txBody>
      </p:sp>
      <p:sp>
        <p:nvSpPr>
          <p:cNvPr id="26" name="problem-card-05">
            <a:extLst xmlns:a="http://schemas.openxmlformats.org/drawingml/2006/main">
              <a:ext uri="{FF2B5EF4-FFF2-40B4-BE49-F238E27FC236}">
                <a16:creationId xmlns:a16="http://schemas.microsoft.com/office/drawing/2014/main" id="{8E1711D1-7814-4671-8A80-3C65EA9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27" name="problem-number-05">
            <a:extLst xmlns:a="http://schemas.openxmlformats.org/drawingml/2006/main">
              <a:ext uri="{FF2B5EF4-FFF2-40B4-BE49-F238E27FC236}">
                <a16:creationId xmlns:a16="http://schemas.microsoft.com/office/drawing/2014/main" id="{236372BC-20C2-408D-9F1B-8DEDBF2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8" name="problem-title-05">
            <a:extLst xmlns:a="http://schemas.openxmlformats.org/drawingml/2006/main">
              <a:ext uri="{FF2B5EF4-FFF2-40B4-BE49-F238E27FC236}">
                <a16:creationId xmlns:a16="http://schemas.microsoft.com/office/drawing/2014/main" id="{53A2CEA4-F3E8-4048-BC49-2EF54886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沉淀</a:t>
            </a:r>
          </a:p>
        </p:txBody>
      </p:sp>
      <p:sp>
        <p:nvSpPr>
          <p:cNvPr id="29" name="problem-body-05">
            <a:extLst xmlns:a="http://schemas.openxmlformats.org/drawingml/2006/main">
              <a:ext uri="{FF2B5EF4-FFF2-40B4-BE49-F238E27FC236}">
                <a16:creationId xmlns:a16="http://schemas.microsoft.com/office/drawing/2014/main" id="{B856A33B-0EB3-4D56-B446-BF2CE3A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采纳版本 / 原因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时间与成本</a:t>
            </a:r>
          </a:p>
        </p:txBody>
      </p:sp>
      <p:sp>
        <p:nvSpPr>
          <p:cNvPr id="30" name="problem-card-06">
            <a:extLst xmlns:a="http://schemas.openxmlformats.org/drawingml/2006/main">
              <a:ext uri="{FF2B5EF4-FFF2-40B4-BE49-F238E27FC236}">
                <a16:creationId xmlns:a16="http://schemas.microsoft.com/office/drawing/2014/main" id="{8DB2FEA2-AA46-4C77-9328-02D2AD7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31" name="problem-number-06">
            <a:extLst xmlns:a="http://schemas.openxmlformats.org/drawingml/2006/main">
              <a:ext uri="{FF2B5EF4-FFF2-40B4-BE49-F238E27FC236}">
                <a16:creationId xmlns:a16="http://schemas.microsoft.com/office/drawing/2014/main" id="{8A03D233-81E7-4CEB-BD8C-C8D3C22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2" name="problem-title-06">
            <a:extLst xmlns:a="http://schemas.openxmlformats.org/drawingml/2006/main">
              <a:ext uri="{FF2B5EF4-FFF2-40B4-BE49-F238E27FC236}">
                <a16:creationId xmlns:a16="http://schemas.microsoft.com/office/drawing/2014/main" id="{FE26F51C-E6C0-4FDA-89D6-6285C58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迁移</a:t>
            </a:r>
          </a:p>
        </p:txBody>
      </p:sp>
      <p:sp>
        <p:nvSpPr>
          <p:cNvPr id="33" name="problem-body-06">
            <a:extLst xmlns:a="http://schemas.openxmlformats.org/drawingml/2006/main">
              <a:ext uri="{FF2B5EF4-FFF2-40B4-BE49-F238E27FC236}">
                <a16:creationId xmlns:a16="http://schemas.microsoft.com/office/drawing/2014/main" id="{9187A1C8-78CF-4A3D-8474-B425A09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换新模型复跑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复用已有资产</a:t>
            </a:r>
          </a:p>
        </p:txBody>
      </p:sp>
      <p:sp>
        <p:nvSpPr>
          <p:cNvPr id="34" name="model-upgrade-reset">
            <a:extLst xmlns:a="http://schemas.openxmlformats.org/drawingml/2006/main">
              <a:ext uri="{FF2B5EF4-FFF2-40B4-BE49-F238E27FC236}">
                <a16:creationId xmlns:a16="http://schemas.microsoft.com/office/drawing/2014/main" id="{E32D7375-E423-4E83-8F5D-54D10D6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solidFill>
              <a:srgbClr val="0B5FFF"/>
            </a:solidFill>
            <a:prstDash val="solid"/>
          </a:ln>
        </p:spPr>
      </p:sp>
      <p:sp>
        <p:nvSpPr>
          <p:cNvPr id="35" name="model-upgrade-reset-text">
            <a:extLst xmlns:a="http://schemas.openxmlformats.org/drawingml/2006/main">
              <a:ext uri="{FF2B5EF4-FFF2-40B4-BE49-F238E27FC236}">
                <a16:creationId xmlns:a16="http://schemas.microsoft.com/office/drawing/2014/main" id="{E0BD219B-40D0-4B10-A5A6-18932554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企业负责标准与最终采用；VULCA 负责连接、运行、记录与迁移。</a:t>
            </a:r>
          </a:p>
        </p:txBody>
      </p:sp>
      <p:sp>
        <p:nvSpPr>
          <p:cNvPr id="36" name="business-cost-label">
            <a:extLst xmlns:a="http://schemas.openxmlformats.org/drawingml/2006/main">
              <a:ext uri="{FF2B5EF4-FFF2-40B4-BE49-F238E27FC236}">
                <a16:creationId xmlns:a16="http://schemas.microsoft.com/office/drawing/2014/main" id="{681C0783-DF09-40E4-B5B2-DC129A7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90 天交付</a:t>
            </a:r>
          </a:p>
        </p:txBody>
      </p:sp>
      <p:sp>
        <p:nvSpPr>
          <p:cNvPr id="37" name="business-costs">
            <a:extLst xmlns:a="http://schemas.openxmlformats.org/drawingml/2006/main">
              <a:ext uri="{FF2B5EF4-FFF2-40B4-BE49-F238E27FC236}">
                <a16:creationId xmlns:a16="http://schemas.microsoft.com/office/drawing/2014/main" id="{4042654F-7973-4F6F-89C9-DC8CF93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1150"/>
            <a:ext cx="948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 条可运行流程 + 1 个可复用能力包 + 1 组前后基线</a:t>
            </a:r>
          </a:p>
        </p:txBody>
      </p:sp>
      <p:sp>
        <p:nvSpPr>
          <p:cNvPr id="38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977E12C0-3361-4DE1-B7A5-D07B649E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衡量：首个获批时间 / 修改轮次 / 单个获批素材成本 / 换模人时。</a:t>
            </a:r>
          </a:p>
        </p:txBody>
      </p:sp>
    </p:spTree>
    <p:extLst>
      <p:ext uri="{BB962C8B-B14F-4D97-AF65-F5344CB8AC3E}">
        <p14:creationId xmlns:p14="http://schemas.microsoft.com/office/powerpoint/2010/main" val="1348703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709312-9020-47ED-B726-37D4F92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A91B2-D6DB-4354-B7EF-903E0B8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客户看到的不是“技术栈”，而是一条可操作、可追踪的内容生产线。</a:t>
            </a:r>
          </a:p>
        </p:txBody>
      </p:sp>
      <p:cxnSp>
        <p:nvCxnSpPr>
          <p:cNvPr id="46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6A9C7A8-7AA4-415D-BDA7-3319BB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0738D4-9742-48D8-8B61-34383E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72FC68-6991-4E89-A778-7940909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D891C5E-8A04-42EA-95CC-59F280B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BF377E1-1A55-4076-B3A9-5731F1E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704797-7BA6-450D-9C97-0B0796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DB5FB3A-F94E-41EB-9C5A-33F2DD3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02  问题可定位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3F60C6-7D7F-4A5C-BCBB-D3137B1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01  需求可编辑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C9C4B23-9F2C-44E9-AF7F-4EEF5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03  结果可复用</a:t>
            </a:r>
          </a:p>
        </p:txBody>
      </p:sp>
      <p:sp>
        <p:nvSpPr>
          <p:cNvPr id="16" name="scale-accent-1">
            <a:extLst xmlns:a="http://schemas.openxmlformats.org/drawingml/2006/main">
              <a:ext uri="{FF2B5EF4-FFF2-40B4-BE49-F238E27FC236}">
                <a16:creationId xmlns:a16="http://schemas.microsoft.com/office/drawing/2014/main" id="{B7A05BD8-4874-47B7-8CE2-DF368B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7" name="scale-accent-2">
            <a:extLst xmlns:a="http://schemas.openxmlformats.org/drawingml/2006/main">
              <a:ext uri="{FF2B5EF4-FFF2-40B4-BE49-F238E27FC236}">
                <a16:creationId xmlns:a16="http://schemas.microsoft.com/office/drawing/2014/main" id="{B185E3E9-101B-4D2E-9C2F-55E42C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8" name="scale-accent-3">
            <a:extLst xmlns:a="http://schemas.openxmlformats.org/drawingml/2006/main">
              <a:ext uri="{FF2B5EF4-FFF2-40B4-BE49-F238E27FC236}">
                <a16:creationId xmlns:a16="http://schemas.microsoft.com/office/drawing/2014/main" id="{7C5BA57F-D4D8-4AEC-8965-FEC8D8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8b442d5ad45c8"/>
          <a:srcRect xmlns:a="http://schemas.openxmlformats.org/drawingml/2006/main" l="22" t="0" r="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33550"/>
            <a:ext cx="3009900" cy="2724150"/>
          </a:xfrm>
          <a:prstGeom xmlns:a="http://schemas.openxmlformats.org/drawingml/2006/main" prst="roundRect">
            <a:avLst>
              <a:gd name="adj" fmla="val 2797"/>
            </a:avLst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c299f981d468b"/>
          <a:srcRect xmlns:a="http://schemas.openxmlformats.org/drawingml/2006/main" l="22" t="0" r="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81525" y="1733550"/>
            <a:ext cx="3009900" cy="2724150"/>
          </a:xfrm>
          <a:prstGeom xmlns:a="http://schemas.openxmlformats.org/drawingml/2006/main" prst="roundRect">
            <a:avLst>
              <a:gd name="adj" fmla="val 2797"/>
            </a:avLst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7352e3458499b"/>
          <a:srcRect xmlns:a="http://schemas.openxmlformats.org/drawingml/2006/main" l="22" t="0" r="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15350" y="1733550"/>
            <a:ext cx="3009900" cy="2724150"/>
          </a:xfrm>
          <a:prstGeom xmlns:a="http://schemas.openxmlformats.org/drawingml/2006/main" prst="roundRect">
            <a:avLst>
              <a:gd name="adj" fmla="val 2797"/>
            </a:avLst>
          </a:prstGeom>
        </p:spPr>
      </p:pic>
      <p:sp>
        <p:nvSpPr>
          <p:cNvPr id="43" name="evidence-status-sl-uz6hie">
            <a:extLst xmlns:a="http://schemas.openxmlformats.org/drawingml/2006/main">
              <a:ext uri="{FF2B5EF4-FFF2-40B4-BE49-F238E27FC236}">
                <a16:creationId xmlns:a16="http://schemas.microsoft.com/office/drawing/2014/main" id="{AA9F230E-67C1-41A3-B667-9867713D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9810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当前 VULCA Studio 本地构建 · 版本化演示流程 · 非企业客户结果</a:t>
            </a:r>
          </a:p>
        </p:txBody>
      </p:sp>
    </p:spTree>
    <p:extLst>
      <p:ext uri="{BB962C8B-B14F-4D97-AF65-F5344CB8AC3E}">
        <p14:creationId xmlns:p14="http://schemas.microsoft.com/office/powerpoint/2010/main" val="157643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709312-9020-47ED-B726-37D4F92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A91B2-D6DB-4354-B7EF-903E0B8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真实展示样本：不只是重跑，而是让判断与修改有路径。</a:t>
            </a:r>
          </a:p>
        </p:txBody>
      </p:sp>
      <p:cxnSp>
        <p:nvCxnSpPr>
          <p:cNvPr id="46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6A9C7A8-7AA4-415D-BDA7-3319BB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0738D4-9742-48D8-8B61-34383E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72FC68-6991-4E89-A778-7940909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D891C5E-8A04-42EA-95CC-59F280B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BF377E1-1A55-4076-B3A9-5731F1E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704797-7BA6-450D-9C97-0B0796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DB5FB3A-F94E-41EB-9C5A-33F2DD3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1 张图 → 可编辑层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3F60C6-7D7F-4A5C-BCBB-D3137B1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同一模型，控制不同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C9C4B23-9F2C-44E9-AF7F-4EEF5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指定元素，定向修改</a:t>
            </a:r>
          </a:p>
        </p:txBody>
      </p:sp>
      <p:sp>
        <p:nvSpPr>
          <p:cNvPr id="16" name="scale-accent-1">
            <a:extLst xmlns:a="http://schemas.openxmlformats.org/drawingml/2006/main">
              <a:ext uri="{FF2B5EF4-FFF2-40B4-BE49-F238E27FC236}">
                <a16:creationId xmlns:a16="http://schemas.microsoft.com/office/drawing/2014/main" id="{B7A05BD8-4874-47B7-8CE2-DF368B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7" name="scale-accent-2">
            <a:extLst xmlns:a="http://schemas.openxmlformats.org/drawingml/2006/main">
              <a:ext uri="{FF2B5EF4-FFF2-40B4-BE49-F238E27FC236}">
                <a16:creationId xmlns:a16="http://schemas.microsoft.com/office/drawing/2014/main" id="{B185E3E9-101B-4D2E-9C2F-55E42C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8" name="scale-accent-3">
            <a:extLst xmlns:a="http://schemas.openxmlformats.org/drawingml/2006/main">
              <a:ext uri="{FF2B5EF4-FFF2-40B4-BE49-F238E27FC236}">
                <a16:creationId xmlns:a16="http://schemas.microsoft.com/office/drawing/2014/main" id="{7C5BA57F-D4D8-4AEC-8965-FEC8D8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80d1b526e4fa1"/>
          <a:srcRect xmlns:a="http://schemas.openxmlformats.org/drawingml/2006/main" l="0" t="4747" r="0" b="47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33550"/>
            <a:ext cx="3009900" cy="2724150"/>
          </a:xfrm>
          <a:prstGeom xmlns:a="http://schemas.openxmlformats.org/drawingml/2006/main" prst="roundRect">
            <a:avLst>
              <a:gd name="adj" fmla="val 2797"/>
            </a:avLst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4ee3bcc9b4555"/>
          <a:srcRect xmlns:a="http://schemas.openxmlformats.org/drawingml/2006/main" l="0" t="4747" r="0" b="47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81525" y="1733550"/>
            <a:ext cx="3009900" cy="2724150"/>
          </a:xfrm>
          <a:prstGeom xmlns:a="http://schemas.openxmlformats.org/drawingml/2006/main" prst="roundRect">
            <a:avLst>
              <a:gd name="adj" fmla="val 2797"/>
            </a:avLst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d27a1f49d41c1"/>
          <a:srcRect xmlns:a="http://schemas.openxmlformats.org/drawingml/2006/main" l="0" t="4747" r="0" b="47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15350" y="1733550"/>
            <a:ext cx="3009900" cy="2724150"/>
          </a:xfrm>
          <a:prstGeom xmlns:a="http://schemas.openxmlformats.org/drawingml/2006/main" prst="roundRect">
            <a:avLst>
              <a:gd name="adj" fmla="val 2797"/>
            </a:avLst>
          </a:prstGeom>
        </p:spPr>
      </p:pic>
      <p:sp>
        <p:nvSpPr>
          <p:cNvPr id="43" name="evidence-status-sl-9pqj7q">
            <a:extLst xmlns:a="http://schemas.openxmlformats.org/drawingml/2006/main">
              <a:ext uri="{FF2B5EF4-FFF2-40B4-BE49-F238E27FC236}">
                <a16:creationId xmlns:a16="http://schemas.microsoft.com/office/drawing/2014/main" id="{8ABD14DE-126F-4FCC-BCD0-5ED7DBDC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9810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仓库内可追溯展示样本 · 非企业客户业绩 · 不代表严格评测通过</a:t>
            </a:r>
          </a:p>
        </p:txBody>
      </p:sp>
    </p:spTree>
    <p:extLst>
      <p:ext uri="{BB962C8B-B14F-4D97-AF65-F5344CB8AC3E}">
        <p14:creationId xmlns:p14="http://schemas.microsoft.com/office/powerpoint/2010/main" val="157643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5">
            <a:extLst xmlns:a="http://schemas.openxmlformats.org/drawingml/2006/main">
              <a:ext uri="{FF2B5EF4-FFF2-40B4-BE49-F238E27FC236}">
                <a16:creationId xmlns:a16="http://schemas.microsoft.com/office/drawing/2014/main" id="{20259635-4086-44AD-85C8-1F109791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224343B-2A9F-4427-AC41-4CE31097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从一条生产线开始，最终成为企业自己的视觉智能。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A26F662B-C2A2-4F63-BDB4-CA93538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55678973-B753-4DEC-B97E-F5E40BEA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5" name="pilot-scope">
            <a:extLst xmlns:a="http://schemas.openxmlformats.org/drawingml/2006/main">
              <a:ext uri="{FF2B5EF4-FFF2-40B4-BE49-F238E27FC236}">
                <a16:creationId xmlns:a16="http://schemas.microsoft.com/office/drawing/2014/main" id="{3B451D4F-D713-4103-B5DF-B17ECDF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A8C7FA"/>
            </a:solidFill>
            <a:prstDash val="solid"/>
          </a:ln>
        </p:spPr>
      </p:sp>
      <p:sp>
        <p:nvSpPr>
          <p:cNvPr id="6" name="pilot-scope-text">
            <a:extLst xmlns:a="http://schemas.openxmlformats.org/drawingml/2006/main">
              <a:ext uri="{FF2B5EF4-FFF2-40B4-BE49-F238E27FC236}">
                <a16:creationId xmlns:a16="http://schemas.microsoft.com/office/drawing/2014/main" id="{04150355-CDFE-4C7B-81BD-D5CE3F83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现在：跨市场广告素材本地化  →  下一步：电商 / 视频 / 产品视觉  →  未来：企业视觉智能</a:t>
            </a:r>
          </a:p>
        </p:txBody>
      </p:sp>
      <p:sp>
        <p:nvSpPr>
          <p:cNvPr id="7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E298C98A-2ECD-4459-B493-21A56C59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7F6F72D8-810A-40CB-8DA1-78F780C6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当前产品</a:t>
            </a:r>
          </a:p>
        </p:txBody>
      </p:sp>
      <p:sp>
        <p:nvSpPr>
          <p:cNvPr id="9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9CF20165-4EB3-422F-A147-7B56FA52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企业 AI 内容生产线</a:t>
            </a:r>
          </a:p>
        </p:txBody>
      </p:sp>
      <p:sp>
        <p:nvSpPr>
          <p:cNvPr id="10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C2F6D952-ABA9-4A43-930A-30A1F3A8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接入模型、团队与审批</a:t>
            </a:r>
          </a:p>
        </p:txBody>
      </p:sp>
      <p:sp>
        <p:nvSpPr>
          <p:cNvPr id="11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17904D8C-B28E-46BC-A16C-834DF698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C3DF1656-F55F-4BD3-9A3F-84402A56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积累资产</a:t>
            </a:r>
          </a:p>
        </p:txBody>
      </p:sp>
      <p:sp>
        <p:nvSpPr>
          <p:cNvPr id="13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E5992E41-7287-4AEE-800E-C7F2C67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标准 / 案例 / 采用记录</a:t>
            </a:r>
          </a:p>
        </p:txBody>
      </p:sp>
      <p:sp>
        <p:nvSpPr>
          <p:cNvPr id="14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CE99C9A1-57EA-43D3-9A67-EED7A05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每次交付留下能力</a:t>
            </a:r>
          </a:p>
        </p:txBody>
      </p:sp>
      <p:sp>
        <p:nvSpPr>
          <p:cNvPr id="15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9E0DCE02-68B9-4503-B97D-A55401B8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9A0ECF98-57D7-49C8-B9F9-B8FE5D78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跨模迁移</a:t>
            </a:r>
          </a:p>
        </p:txBody>
      </p:sp>
      <p:sp>
        <p:nvSpPr>
          <p:cNvPr id="17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BF6C2944-51C4-40C7-84FE-04510FA7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云端 / 本地 / 开源模型</a:t>
            </a:r>
          </a:p>
        </p:txBody>
      </p:sp>
      <p:sp>
        <p:nvSpPr>
          <p:cNvPr id="18" name="metric-detail-3">
            <a:extLst xmlns:a="http://schemas.openxmlformats.org/drawingml/2006/main">
              <a:ext uri="{FF2B5EF4-FFF2-40B4-BE49-F238E27FC236}">
                <a16:creationId xmlns:a16="http://schemas.microsoft.com/office/drawing/2014/main" id="{55B9EF98-0960-4C52-AADD-00BBFD20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先复用，再决定后训练</a:t>
            </a:r>
          </a:p>
        </p:txBody>
      </p:sp>
      <p:sp>
        <p:nvSpPr>
          <p:cNvPr id="19" name="metric-card-4">
            <a:extLst xmlns:a="http://schemas.openxmlformats.org/drawingml/2006/main">
              <a:ext uri="{FF2B5EF4-FFF2-40B4-BE49-F238E27FC236}">
                <a16:creationId xmlns:a16="http://schemas.microsoft.com/office/drawing/2014/main" id="{0C183853-ED1D-405C-835B-DD8B738F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DD461D3B-2F60-421F-A3F8-6E874216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远期能力</a:t>
            </a:r>
          </a:p>
        </p:txBody>
      </p:sp>
      <p:sp>
        <p:nvSpPr>
          <p:cNvPr id="21" name="metric-name-4">
            <a:extLst xmlns:a="http://schemas.openxmlformats.org/drawingml/2006/main">
              <a:ext uri="{FF2B5EF4-FFF2-40B4-BE49-F238E27FC236}">
                <a16:creationId xmlns:a16="http://schemas.microsoft.com/office/drawing/2014/main" id="{59EA064D-E8B6-4C14-A9DF-668820F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授权持续学习</a:t>
            </a:r>
          </a:p>
        </p:txBody>
      </p:sp>
      <p:sp>
        <p:nvSpPr>
          <p:cNvPr id="22" name="metric-detail-4">
            <a:extLst xmlns:a="http://schemas.openxmlformats.org/drawingml/2006/main">
              <a:ext uri="{FF2B5EF4-FFF2-40B4-BE49-F238E27FC236}">
                <a16:creationId xmlns:a16="http://schemas.microsoft.com/office/drawing/2014/main" id="{C820A929-97A0-44E3-ABBD-CD9D950A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只用获授权且有效信号</a:t>
            </a:r>
          </a:p>
        </p:txBody>
      </p:sp>
      <p:sp>
        <p:nvSpPr>
          <p:cNvPr id="23" name="business-model-panel">
            <a:extLst xmlns:a="http://schemas.openxmlformats.org/drawingml/2006/main">
              <a:ext uri="{FF2B5EF4-FFF2-40B4-BE49-F238E27FC236}">
                <a16:creationId xmlns:a16="http://schemas.microsoft.com/office/drawing/2014/main" id="{620FA37D-9117-44B4-A1CA-323906D4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5334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4" name="business-model-label">
            <a:extLst xmlns:a="http://schemas.openxmlformats.org/drawingml/2006/main">
              <a:ext uri="{FF2B5EF4-FFF2-40B4-BE49-F238E27FC236}">
                <a16:creationId xmlns:a16="http://schemas.microsoft.com/office/drawing/2014/main" id="{699C4FF1-48E2-4AEE-B395-329CAE9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收费路径</a:t>
            </a:r>
          </a:p>
        </p:txBody>
      </p:sp>
      <p:sp>
        <p:nvSpPr>
          <p:cNvPr id="25" name="business-model-title">
            <a:extLst xmlns:a="http://schemas.openxmlformats.org/drawingml/2006/main">
              <a:ext uri="{FF2B5EF4-FFF2-40B4-BE49-F238E27FC236}">
                <a16:creationId xmlns:a16="http://schemas.microsoft.com/office/drawing/2014/main" id="{B5B8646C-0F9D-430D-A670-B0F59095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付费试点 → 上线 → 年度订阅</a:t>
            </a:r>
          </a:p>
        </p:txBody>
      </p:sp>
      <p:sp>
        <p:nvSpPr>
          <p:cNvPr id="26" name="business-model-detail">
            <a:extLst xmlns:a="http://schemas.openxmlformats.org/drawingml/2006/main">
              <a:ext uri="{FF2B5EF4-FFF2-40B4-BE49-F238E27FC236}">
                <a16:creationId xmlns:a16="http://schemas.microsoft.com/office/drawing/2014/main" id="{7AD30BFE-95CD-42F4-9BE1-DE40D68B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私有化 / 后训练按授权与验证增购</a:t>
            </a:r>
          </a:p>
        </p:txBody>
      </p:sp>
      <p:sp>
        <p:nvSpPr>
          <p:cNvPr id="27" name="ask-panel">
            <a:extLst xmlns:a="http://schemas.openxmlformats.org/drawingml/2006/main">
              <a:ext uri="{FF2B5EF4-FFF2-40B4-BE49-F238E27FC236}">
                <a16:creationId xmlns:a16="http://schemas.microsoft.com/office/drawing/2014/main" id="{01DDF50D-DB84-466A-AF62-279CD869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57700"/>
            <a:ext cx="58293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solidFill>
              <a:srgbClr val="0B5FFF"/>
            </a:solidFill>
            <a:prstDash val="solid"/>
          </a:ln>
        </p:spPr>
      </p:sp>
      <p:sp>
        <p:nvSpPr>
          <p:cNvPr id="28" name="ask-label">
            <a:extLst xmlns:a="http://schemas.openxmlformats.org/drawingml/2006/main">
              <a:ext uri="{FF2B5EF4-FFF2-40B4-BE49-F238E27FC236}">
                <a16:creationId xmlns:a16="http://schemas.microsoft.com/office/drawing/2014/main" id="{103BDC2E-A993-4820-8F60-283C9DFC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67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当前优先级</a:t>
            </a:r>
          </a:p>
        </p:txBody>
      </p:sp>
      <p:sp>
        <p:nvSpPr>
          <p:cNvPr id="29" name="ask-title">
            <a:extLst xmlns:a="http://schemas.openxmlformats.org/drawingml/2006/main">
              <a:ext uri="{FF2B5EF4-FFF2-40B4-BE49-F238E27FC236}">
                <a16:creationId xmlns:a16="http://schemas.microsoft.com/office/drawing/2014/main" id="{B29083A1-FA50-495F-9FAB-62C909D5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482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家共创客户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+ 支持 12 个月验证的早期资本</a:t>
            </a:r>
          </a:p>
        </p:txBody>
      </p:sp>
      <p:sp>
        <p:nvSpPr>
          <p:cNvPr id="30" name="current-stage">
            <a:extLst xmlns:a="http://schemas.openxmlformats.org/drawingml/2006/main">
              <a:ext uri="{FF2B5EF4-FFF2-40B4-BE49-F238E27FC236}">
                <a16:creationId xmlns:a16="http://schemas.microsoft.com/office/drawing/2014/main" id="{38C61AA9-9343-424E-B3FC-2BEA661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90 天过门：时间 / 质量 / 成本至少两项改善，且换模不重建整条流程。</a:t>
            </a:r>
          </a:p>
        </p:txBody>
      </p:sp>
    </p:spTree>
    <p:extLst>
      <p:ext uri="{BB962C8B-B14F-4D97-AF65-F5344CB8AC3E}">
        <p14:creationId xmlns:p14="http://schemas.microsoft.com/office/powerpoint/2010/main" val="2071999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2026-08-09T18:43:09.2220000Z</dcterms:created>
  <dcterms:modified xsi:type="dcterms:W3CDTF">2026-08-09T18:43:09.2220000Z</dcterms:modified>
</coreProperties>
</file>
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6deb2e972d4f4c" /><Relationship Type="http://schemas.openxmlformats.org/officeDocument/2006/relationships/extended-properties" Target="/docProps/app.xml" Id="R65b8692fb2074416" /><Relationship Type="http://schemas.openxmlformats.org/officeDocument/2006/relationships/officeDocument" Target="/ppt/presentation.xml" Id="R3ce3eb4efffa4f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5fad3679994b13"/>
  </p:sldMasterIdLst>
  <p:notesMasterIdLst>
    <p:notesMasterId xmlns:r="http://schemas.openxmlformats.org/officeDocument/2006/relationships" r:id="R3d555faf5722474c"/>
  </p:notesMasterIdLst>
  <p:sldIdLst>
    <p:sldId xmlns:r="http://schemas.openxmlformats.org/officeDocument/2006/relationships" id="256" r:id="R7c7aefd6b0e94061"/>
    <p:sldId xmlns:r="http://schemas.openxmlformats.org/officeDocument/2006/relationships" id="257" r:id="Re5cc6650d15e496c"/>
    <p:sldId xmlns:r="http://schemas.openxmlformats.org/officeDocument/2006/relationships" id="258" r:id="Rde55213d0a64464e"/>
    <p:sldId xmlns:r="http://schemas.openxmlformats.org/officeDocument/2006/relationships" id="259" r:id="R06c4b803e81445d4"/>
    <p:sldId xmlns:r="http://schemas.openxmlformats.org/officeDocument/2006/relationships" id="260" r:id="R0df187e946b543f0"/>
    <p:sldId xmlns:r="http://schemas.openxmlformats.org/officeDocument/2006/relationships" id="261" r:id="Re7452f1077074f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e8a89f7bd8436c" /><Relationship Type="http://schemas.openxmlformats.org/officeDocument/2006/relationships/slideMaster" Target="/ppt/slideMasters/slideMaster1.xml" Id="R7b5fad3679994b13" /><Relationship Type="http://schemas.openxmlformats.org/officeDocument/2006/relationships/notesMaster" Target="/ppt/notesMasters/notesMaster1.xml" Id="R3d555faf5722474c" /><Relationship Type="http://schemas.openxmlformats.org/officeDocument/2006/relationships/presProps" Target="/ppt/presProps.xml" Id="R5e65fa89ede74730" /><Relationship Type="http://schemas.openxmlformats.org/officeDocument/2006/relationships/tableStyles" Target="/ppt/tableStyles.xml" Id="R15b4c0f051a3422b" /><Relationship Type="http://schemas.openxmlformats.org/officeDocument/2006/relationships/slide" Target="/ppt/slides/slide1.xml" Id="R7c7aefd6b0e94061" /><Relationship Type="http://schemas.openxmlformats.org/officeDocument/2006/relationships/slide" Target="/ppt/slides/slide2.xml" Id="Re5cc6650d15e496c" /><Relationship Type="http://schemas.openxmlformats.org/officeDocument/2006/relationships/slide" Target="/ppt/slides/slide3.xml" Id="Rde55213d0a64464e" /><Relationship Type="http://schemas.openxmlformats.org/officeDocument/2006/relationships/slide" Target="/ppt/slides/slide4.xml" Id="R06c4b803e81445d4" /><Relationship Type="http://schemas.openxmlformats.org/officeDocument/2006/relationships/slide" Target="/ppt/slides/slide5.xml" Id="R0df187e946b543f0" /><Relationship Type="http://schemas.openxmlformats.org/officeDocument/2006/relationships/slide" Target="/ppt/slides/slide6.xml" Id="Re7452f1077074f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2ae23d627d49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9e438b6e79465c" /><Relationship Type="http://schemas.openxmlformats.org/officeDocument/2006/relationships/notesMaster" Target="/ppt/notesMasters/notesMaster1.xml" Id="R2900b9911adf44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14242e1ab94cf8" /><Relationship Type="http://schemas.openxmlformats.org/officeDocument/2006/relationships/notesMaster" Target="/ppt/notesMasters/notesMaster1.xml" Id="R75d647c57f144d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00fe512adb40ad" /><Relationship Type="http://schemas.openxmlformats.org/officeDocument/2006/relationships/notesMaster" Target="/ppt/notesMasters/notesMaster1.xml" Id="R4c754cdc399042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d7c5b1826240d3" /><Relationship Type="http://schemas.openxmlformats.org/officeDocument/2006/relationships/notesMaster" Target="/ppt/notesMasters/notesMaster1.xml" Id="Rb45f5a5608c944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79aa32dd3d4d9a" /><Relationship Type="http://schemas.openxmlformats.org/officeDocument/2006/relationships/notesMaster" Target="/ppt/notesMasters/notesMaster1.xml" Id="Raa472867567747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231f0e5d0f4303" /><Relationship Type="http://schemas.openxmlformats.org/officeDocument/2006/relationships/notesMaster" Target="/ppt/notesMasters/notesMaster1.xml" Id="R3e48ab9db50c49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这页先讲公司，而不是技术。VULCA 是一家企业视觉智能公司；当前产品是企业 AI 内容生产线，首个切口是跨市场广告素材本地化。这里的“视觉智能”指企业自己保留下来的品牌标准、市场判断和有效案例，而不是拥有某一个基础模型。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/Users/yhryzy/.codex/worktrees/e027/vulca/README.md</a:t>
            </a:r>
          </a:p>
          <a:p xmlns:a="http://schemas.openxmlformats.org/drawingml/2006/main">
            <a:r>
              <a:t>- Internal positioning decision for this BP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这页只呈现首个市场假设，不把六个痛点说成已经测量的市场事实。目标客户是同时服务多个品牌和市场的创意、本地化与跨境营销服务商。试点必须从客户历史数据建立时间、返工、成本和采用基线。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Customer-workflow hypothesis for validation; no external quantitative claim is made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这页回答客户实际买到什么。VULCA 接入客户已有素材、模型与审批链，先在流程层编排、检查和留痕；采用版本、修改原因、审批、时间和成本形成客户可控的能力包。是否把合格信号用于后训练，必须由客户另行授权。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/Users/yhryzy/.codex/worktrees/e027/vulca/README.md</a:t>
            </a:r>
          </a:p>
          <a:p xmlns:a="http://schemas.openxmlformats.org/drawingml/2006/main">
            <a:r>
              <a:t>- /Users/yhryzy/.codex/worktrees/e027/vulca/pyproject.toml</a:t>
            </a:r>
          </a:p>
          <a:p xmlns:a="http://schemas.openxmlformats.org/drawingml/2006/main">
            <a:r>
              <a:t>- /Users/yhryzy/.codex/worktrees/e027/vulca/src/vulca/providers/</a:t>
            </a:r>
          </a:p>
          <a:p xmlns:a="http://schemas.openxmlformats.org/drawingml/2006/main">
            <a:r>
              <a:t>- /Users/yhryzy/.codex/worktrees/e027/vulca/src/vulca/evaluate.py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Adobe、Canva、Typeface 和 Celtra 已公开覆盖生成、品牌控制、审批、编排、多模型或效果反馈中的大量通用能力。因此 VULCA 不应把这些通用功能包装成壁垒，而应验证三条更窄的边界：跨市场采用判断、模型无关的企业能力资产，以及企业授权的学习。竞品链接支持的是公开产品定位，不证明其所有能力已经完全兑现。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https://experienceleague.adobe.com/en/docs/genstudio-for-performance-marketing/user-guide/intro/concepts</a:t>
            </a:r>
          </a:p>
          <a:p xmlns:a="http://schemas.openxmlformats.org/drawingml/2006/main">
            <a:r>
              <a:t>- https://business.adobe.com/products/genstudio/performance-marketing/creation.html</a:t>
            </a:r>
          </a:p>
          <a:p xmlns:a="http://schemas.openxmlformats.org/drawingml/2006/main">
            <a:r>
              <a:t>- https://www.canva.com/learn/canva-pro-vs-canva-enterprise/</a:t>
            </a:r>
          </a:p>
          <a:p xmlns:a="http://schemas.openxmlformats.org/drawingml/2006/main">
            <a:r>
              <a:t>- https://www.typeface.ai/</a:t>
            </a:r>
          </a:p>
          <a:p xmlns:a="http://schemas.openxmlformats.org/drawingml/2006/main">
            <a:r>
              <a:t>- https://www.typeface.ai/blog/typeface-marketing-orchestration-engine</a:t>
            </a:r>
          </a:p>
          <a:p xmlns:a="http://schemas.openxmlformats.org/drawingml/2006/main">
            <a:r>
              <a:t>- https://celtra.com/solution/creative-automation/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VULCA 的研究工作支持视觉与文化评测这一问题视角；当前代码库支持 v0.23.1、多提供方以及本地 ComfyUI 路径，并包含结构化创作、分层编辑和视觉评测能力。这些证据支持“有研究与产品底座”，不支持“企业迁移收益、付费意愿或单位经济已经成立”。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https://aclanthology.org/2025.findings-emnlp.103/</a:t>
            </a:r>
          </a:p>
          <a:p xmlns:a="http://schemas.openxmlformats.org/drawingml/2006/main">
            <a:r>
              <a:t>- https://arxiv.org/abs/2601.07986</a:t>
            </a:r>
          </a:p>
          <a:p xmlns:a="http://schemas.openxmlformats.org/drawingml/2006/main">
            <a:r>
              <a:t>- /Users/yhryzy/.codex/worktrees/e027/vulca/README.md</a:t>
            </a:r>
          </a:p>
          <a:p xmlns:a="http://schemas.openxmlformats.org/drawingml/2006/main">
            <a:r>
              <a:t>- /Users/yhryzy/.codex/worktrees/e027/vulca/pyproject.toml</a:t>
            </a:r>
          </a:p>
          <a:p xmlns:a="http://schemas.openxmlformats.org/drawingml/2006/main">
            <a:r>
              <a:t>- /Users/yhryzy/.codex/worktrees/e027/vulca/src/vulca/cultural/data/traditions/</a:t>
            </a:r>
          </a:p>
          <a:p xmlns:a="http://schemas.openxmlformats.org/drawingml/2006/main">
            <a:r>
              <a:t>- /Users/yhryzy/.codex/worktrees/e027/vulca/src/vulca/providers/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90 天试点不预先承诺降本比例。两家共创客户使用同一高频流程，先建立各自基线，再比较时间、质量、成本和迁移。具体数值阈值应与客户在试点开始时锁定；本页给出继续决策的最低逻辑门槛。收费从付费试点开始，只有在客户实际采用并持续使用后，才进入上线与年度订阅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Pilot design proposed in this BP; metrics and continuation gate are not achieved results.</a:t>
            </a:r>
          </a:p>
          <a:p xmlns:a="http://schemas.openxmlformats.org/drawingml/2006/main">
            <a:r>
              <a:t>- /Users/yhryzy/.codex/worktrees/e027/vulca/README.md</a:t>
            </a:r>
          </a:p>
          <a:p xmlns:a="http://schemas.openxmlformats.org/drawingml/2006/main">
            <a:r>
              <a:t>- /Users/yhryzy/.codex/worktrees/e027/vulca/pyproject.toml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40ede1f0444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9f0cd605474926" /><Relationship Type="http://schemas.openxmlformats.org/officeDocument/2006/relationships/slideLayout" Target="/ppt/slideLayouts/slideLayout1.xml" Id="R7052cfee8e2e4a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52cfee8e2e4a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8f21d7e48436f" /><Relationship Type="http://schemas.openxmlformats.org/officeDocument/2006/relationships/notesSlide" Target="/ppt/notesSlides/notesSlide1.xml" Id="R3abf13650d6c40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e1ffa81844faf" /><Relationship Type="http://schemas.openxmlformats.org/officeDocument/2006/relationships/notesSlide" Target="/ppt/notesSlides/notesSlide2.xml" Id="R3658cbd8e0f744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6e12069084a52" /><Relationship Type="http://schemas.openxmlformats.org/officeDocument/2006/relationships/notesSlide" Target="/ppt/notesSlides/notesSlide3.xml" Id="R021679ca3e0845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98bc19f8a4cab" /><Relationship Type="http://schemas.openxmlformats.org/officeDocument/2006/relationships/notesSlide" Target="/ppt/notesSlides/notesSlide4.xml" Id="R59e8a749ce9e47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8a635683a4713" /><Relationship Type="http://schemas.openxmlformats.org/officeDocument/2006/relationships/notesSlide" Target="/ppt/notesSlides/notesSlide5.xml" Id="Rd3adab86a1b044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1dfdb2f454dd2" /><Relationship Type="http://schemas.openxmlformats.org/officeDocument/2006/relationships/notesSlide" Target="/ppt/notesSlides/notesSlide6.xml" Id="Ra08393948b4942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-1">
            <a:extLst xmlns:a="http://schemas.openxmlformats.org/drawingml/2006/main">
              <a:ext uri="{FF2B5EF4-FFF2-40B4-BE49-F238E27FC236}">
                <a16:creationId xmlns:a16="http://schemas.microsoft.com/office/drawing/2014/main" id="{A96492B1-5D3C-45F6-BBA7-DB5AAE10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让每一家企业，
都拥有自己的视觉智能。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46F4624-1B28-401E-81B8-E705160E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让品牌标准、市场判断和有效案例，
在每次交付后留下来，换模型也不清零。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79E03-6909-4236-B26A-B1715B79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4" name="cover-accent-rule">
            <a:extLst xmlns:a="http://schemas.openxmlformats.org/drawingml/2006/main">
              <a:ext uri="{FF2B5EF4-FFF2-40B4-BE49-F238E27FC236}">
                <a16:creationId xmlns:a16="http://schemas.microsoft.com/office/drawing/2014/main" id="{9D039481-609D-4B94-92D0-B387101A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5" name="cover-first-customer-panel">
            <a:extLst xmlns:a="http://schemas.openxmlformats.org/drawingml/2006/main">
              <a:ext uri="{FF2B5EF4-FFF2-40B4-BE49-F238E27FC236}">
                <a16:creationId xmlns:a16="http://schemas.microsoft.com/office/drawing/2014/main" id="{FC41BE4E-576D-43E8-B039-30B89734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43450"/>
            <a:ext cx="38862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A8C7FA"/>
            </a:solidFill>
            <a:prstDash val="solid"/>
          </a:ln>
        </p:spPr>
      </p:sp>
      <p:sp>
        <p:nvSpPr>
          <p:cNvPr id="6" name="cover-first-customer-label">
            <a:extLst xmlns:a="http://schemas.openxmlformats.org/drawingml/2006/main">
              <a:ext uri="{FF2B5EF4-FFF2-40B4-BE49-F238E27FC236}">
                <a16:creationId xmlns:a16="http://schemas.microsoft.com/office/drawing/2014/main" id="{AEA8BE6C-EBD2-440D-A72E-D85A1CA9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33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当前产品</a:t>
            </a:r>
          </a:p>
        </p:txBody>
      </p:sp>
      <p:sp>
        <p:nvSpPr>
          <p:cNvPr id="7" name="cover-first-customer">
            <a:extLst xmlns:a="http://schemas.openxmlformats.org/drawingml/2006/main">
              <a:ext uri="{FF2B5EF4-FFF2-40B4-BE49-F238E27FC236}">
                <a16:creationId xmlns:a16="http://schemas.microsoft.com/office/drawing/2014/main" id="{9A8AAAF8-12F1-4828-86B5-EBC49873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企业 AI 内容生产线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跨市场广告素材本地化</a:t>
            </a:r>
          </a:p>
        </p:txBody>
      </p:sp>
    </p:spTree>
    <p:extLst>
      <p:ext uri="{BB962C8B-B14F-4D97-AF65-F5344CB8AC3E}">
        <p14:creationId xmlns:p14="http://schemas.microsoft.com/office/powerpoint/2010/main" val="1952268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-2">
            <a:extLst xmlns:a="http://schemas.openxmlformats.org/drawingml/2006/main">
              <a:ext uri="{FF2B5EF4-FFF2-40B4-BE49-F238E27FC236}">
                <a16:creationId xmlns:a16="http://schemas.microsoft.com/office/drawing/2014/main" id="{EDC80EE0-B55F-44C8-AF02-79D90DDF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1E781A8-C3FA-47D1-A1D4-DEF8490B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41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首个市场切口：多市场素材要交付得快，</a:t>
            </a:r>
          </a:p>
          <a:p xmlns:a="http://schemas.openxmlformats.org/drawingml/2006/main">
            <a:pPr algn="l">
              <a:buNone/>
              <a:def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还必须真正被品牌和当地团队采用。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0B8DACBE-3A08-45EC-A5EF-0DA5E55B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EBEBF16-E888-4B90-BC16-CF77AB36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" name="problem-arrow-1">
            <a:extLst xmlns:a="http://schemas.openxmlformats.org/drawingml/2006/main">
              <a:ext uri="{FF2B5EF4-FFF2-40B4-BE49-F238E27FC236}">
                <a16:creationId xmlns:a16="http://schemas.microsoft.com/office/drawing/2014/main" id="{AFBE6E2E-E9AF-4B24-A9CA-24371BC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6" name="problem-arrow-2">
            <a:extLst xmlns:a="http://schemas.openxmlformats.org/drawingml/2006/main">
              <a:ext uri="{FF2B5EF4-FFF2-40B4-BE49-F238E27FC236}">
                <a16:creationId xmlns:a16="http://schemas.microsoft.com/office/drawing/2014/main" id="{5146359D-8834-4971-A1B9-66115F6A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7" name="problem-arrow-3">
            <a:extLst xmlns:a="http://schemas.openxmlformats.org/drawingml/2006/main">
              <a:ext uri="{FF2B5EF4-FFF2-40B4-BE49-F238E27FC236}">
                <a16:creationId xmlns:a16="http://schemas.microsoft.com/office/drawing/2014/main" id="{89730037-E7C3-40BD-819A-CB0A0149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8" name="problem-arrow-4">
            <a:extLst xmlns:a="http://schemas.openxmlformats.org/drawingml/2006/main">
              <a:ext uri="{FF2B5EF4-FFF2-40B4-BE49-F238E27FC236}">
                <a16:creationId xmlns:a16="http://schemas.microsoft.com/office/drawing/2014/main" id="{1C6AE048-6E8D-4589-9609-9D6FC071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9" name="problem-arrow-5">
            <a:extLst xmlns:a="http://schemas.openxmlformats.org/drawingml/2006/main">
              <a:ext uri="{FF2B5EF4-FFF2-40B4-BE49-F238E27FC236}">
                <a16:creationId xmlns:a16="http://schemas.microsoft.com/office/drawing/2014/main" id="{8BE0BB40-DAFA-415A-ACB5-7AFD7FA0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10" name="problem-card-01">
            <a:extLst xmlns:a="http://schemas.openxmlformats.org/drawingml/2006/main">
              <a:ext uri="{FF2B5EF4-FFF2-40B4-BE49-F238E27FC236}">
                <a16:creationId xmlns:a16="http://schemas.microsoft.com/office/drawing/2014/main" id="{E67F7437-9FFF-40C5-8928-9A7D90D7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11" name="problem-number-01">
            <a:extLst xmlns:a="http://schemas.openxmlformats.org/drawingml/2006/main">
              <a:ext uri="{FF2B5EF4-FFF2-40B4-BE49-F238E27FC236}">
                <a16:creationId xmlns:a16="http://schemas.microsoft.com/office/drawing/2014/main" id="{D9F4A155-4C77-477C-B147-A96DABE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problem-title-01">
            <a:extLst xmlns:a="http://schemas.openxmlformats.org/drawingml/2006/main">
              <a:ext uri="{FF2B5EF4-FFF2-40B4-BE49-F238E27FC236}">
                <a16:creationId xmlns:a16="http://schemas.microsoft.com/office/drawing/2014/main" id="{12695C17-F2D5-4F74-A407-36A884C9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需求散落</a:t>
            </a:r>
          </a:p>
        </p:txBody>
      </p:sp>
      <p:sp>
        <p:nvSpPr>
          <p:cNvPr id="13" name="problem-body-01">
            <a:extLst xmlns:a="http://schemas.openxmlformats.org/drawingml/2006/main">
              <a:ext uri="{FF2B5EF4-FFF2-40B4-BE49-F238E27FC236}">
                <a16:creationId xmlns:a16="http://schemas.microsoft.com/office/drawing/2014/main" id="{AE28D1C3-121D-4354-9C3A-DABB6B6F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Brief 与素材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市场规则分散</a:t>
            </a:r>
          </a:p>
        </p:txBody>
      </p:sp>
      <p:sp>
        <p:nvSpPr>
          <p:cNvPr id="14" name="problem-card-02">
            <a:extLst xmlns:a="http://schemas.openxmlformats.org/drawingml/2006/main">
              <a:ext uri="{FF2B5EF4-FFF2-40B4-BE49-F238E27FC236}">
                <a16:creationId xmlns:a16="http://schemas.microsoft.com/office/drawing/2014/main" id="{D2424645-FC2A-4DF6-AACF-A2F9B0DA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15" name="problem-number-02">
            <a:extLst xmlns:a="http://schemas.openxmlformats.org/drawingml/2006/main">
              <a:ext uri="{FF2B5EF4-FFF2-40B4-BE49-F238E27FC236}">
                <a16:creationId xmlns:a16="http://schemas.microsoft.com/office/drawing/2014/main" id="{795042DC-2E7A-41E9-A3A0-A5003976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problem-title-02">
            <a:extLst xmlns:a="http://schemas.openxmlformats.org/drawingml/2006/main">
              <a:ext uri="{FF2B5EF4-FFF2-40B4-BE49-F238E27FC236}">
                <a16:creationId xmlns:a16="http://schemas.microsoft.com/office/drawing/2014/main" id="{268FC771-6882-4566-A6BF-1A989BEF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反复试模</a:t>
            </a:r>
          </a:p>
        </p:txBody>
      </p:sp>
      <p:sp>
        <p:nvSpPr>
          <p:cNvPr id="17" name="problem-body-02">
            <a:extLst xmlns:a="http://schemas.openxmlformats.org/drawingml/2006/main">
              <a:ext uri="{FF2B5EF4-FFF2-40B4-BE49-F238E27FC236}">
                <a16:creationId xmlns:a16="http://schemas.microsoft.com/office/drawing/2014/main" id="{F1D1AE0E-4E3C-4939-BF1D-26889C4C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每个项目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重做提示与参数</a:t>
            </a:r>
          </a:p>
        </p:txBody>
      </p:sp>
      <p:sp>
        <p:nvSpPr>
          <p:cNvPr id="18" name="problem-card-03">
            <a:extLst xmlns:a="http://schemas.openxmlformats.org/drawingml/2006/main">
              <a:ext uri="{FF2B5EF4-FFF2-40B4-BE49-F238E27FC236}">
                <a16:creationId xmlns:a16="http://schemas.microsoft.com/office/drawing/2014/main" id="{D882D7C7-7572-41B6-B4FB-F8B979F8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19" name="problem-number-03">
            <a:extLst xmlns:a="http://schemas.openxmlformats.org/drawingml/2006/main">
              <a:ext uri="{FF2B5EF4-FFF2-40B4-BE49-F238E27FC236}">
                <a16:creationId xmlns:a16="http://schemas.microsoft.com/office/drawing/2014/main" id="{25AEB4F8-5C06-4D52-BD68-7F409388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problem-title-03">
            <a:extLst xmlns:a="http://schemas.openxmlformats.org/drawingml/2006/main">
              <a:ext uri="{FF2B5EF4-FFF2-40B4-BE49-F238E27FC236}">
                <a16:creationId xmlns:a16="http://schemas.microsoft.com/office/drawing/2014/main" id="{E07CD8DD-1679-4649-9C11-CE7C4E8D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品牌返工</a:t>
            </a:r>
          </a:p>
        </p:txBody>
      </p:sp>
      <p:sp>
        <p:nvSpPr>
          <p:cNvPr id="21" name="problem-body-03">
            <a:extLst xmlns:a="http://schemas.openxmlformats.org/drawingml/2006/main">
              <a:ext uri="{FF2B5EF4-FFF2-40B4-BE49-F238E27FC236}">
                <a16:creationId xmlns:a16="http://schemas.microsoft.com/office/drawing/2014/main" id="{2E2EC799-2ED9-45D2-AC0C-93D09AF8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看起来一致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却不符合细节</a:t>
            </a:r>
          </a:p>
        </p:txBody>
      </p:sp>
      <p:sp>
        <p:nvSpPr>
          <p:cNvPr id="22" name="problem-card-04">
            <a:extLst xmlns:a="http://schemas.openxmlformats.org/drawingml/2006/main">
              <a:ext uri="{FF2B5EF4-FFF2-40B4-BE49-F238E27FC236}">
                <a16:creationId xmlns:a16="http://schemas.microsoft.com/office/drawing/2014/main" id="{2E66F1ED-1966-41DE-9BF7-9CD2DE58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23" name="problem-number-04">
            <a:extLst xmlns:a="http://schemas.openxmlformats.org/drawingml/2006/main">
              <a:ext uri="{FF2B5EF4-FFF2-40B4-BE49-F238E27FC236}">
                <a16:creationId xmlns:a16="http://schemas.microsoft.com/office/drawing/2014/main" id="{03E6F693-C315-4F2E-B0D2-E9556DD6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problem-title-04">
            <a:extLst xmlns:a="http://schemas.openxmlformats.org/drawingml/2006/main">
              <a:ext uri="{FF2B5EF4-FFF2-40B4-BE49-F238E27FC236}">
                <a16:creationId xmlns:a16="http://schemas.microsoft.com/office/drawing/2014/main" id="{3240C053-45B0-4125-A034-87B27323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本地化返工</a:t>
            </a:r>
          </a:p>
        </p:txBody>
      </p:sp>
      <p:sp>
        <p:nvSpPr>
          <p:cNvPr id="25" name="problem-body-04">
            <a:extLst xmlns:a="http://schemas.openxmlformats.org/drawingml/2006/main">
              <a:ext uri="{FF2B5EF4-FFF2-40B4-BE49-F238E27FC236}">
                <a16:creationId xmlns:a16="http://schemas.microsoft.com/office/drawing/2014/main" id="{A22E207A-98E0-405E-AFC0-FD8363F2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视觉没问题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当地团队不采用</a:t>
            </a:r>
          </a:p>
        </p:txBody>
      </p:sp>
      <p:sp>
        <p:nvSpPr>
          <p:cNvPr id="26" name="problem-card-05">
            <a:extLst xmlns:a="http://schemas.openxmlformats.org/drawingml/2006/main">
              <a:ext uri="{FF2B5EF4-FFF2-40B4-BE49-F238E27FC236}">
                <a16:creationId xmlns:a16="http://schemas.microsoft.com/office/drawing/2014/main" id="{8E1711D1-7814-4671-8A80-3C65EA9B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27" name="problem-number-05">
            <a:extLst xmlns:a="http://schemas.openxmlformats.org/drawingml/2006/main">
              <a:ext uri="{FF2B5EF4-FFF2-40B4-BE49-F238E27FC236}">
                <a16:creationId xmlns:a16="http://schemas.microsoft.com/office/drawing/2014/main" id="{236372BC-20C2-408D-9F1B-8DEDBF23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8" name="problem-title-05">
            <a:extLst xmlns:a="http://schemas.openxmlformats.org/drawingml/2006/main">
              <a:ext uri="{FF2B5EF4-FFF2-40B4-BE49-F238E27FC236}">
                <a16:creationId xmlns:a16="http://schemas.microsoft.com/office/drawing/2014/main" id="{53A2CEA4-F3E8-4048-BC49-2EF54886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审批失忆</a:t>
            </a:r>
          </a:p>
        </p:txBody>
      </p:sp>
      <p:sp>
        <p:nvSpPr>
          <p:cNvPr id="29" name="problem-body-05">
            <a:extLst xmlns:a="http://schemas.openxmlformats.org/drawingml/2006/main">
              <a:ext uri="{FF2B5EF4-FFF2-40B4-BE49-F238E27FC236}">
                <a16:creationId xmlns:a16="http://schemas.microsoft.com/office/drawing/2014/main" id="{B856A33B-0EB3-4D56-B446-BF2CE3A5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退回理由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最终标准不沉淀</a:t>
            </a:r>
          </a:p>
        </p:txBody>
      </p:sp>
      <p:sp>
        <p:nvSpPr>
          <p:cNvPr id="30" name="problem-card-06">
            <a:extLst xmlns:a="http://schemas.openxmlformats.org/drawingml/2006/main">
              <a:ext uri="{FF2B5EF4-FFF2-40B4-BE49-F238E27FC236}">
                <a16:creationId xmlns:a16="http://schemas.microsoft.com/office/drawing/2014/main" id="{8DB2FEA2-AA46-4C77-9328-02D2AD73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31" name="problem-number-06">
            <a:extLst xmlns:a="http://schemas.openxmlformats.org/drawingml/2006/main">
              <a:ext uri="{FF2B5EF4-FFF2-40B4-BE49-F238E27FC236}">
                <a16:creationId xmlns:a16="http://schemas.microsoft.com/office/drawing/2014/main" id="{8A03D233-81E7-4CEB-BD8C-C8D3C22F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2" name="problem-title-06">
            <a:extLst xmlns:a="http://schemas.openxmlformats.org/drawingml/2006/main">
              <a:ext uri="{FF2B5EF4-FFF2-40B4-BE49-F238E27FC236}">
                <a16:creationId xmlns:a16="http://schemas.microsoft.com/office/drawing/2014/main" id="{FE26F51C-E6C0-4FDA-89D6-6285C587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换模重建</a:t>
            </a:r>
          </a:p>
        </p:txBody>
      </p:sp>
      <p:sp>
        <p:nvSpPr>
          <p:cNvPr id="33" name="problem-body-06">
            <a:extLst xmlns:a="http://schemas.openxmlformats.org/drawingml/2006/main">
              <a:ext uri="{FF2B5EF4-FFF2-40B4-BE49-F238E27FC236}">
                <a16:creationId xmlns:a16="http://schemas.microsoft.com/office/drawing/2014/main" id="{9187A1C8-78CF-4A3D-8474-B425A09E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新模型上线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流程重新验证</a:t>
            </a:r>
          </a:p>
        </p:txBody>
      </p:sp>
      <p:sp>
        <p:nvSpPr>
          <p:cNvPr id="34" name="model-upgrade-reset">
            <a:extLst xmlns:a="http://schemas.openxmlformats.org/drawingml/2006/main">
              <a:ext uri="{FF2B5EF4-FFF2-40B4-BE49-F238E27FC236}">
                <a16:creationId xmlns:a16="http://schemas.microsoft.com/office/drawing/2014/main" id="{E32D7375-E423-4E83-8F5D-54D10D68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solidFill>
              <a:srgbClr val="0B5FFF"/>
            </a:solidFill>
            <a:prstDash val="solid"/>
          </a:ln>
        </p:spPr>
      </p:sp>
      <p:sp>
        <p:nvSpPr>
          <p:cNvPr id="35" name="model-upgrade-reset-text">
            <a:extLst xmlns:a="http://schemas.openxmlformats.org/drawingml/2006/main">
              <a:ext uri="{FF2B5EF4-FFF2-40B4-BE49-F238E27FC236}">
                <a16:creationId xmlns:a16="http://schemas.microsoft.com/office/drawing/2014/main" id="{E0BD219B-40D0-4B10-A5A6-18932554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模型能生成，不等于内容能过品牌、本地化和最终审批。</a:t>
            </a:r>
          </a:p>
        </p:txBody>
      </p:sp>
      <p:sp>
        <p:nvSpPr>
          <p:cNvPr id="36" name="business-cost-label">
            <a:extLst xmlns:a="http://schemas.openxmlformats.org/drawingml/2006/main">
              <a:ext uri="{FF2B5EF4-FFF2-40B4-BE49-F238E27FC236}">
                <a16:creationId xmlns:a16="http://schemas.microsoft.com/office/drawing/2014/main" id="{681C0783-DF09-40E4-B5B2-DC129A7A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首个客户</a:t>
            </a:r>
          </a:p>
        </p:txBody>
      </p:sp>
      <p:sp>
        <p:nvSpPr>
          <p:cNvPr id="37" name="business-costs">
            <a:extLst xmlns:a="http://schemas.openxmlformats.org/drawingml/2006/main">
              <a:ext uri="{FF2B5EF4-FFF2-40B4-BE49-F238E27FC236}">
                <a16:creationId xmlns:a16="http://schemas.microsoft.com/office/drawing/2014/main" id="{4042654F-7973-4F6F-89C9-DC8CF939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91150"/>
            <a:ext cx="948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多品牌创意 / 本地化 / 跨境营销服务商</a:t>
            </a:r>
          </a:p>
        </p:txBody>
      </p:sp>
      <p:sp>
        <p:nvSpPr>
          <p:cNvPr id="38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977E12C0-3361-4DE1-B7A5-D07B649E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83B9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先从跨市场广告素材本地化与批量变体切入，验证时间、返工与成本。</a:t>
            </a:r>
          </a:p>
        </p:txBody>
      </p:sp>
    </p:spTree>
    <p:extLst>
      <p:ext uri="{BB962C8B-B14F-4D97-AF65-F5344CB8AC3E}">
        <p14:creationId xmlns:p14="http://schemas.microsoft.com/office/powerpoint/2010/main" val="1348703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-3">
            <a:extLst xmlns:a="http://schemas.openxmlformats.org/drawingml/2006/main">
              <a:ext uri="{FF2B5EF4-FFF2-40B4-BE49-F238E27FC236}">
                <a16:creationId xmlns:a16="http://schemas.microsoft.com/office/drawing/2014/main" id="{457B0763-9E3D-4C8D-9360-204E2758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903FBA9-C8C5-48F3-9170-E48C7B53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41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VULCA 接进现有工具，把素材本地化流程</a:t>
            </a:r>
          </a:p>
          <a:p xmlns:a="http://schemas.openxmlformats.org/drawingml/2006/main">
            <a:pPr algn="l">
              <a:buNone/>
              <a:def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变成每天可运行、换模型也不清零的生产线。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0415FE65-70A3-4103-8FE8-FF4BB891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49CD16C8-B3BC-4FF5-A891-7841E94C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" name="ecosystem-arrow-1">
            <a:extLst xmlns:a="http://schemas.openxmlformats.org/drawingml/2006/main">
              <a:ext uri="{FF2B5EF4-FFF2-40B4-BE49-F238E27FC236}">
                <a16:creationId xmlns:a16="http://schemas.microsoft.com/office/drawing/2014/main" id="{B06E8889-AB21-4D4B-87A0-A5E2E237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7813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6" name="ecosystem-arrow-2">
            <a:extLst xmlns:a="http://schemas.openxmlformats.org/drawingml/2006/main">
              <a:ext uri="{FF2B5EF4-FFF2-40B4-BE49-F238E27FC236}">
                <a16:creationId xmlns:a16="http://schemas.microsoft.com/office/drawing/2014/main" id="{38E68B1B-D6A8-4E60-B59D-DF938EE0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813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7" name="ecosystem-arrow-3">
            <a:extLst xmlns:a="http://schemas.openxmlformats.org/drawingml/2006/main">
              <a:ext uri="{FF2B5EF4-FFF2-40B4-BE49-F238E27FC236}">
                <a16:creationId xmlns:a16="http://schemas.microsoft.com/office/drawing/2014/main" id="{82C13C44-E963-4A34-AC69-C7258760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813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8" name="upstream-panel">
            <a:extLst xmlns:a="http://schemas.openxmlformats.org/drawingml/2006/main">
              <a:ext uri="{FF2B5EF4-FFF2-40B4-BE49-F238E27FC236}">
                <a16:creationId xmlns:a16="http://schemas.microsoft.com/office/drawing/2014/main" id="{6A8C4F2C-9C40-4093-86B0-2B03BCBB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809750" cy="22669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9" name="upstream-eyebrow">
            <a:extLst xmlns:a="http://schemas.openxmlformats.org/drawingml/2006/main">
              <a:ext uri="{FF2B5EF4-FFF2-40B4-BE49-F238E27FC236}">
                <a16:creationId xmlns:a16="http://schemas.microsoft.com/office/drawing/2014/main" id="{492036FB-34D8-463D-BEC9-ABE92A7D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现有输入</a:t>
            </a:r>
          </a:p>
        </p:txBody>
      </p:sp>
      <p:sp>
        <p:nvSpPr>
          <p:cNvPr id="10" name="upstream-title">
            <a:extLst xmlns:a="http://schemas.openxmlformats.org/drawingml/2006/main">
              <a:ext uri="{FF2B5EF4-FFF2-40B4-BE49-F238E27FC236}">
                <a16:creationId xmlns:a16="http://schemas.microsoft.com/office/drawing/2014/main" id="{B2CEEB09-E4A9-493B-B42B-B728373C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素材与工具</a:t>
            </a:r>
          </a:p>
        </p:txBody>
      </p:sp>
      <p:sp>
        <p:nvSpPr>
          <p:cNvPr id="11" name="upstream-body">
            <a:extLst xmlns:a="http://schemas.openxmlformats.org/drawingml/2006/main">
              <a:ext uri="{FF2B5EF4-FFF2-40B4-BE49-F238E27FC236}">
                <a16:creationId xmlns:a16="http://schemas.microsoft.com/office/drawing/2014/main" id="{B7DC8B5F-080F-484D-AB1C-C61D83DA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品牌主素材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本地市场 Brief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现有生成模型</a:t>
            </a:r>
          </a:p>
        </p:txBody>
      </p:sp>
      <p:sp>
        <p:nvSpPr>
          <p:cNvPr id="12" name="vulca-core-panel">
            <a:extLst xmlns:a="http://schemas.openxmlformats.org/drawingml/2006/main">
              <a:ext uri="{FF2B5EF4-FFF2-40B4-BE49-F238E27FC236}">
                <a16:creationId xmlns:a16="http://schemas.microsoft.com/office/drawing/2014/main" id="{CCD1B24A-9D77-42DB-93A0-06D5AEF7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09750"/>
            <a:ext cx="3810000" cy="22669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0B5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vulca-core-eyebrow">
            <a:extLst xmlns:a="http://schemas.openxmlformats.org/drawingml/2006/main">
              <a:ext uri="{FF2B5EF4-FFF2-40B4-BE49-F238E27FC236}">
                <a16:creationId xmlns:a16="http://schemas.microsoft.com/office/drawing/2014/main" id="{69314350-45A5-4072-A5F9-9B2FCA77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00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</a:t>
            </a:r>
          </a:p>
        </p:txBody>
      </p:sp>
      <p:sp>
        <p:nvSpPr>
          <p:cNvPr id="14" name="vulca-core-title">
            <a:extLst xmlns:a="http://schemas.openxmlformats.org/drawingml/2006/main">
              <a:ext uri="{FF2B5EF4-FFF2-40B4-BE49-F238E27FC236}">
                <a16:creationId xmlns:a16="http://schemas.microsoft.com/office/drawing/2014/main" id="{6A355F26-D8B6-47BA-AA36-45F5A139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4315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83B9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企业 AI 内容生产线</a:t>
            </a:r>
          </a:p>
        </p:txBody>
      </p:sp>
      <p:sp>
        <p:nvSpPr>
          <p:cNvPr id="15" name="vulca-core-body">
            <a:extLst xmlns:a="http://schemas.openxmlformats.org/drawingml/2006/main">
              <a:ext uri="{FF2B5EF4-FFF2-40B4-BE49-F238E27FC236}">
                <a16:creationId xmlns:a16="http://schemas.microsoft.com/office/drawing/2014/main" id="{F6E611BE-6E5F-46C4-A08E-FE6DBB59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76550"/>
            <a:ext cx="3257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编排：按任务调用现有模型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控制：按品牌与市场标准检查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交付：保留版本、审批与成本</a:t>
            </a:r>
          </a:p>
        </p:txBody>
      </p:sp>
      <p:sp>
        <p:nvSpPr>
          <p:cNvPr id="16" name="vulca-core-tag">
            <a:extLst xmlns:a="http://schemas.openxmlformats.org/drawingml/2006/main">
              <a:ext uri="{FF2B5EF4-FFF2-40B4-BE49-F238E27FC236}">
                <a16:creationId xmlns:a16="http://schemas.microsoft.com/office/drawing/2014/main" id="{BD9F5919-6C8A-47F7-836D-30C206AF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不强迫客户换模型</a:t>
            </a:r>
          </a:p>
        </p:txBody>
      </p:sp>
      <p:sp>
        <p:nvSpPr>
          <p:cNvPr id="17" name="direct-customer-panel">
            <a:extLst xmlns:a="http://schemas.openxmlformats.org/drawingml/2006/main">
              <a:ext uri="{FF2B5EF4-FFF2-40B4-BE49-F238E27FC236}">
                <a16:creationId xmlns:a16="http://schemas.microsoft.com/office/drawing/2014/main" id="{798B778D-FD59-4A01-847E-7D323037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09750"/>
            <a:ext cx="22860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8" name="direct-customer-eyebrow">
            <a:extLst xmlns:a="http://schemas.openxmlformats.org/drawingml/2006/main">
              <a:ext uri="{FF2B5EF4-FFF2-40B4-BE49-F238E27FC236}">
                <a16:creationId xmlns:a16="http://schemas.microsoft.com/office/drawing/2014/main" id="{1B36CBCF-B146-475F-8165-41B205BE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19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直接客户</a:t>
            </a:r>
          </a:p>
        </p:txBody>
      </p:sp>
      <p:sp>
        <p:nvSpPr>
          <p:cNvPr id="19" name="direct-customer-title">
            <a:extLst xmlns:a="http://schemas.openxmlformats.org/drawingml/2006/main">
              <a:ext uri="{FF2B5EF4-FFF2-40B4-BE49-F238E27FC236}">
                <a16:creationId xmlns:a16="http://schemas.microsoft.com/office/drawing/2014/main" id="{4E8F0B38-D961-472B-80E5-3154EE4F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多品牌服务商</a:t>
            </a:r>
          </a:p>
        </p:txBody>
      </p:sp>
      <p:sp>
        <p:nvSpPr>
          <p:cNvPr id="20" name="direct-customer-body">
            <a:extLst xmlns:a="http://schemas.openxmlformats.org/drawingml/2006/main">
              <a:ext uri="{FF2B5EF4-FFF2-40B4-BE49-F238E27FC236}">
                <a16:creationId xmlns:a16="http://schemas.microsoft.com/office/drawing/2014/main" id="{7FCBB342-CD7F-4808-97C5-EEA66C39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33700"/>
            <a:ext cx="1847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交付负责人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创意与本地化团队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AI / IT 负责人</a:t>
            </a:r>
          </a:p>
        </p:txBody>
      </p:sp>
      <p:sp>
        <p:nvSpPr>
          <p:cNvPr id="21" name="end-customer-panel">
            <a:extLst xmlns:a="http://schemas.openxmlformats.org/drawingml/2006/main">
              <a:ext uri="{FF2B5EF4-FFF2-40B4-BE49-F238E27FC236}">
                <a16:creationId xmlns:a16="http://schemas.microsoft.com/office/drawing/2014/main" id="{09431AAD-5A48-467B-8660-13A875F4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23431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2" name="end-customer-eyebrow">
            <a:extLst xmlns:a="http://schemas.openxmlformats.org/drawingml/2006/main">
              <a:ext uri="{FF2B5EF4-FFF2-40B4-BE49-F238E27FC236}">
                <a16:creationId xmlns:a16="http://schemas.microsoft.com/office/drawing/2014/main" id="{E91FCB72-B283-4B4B-AFA4-49B7FB45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19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审批与采用</a:t>
            </a:r>
          </a:p>
        </p:txBody>
      </p:sp>
      <p:sp>
        <p:nvSpPr>
          <p:cNvPr id="23" name="end-customer-title">
            <a:extLst xmlns:a="http://schemas.openxmlformats.org/drawingml/2006/main">
              <a:ext uri="{FF2B5EF4-FFF2-40B4-BE49-F238E27FC236}">
                <a16:creationId xmlns:a16="http://schemas.microsoft.com/office/drawing/2014/main" id="{9B3D15F8-125F-4217-946A-14C1A70E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003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品牌市场团队</a:t>
            </a:r>
          </a:p>
        </p:txBody>
      </p:sp>
      <p:sp>
        <p:nvSpPr>
          <p:cNvPr id="24" name="end-customer-body">
            <a:extLst xmlns:a="http://schemas.openxmlformats.org/drawingml/2006/main">
              <a:ext uri="{FF2B5EF4-FFF2-40B4-BE49-F238E27FC236}">
                <a16:creationId xmlns:a16="http://schemas.microsoft.com/office/drawing/2014/main" id="{29015A1F-6508-4B44-9851-3FF1CD5F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337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区域审核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渠道发布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最终采用</a:t>
            </a:r>
          </a:p>
        </p:txBody>
      </p:sp>
      <p:sp>
        <p:nvSpPr>
          <p:cNvPr id="25" name="feedback-arrow">
            <a:extLst xmlns:a="http://schemas.openxmlformats.org/drawingml/2006/main">
              <a:ext uri="{FF2B5EF4-FFF2-40B4-BE49-F238E27FC236}">
                <a16:creationId xmlns:a16="http://schemas.microsoft.com/office/drawing/2014/main" id="{FDA60C9B-E9BC-4A7F-8BC2-70FB1F04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8577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26" name="feedback-panel">
            <a:extLst xmlns:a="http://schemas.openxmlformats.org/drawingml/2006/main">
              <a:ext uri="{FF2B5EF4-FFF2-40B4-BE49-F238E27FC236}">
                <a16:creationId xmlns:a16="http://schemas.microsoft.com/office/drawing/2014/main" id="{C8A670F7-8B94-4464-9B5E-D13B6EF4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6286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7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6F18C59B-9405-4C6B-9162-A4DFC45C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每次交付留下</a:t>
            </a:r>
          </a:p>
        </p:txBody>
      </p:sp>
      <p:sp>
        <p:nvSpPr>
          <p:cNvPr id="28" name="feedback-items">
            <a:extLst xmlns:a="http://schemas.openxmlformats.org/drawingml/2006/main">
              <a:ext uri="{FF2B5EF4-FFF2-40B4-BE49-F238E27FC236}">
                <a16:creationId xmlns:a16="http://schemas.microsoft.com/office/drawing/2014/main" id="{A5E24B71-44D4-4C97-943D-B6D43A23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573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采用版本 · 修改原因 · 审批人 · 时间 · 成本</a:t>
            </a:r>
          </a:p>
        </p:txBody>
      </p:sp>
      <p:sp>
        <p:nvSpPr>
          <p:cNvPr id="29" name="asset-pack-panel">
            <a:extLst xmlns:a="http://schemas.openxmlformats.org/drawingml/2006/main">
              <a:ext uri="{FF2B5EF4-FFF2-40B4-BE49-F238E27FC236}">
                <a16:creationId xmlns:a16="http://schemas.microsoft.com/office/drawing/2014/main" id="{9AD556A9-7F3C-4EEE-A47A-45D9EB15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76750"/>
            <a:ext cx="4629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A8C7FA"/>
            </a:solidFill>
            <a:prstDash val="solid"/>
          </a:ln>
        </p:spPr>
      </p:sp>
      <p:sp>
        <p:nvSpPr>
          <p:cNvPr id="30" name="asset-pack-title">
            <a:extLst xmlns:a="http://schemas.openxmlformats.org/drawingml/2006/main">
              <a:ext uri="{FF2B5EF4-FFF2-40B4-BE49-F238E27FC236}">
                <a16:creationId xmlns:a16="http://schemas.microsoft.com/office/drawing/2014/main" id="{F52BDA4B-BA2F-4A71-B075-0092A878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86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83B9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客户可控的能力包</a:t>
            </a:r>
          </a:p>
        </p:txBody>
      </p:sp>
      <p:sp>
        <p:nvSpPr>
          <p:cNvPr id="31" name="asset-pack-body">
            <a:extLst xmlns:a="http://schemas.openxmlformats.org/drawingml/2006/main">
              <a:ext uri="{FF2B5EF4-FFF2-40B4-BE49-F238E27FC236}">
                <a16:creationId xmlns:a16="http://schemas.microsoft.com/office/drawing/2014/main" id="{FE9A1C55-CD57-4DB2-82A7-0A219BDF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81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标准 / 案例 / 评测任务 / 权限 / 流程版本</a:t>
            </a:r>
          </a:p>
        </p:txBody>
      </p:sp>
      <p:sp>
        <p:nvSpPr>
          <p:cNvPr id="32" name="role-boundary">
            <a:extLst xmlns:a="http://schemas.openxmlformats.org/drawingml/2006/main">
              <a:ext uri="{FF2B5EF4-FFF2-40B4-BE49-F238E27FC236}">
                <a16:creationId xmlns:a16="http://schemas.microsoft.com/office/drawing/2014/main" id="{4582F04A-E8C9-4B9E-8A51-1BABF36C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这些对象先用于下一次生成、检查和迁移；是否进入模型训练，由客户授权。</a:t>
            </a:r>
          </a:p>
        </p:txBody>
      </p:sp>
    </p:spTree>
    <p:extLst>
      <p:ext uri="{BB962C8B-B14F-4D97-AF65-F5344CB8AC3E}">
        <p14:creationId xmlns:p14="http://schemas.microsoft.com/office/powerpoint/2010/main" val="12056857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2709312-9020-47ED-B726-37D4F928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7AA91B2-D6DB-4354-B7EF-903E0B85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不做另一个内容平台，VULCA 选择三条更窄的边界。</a:t>
            </a:r>
          </a:p>
        </p:txBody>
      </p:sp>
      <p:cxnSp>
        <p:nvCxnSpPr>
          <p:cNvPr id="36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6A9C7A8-7AA4-415D-BDA7-3319BB7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10738D4-9742-48D8-8B61-34383EBE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972FC68-6991-4E89-A778-79409098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D891C5E-8A04-42EA-95CC-59F280B6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7BF94F58-9BAD-4820-8488-6AA6D25A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跨市场采用判断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不只检查模板与品牌元素
还记录当地团队为何采用或退回
让本地判断进入下一次交付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2BF377E1-1A55-4076-B3A9-5731F1E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29DB4510-53A0-4A75-BF20-564FA7E7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跨模型能力迁移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模型可来自云端或客户环境
标准、案例和评测不绑单一厂商
先复用资产，再决定是否后训练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5B704797-7BA6-450D-9C97-0B0796F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96AE1D53-4FF6-424E-A2A4-B6F4B61C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企业授权学习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品牌之间的数据默认隔离
只有获授权且验证有效的信号可复用
客户决定是否进入模型训练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2DB5FB3A-F94E-41EB-9C5A-33F2DD3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模型可替换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A33F60C6-7D7F-4A5C-BCBB-D3137B1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本地有效性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7C9C4B23-9F2C-44E9-AF7F-4EEF5BD1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学习可控制</a:t>
            </a:r>
          </a:p>
        </p:txBody>
      </p:sp>
      <p:sp>
        <p:nvSpPr>
          <p:cNvPr id="16" name="scale-accent-1">
            <a:extLst xmlns:a="http://schemas.openxmlformats.org/drawingml/2006/main">
              <a:ext uri="{FF2B5EF4-FFF2-40B4-BE49-F238E27FC236}">
                <a16:creationId xmlns:a16="http://schemas.microsoft.com/office/drawing/2014/main" id="{B7A05BD8-4874-47B7-8CE2-DF368B3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17" name="scale-accent-2">
            <a:extLst xmlns:a="http://schemas.openxmlformats.org/drawingml/2006/main">
              <a:ext uri="{FF2B5EF4-FFF2-40B4-BE49-F238E27FC236}">
                <a16:creationId xmlns:a16="http://schemas.microsoft.com/office/drawing/2014/main" id="{B185E3E9-101B-4D2E-9C2F-55E42C3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18" name="scale-accent-3">
            <a:extLst xmlns:a="http://schemas.openxmlformats.org/drawingml/2006/main">
              <a:ext uri="{FF2B5EF4-FFF2-40B4-BE49-F238E27FC236}">
                <a16:creationId xmlns:a16="http://schemas.microsoft.com/office/drawing/2014/main" id="{7C5BA57F-D4D8-4AEC-8965-FEC8D836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643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2709312-9020-47ED-B726-37D4F928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7AA91B2-D6DB-4354-B7EF-903E0B85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VULCA 的研究已进入产品，商业闭环仍待验证。</a:t>
            </a:r>
          </a:p>
        </p:txBody>
      </p:sp>
      <p:cxnSp>
        <p:nvCxnSpPr>
          <p:cNvPr id="36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6A9C7A8-7AA4-415D-BDA7-3319BB7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10738D4-9742-48D8-8B61-34383EBE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972FC68-6991-4E89-A778-79409098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D891C5E-8A04-42EA-95CC-59F280B6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7BF94F58-9BAD-4820-8488-6AA6D25A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视觉与文化评测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研究视觉与文化适配
不只判断“像不像”
还判断在特定语境下是否成立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2BF377E1-1A55-4076-B3A9-5731F1E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29DB4510-53A0-4A75-BF20-564FA7E7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可运行产品底座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v0.23.1 已发布
支持云端与本地模型
覆盖创作、分层编辑与视觉评测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5B704797-7BA6-450D-9C97-0B0796F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96AE1D53-4FF6-424E-A2A4-B6F4B61C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明确证据边界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尚未证明企业迁移收益
尚未证明客户付费与持续使用
尚未证明单位经济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2DB5FB3A-F94E-41EB-9C5A-33F2DD3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产品：多模型 / 本地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A33F60C6-7D7F-4A5C-BCBB-D3137B1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研究：视觉与文化评测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7C9C4B23-9F2C-44E9-AF7F-4EEF5BD1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商业：90 天客户验证</a:t>
            </a:r>
          </a:p>
        </p:txBody>
      </p:sp>
      <p:sp>
        <p:nvSpPr>
          <p:cNvPr id="16" name="scale-accent-1">
            <a:extLst xmlns:a="http://schemas.openxmlformats.org/drawingml/2006/main">
              <a:ext uri="{FF2B5EF4-FFF2-40B4-BE49-F238E27FC236}">
                <a16:creationId xmlns:a16="http://schemas.microsoft.com/office/drawing/2014/main" id="{B7A05BD8-4874-47B7-8CE2-DF368B3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17" name="scale-accent-2">
            <a:extLst xmlns:a="http://schemas.openxmlformats.org/drawingml/2006/main">
              <a:ext uri="{FF2B5EF4-FFF2-40B4-BE49-F238E27FC236}">
                <a16:creationId xmlns:a16="http://schemas.microsoft.com/office/drawing/2014/main" id="{B185E3E9-101B-4D2E-9C2F-55E42C3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18" name="scale-accent-3">
            <a:extLst xmlns:a="http://schemas.openxmlformats.org/drawingml/2006/main">
              <a:ext uri="{FF2B5EF4-FFF2-40B4-BE49-F238E27FC236}">
                <a16:creationId xmlns:a16="http://schemas.microsoft.com/office/drawing/2014/main" id="{7C5BA57F-D4D8-4AEC-8965-FEC8D836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6433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5">
            <a:extLst xmlns:a="http://schemas.openxmlformats.org/drawingml/2006/main">
              <a:ext uri="{FF2B5EF4-FFF2-40B4-BE49-F238E27FC236}">
                <a16:creationId xmlns:a16="http://schemas.microsoft.com/office/drawing/2014/main" id="{20259635-4086-44AD-85C8-1F109791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224343B-2A9F-4427-AC41-4CE31097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90 天只回答一个问题：下一次交付能否更快、更稳。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A26F662B-C2A2-4F63-BDB4-CA93538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55678973-B753-4DEC-B97E-F5E40BEA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5" name="pilot-scope">
            <a:extLst xmlns:a="http://schemas.openxmlformats.org/drawingml/2006/main">
              <a:ext uri="{FF2B5EF4-FFF2-40B4-BE49-F238E27FC236}">
                <a16:creationId xmlns:a16="http://schemas.microsoft.com/office/drawing/2014/main" id="{3B451D4F-D713-4103-B5DF-B17ECDF9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A8C7FA"/>
            </a:solidFill>
            <a:prstDash val="solid"/>
          </a:ln>
        </p:spPr>
      </p:sp>
      <p:sp>
        <p:nvSpPr>
          <p:cNvPr id="6" name="pilot-scope-text">
            <a:extLst xmlns:a="http://schemas.openxmlformats.org/drawingml/2006/main">
              <a:ext uri="{FF2B5EF4-FFF2-40B4-BE49-F238E27FC236}">
                <a16:creationId xmlns:a16="http://schemas.microsoft.com/office/drawing/2014/main" id="{04150355-CDFE-4C7B-81BD-D5CE3F83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9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83B9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2 家共创客户   ×   同一高频流程   ×   连续真实项目   ×   1 次模型切换</a:t>
            </a:r>
          </a:p>
        </p:txBody>
      </p:sp>
      <p:sp>
        <p:nvSpPr>
          <p:cNvPr id="7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E298C98A-2ECD-4459-B493-21A56C59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2667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7F6F72D8-810A-40CB-8DA1-78F780C6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时间</a:t>
            </a:r>
          </a:p>
        </p:txBody>
      </p:sp>
      <p:sp>
        <p:nvSpPr>
          <p:cNvPr id="9" name="metric-name-1">
            <a:extLst xmlns:a="http://schemas.openxmlformats.org/drawingml/2006/main">
              <a:ext uri="{FF2B5EF4-FFF2-40B4-BE49-F238E27FC236}">
                <a16:creationId xmlns:a16="http://schemas.microsoft.com/office/drawing/2014/main" id="{9CF20165-4EB3-422F-A147-7B56FA52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首个获批素材时间</a:t>
            </a:r>
          </a:p>
        </p:txBody>
      </p:sp>
      <p:sp>
        <p:nvSpPr>
          <p:cNvPr id="10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C2F6D952-ABA9-4A43-930A-30A1F3A8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对比客户历史基线</a:t>
            </a:r>
          </a:p>
        </p:txBody>
      </p:sp>
      <p:sp>
        <p:nvSpPr>
          <p:cNvPr id="11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17904D8C-B28E-46BC-A16C-834DF698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400300"/>
            <a:ext cx="2667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C3DF1656-F55F-4BD3-9A3F-84402A56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0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质量</a:t>
            </a:r>
          </a:p>
        </p:txBody>
      </p:sp>
      <p:sp>
        <p:nvSpPr>
          <p:cNvPr id="13" name="metric-name-2">
            <a:extLst xmlns:a="http://schemas.openxmlformats.org/drawingml/2006/main">
              <a:ext uri="{FF2B5EF4-FFF2-40B4-BE49-F238E27FC236}">
                <a16:creationId xmlns:a16="http://schemas.microsoft.com/office/drawing/2014/main" id="{E5992E41-7287-4AEE-800E-C7F2C67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099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一次通过率 / 修改轮次</a:t>
            </a:r>
          </a:p>
        </p:txBody>
      </p:sp>
      <p:sp>
        <p:nvSpPr>
          <p:cNvPr id="14" name="metric-detail-2">
            <a:extLst xmlns:a="http://schemas.openxmlformats.org/drawingml/2006/main">
              <a:ext uri="{FF2B5EF4-FFF2-40B4-BE49-F238E27FC236}">
                <a16:creationId xmlns:a16="http://schemas.microsoft.com/office/drawing/2014/main" id="{CE99C9A1-57EA-43D3-9A67-EED7A055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752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以最终采用记录确认</a:t>
            </a:r>
          </a:p>
        </p:txBody>
      </p:sp>
      <p:sp>
        <p:nvSpPr>
          <p:cNvPr id="15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9E0DCE02-68B9-4503-B97D-A55401B8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667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9A0ECF98-57D7-49C8-B9F9-B8FE5D78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成本</a:t>
            </a:r>
          </a:p>
        </p:txBody>
      </p:sp>
      <p:sp>
        <p:nvSpPr>
          <p:cNvPr id="17" name="metric-name-3">
            <a:extLst xmlns:a="http://schemas.openxmlformats.org/drawingml/2006/main">
              <a:ext uri="{FF2B5EF4-FFF2-40B4-BE49-F238E27FC236}">
                <a16:creationId xmlns:a16="http://schemas.microsoft.com/office/drawing/2014/main" id="{BF6C2944-51C4-40C7-84FE-04510FA7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99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单个获批素材成本</a:t>
            </a:r>
          </a:p>
        </p:txBody>
      </p:sp>
      <p:sp>
        <p:nvSpPr>
          <p:cNvPr id="18" name="metric-detail-3">
            <a:extLst xmlns:a="http://schemas.openxmlformats.org/drawingml/2006/main">
              <a:ext uri="{FF2B5EF4-FFF2-40B4-BE49-F238E27FC236}">
                <a16:creationId xmlns:a16="http://schemas.microsoft.com/office/drawing/2014/main" id="{55B9EF98-0960-4C52-AADD-00BBFD20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52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算力 + 人工 + 工具</a:t>
            </a:r>
          </a:p>
        </p:txBody>
      </p:sp>
      <p:sp>
        <p:nvSpPr>
          <p:cNvPr id="19" name="metric-card-4">
            <a:extLst xmlns:a="http://schemas.openxmlformats.org/drawingml/2006/main">
              <a:ext uri="{FF2B5EF4-FFF2-40B4-BE49-F238E27FC236}">
                <a16:creationId xmlns:a16="http://schemas.microsoft.com/office/drawing/2014/main" id="{0C183853-ED1D-405C-835B-DD8B738F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00300"/>
            <a:ext cx="2667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DD461D3B-2F60-421F-A3F8-6E874216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60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迁移</a:t>
            </a:r>
          </a:p>
        </p:txBody>
      </p:sp>
      <p:sp>
        <p:nvSpPr>
          <p:cNvPr id="21" name="metric-name-4">
            <a:extLst xmlns:a="http://schemas.openxmlformats.org/drawingml/2006/main">
              <a:ext uri="{FF2B5EF4-FFF2-40B4-BE49-F238E27FC236}">
                <a16:creationId xmlns:a16="http://schemas.microsoft.com/office/drawing/2014/main" id="{59EA064D-E8B6-4C14-A9DF-668820FB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099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换模人时 / 资产复用率</a:t>
            </a:r>
          </a:p>
        </p:txBody>
      </p:sp>
      <p:sp>
        <p:nvSpPr>
          <p:cNvPr id="22" name="metric-detail-4">
            <a:extLst xmlns:a="http://schemas.openxmlformats.org/drawingml/2006/main">
              <a:ext uri="{FF2B5EF4-FFF2-40B4-BE49-F238E27FC236}">
                <a16:creationId xmlns:a16="http://schemas.microsoft.com/office/drawing/2014/main" id="{C820A929-97A0-44E3-ABBD-CD9D950A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752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不把“能跑”当迁移成功</a:t>
            </a:r>
          </a:p>
        </p:txBody>
      </p:sp>
      <p:sp>
        <p:nvSpPr>
          <p:cNvPr id="23" name="business-model-panel">
            <a:extLst xmlns:a="http://schemas.openxmlformats.org/drawingml/2006/main">
              <a:ext uri="{FF2B5EF4-FFF2-40B4-BE49-F238E27FC236}">
                <a16:creationId xmlns:a16="http://schemas.microsoft.com/office/drawing/2014/main" id="{620FA37D-9117-44B4-A1CA-323906D4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5334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4" name="business-model-label">
            <a:extLst xmlns:a="http://schemas.openxmlformats.org/drawingml/2006/main">
              <a:ext uri="{FF2B5EF4-FFF2-40B4-BE49-F238E27FC236}">
                <a16:creationId xmlns:a16="http://schemas.microsoft.com/office/drawing/2014/main" id="{699C4FF1-48E2-4AEE-B395-329CAE98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收费路径</a:t>
            </a:r>
          </a:p>
        </p:txBody>
      </p:sp>
      <p:sp>
        <p:nvSpPr>
          <p:cNvPr id="25" name="business-model-title">
            <a:extLst xmlns:a="http://schemas.openxmlformats.org/drawingml/2006/main">
              <a:ext uri="{FF2B5EF4-FFF2-40B4-BE49-F238E27FC236}">
                <a16:creationId xmlns:a16="http://schemas.microsoft.com/office/drawing/2014/main" id="{B5B8646C-0F9D-430D-A670-B0F59095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付费试点 → 上线 → 年度订阅</a:t>
            </a:r>
          </a:p>
        </p:txBody>
      </p:sp>
      <p:sp>
        <p:nvSpPr>
          <p:cNvPr id="26" name="business-model-detail">
            <a:extLst xmlns:a="http://schemas.openxmlformats.org/drawingml/2006/main">
              <a:ext uri="{FF2B5EF4-FFF2-40B4-BE49-F238E27FC236}">
                <a16:creationId xmlns:a16="http://schemas.microsoft.com/office/drawing/2014/main" id="{7AD30BFE-95CD-42F4-9BE1-DE40D68B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私有化与后训练仅在客户授权后增购</a:t>
            </a:r>
          </a:p>
        </p:txBody>
      </p:sp>
      <p:sp>
        <p:nvSpPr>
          <p:cNvPr id="27" name="ask-panel">
            <a:extLst xmlns:a="http://schemas.openxmlformats.org/drawingml/2006/main">
              <a:ext uri="{FF2B5EF4-FFF2-40B4-BE49-F238E27FC236}">
                <a16:creationId xmlns:a16="http://schemas.microsoft.com/office/drawing/2014/main" id="{01DDF50D-DB84-466A-AF62-279CD869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57700"/>
            <a:ext cx="58293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solidFill>
              <a:srgbClr val="0B5FFF"/>
            </a:solidFill>
            <a:prstDash val="solid"/>
          </a:ln>
        </p:spPr>
      </p:sp>
      <p:sp>
        <p:nvSpPr>
          <p:cNvPr id="28" name="ask-label">
            <a:extLst xmlns:a="http://schemas.openxmlformats.org/drawingml/2006/main">
              <a:ext uri="{FF2B5EF4-FFF2-40B4-BE49-F238E27FC236}">
                <a16:creationId xmlns:a16="http://schemas.microsoft.com/office/drawing/2014/main" id="{103BDC2E-A993-4820-8F60-283C9DFC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67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当前优先级</a:t>
            </a:r>
          </a:p>
        </p:txBody>
      </p:sp>
      <p:sp>
        <p:nvSpPr>
          <p:cNvPr id="29" name="ask-title">
            <a:extLst xmlns:a="http://schemas.openxmlformats.org/drawingml/2006/main">
              <a:ext uri="{FF2B5EF4-FFF2-40B4-BE49-F238E27FC236}">
                <a16:creationId xmlns:a16="http://schemas.microsoft.com/office/drawing/2014/main" id="{B29083A1-FA50-495F-9FAB-62C909D5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482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 家共创客户
+ 支持 12 个月验证的早期资本</a:t>
            </a:r>
          </a:p>
        </p:txBody>
      </p:sp>
      <p:sp>
        <p:nvSpPr>
          <p:cNvPr id="30" name="current-stage">
            <a:extLst xmlns:a="http://schemas.openxmlformats.org/drawingml/2006/main">
              <a:ext uri="{FF2B5EF4-FFF2-40B4-BE49-F238E27FC236}">
                <a16:creationId xmlns:a16="http://schemas.microsoft.com/office/drawing/2014/main" id="{38C61AA9-9343-424E-B3FC-2BEA6615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进入下一阶段：时间 / 质量 / 成本至少两项改善，且换模不需重建整条流程。</a:t>
            </a:r>
          </a:p>
        </p:txBody>
      </p:sp>
    </p:spTree>
    <p:extLst>
      <p:ext uri="{BB962C8B-B14F-4D97-AF65-F5344CB8AC3E}">
        <p14:creationId xmlns:p14="http://schemas.microsoft.com/office/powerpoint/2010/main" val="2071999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2026-08-09T17:46:39.2350000Z</dcterms:created>
  <dcterms:modified xsi:type="dcterms:W3CDTF">2026-08-09T17:46:39.2350000Z</dcterms:modified>
</coreProperties>
</file>
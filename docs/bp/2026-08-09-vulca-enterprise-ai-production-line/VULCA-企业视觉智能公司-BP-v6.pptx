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251a5a9e194ea9" /><Relationship Type="http://schemas.openxmlformats.org/officeDocument/2006/relationships/extended-properties" Target="/docProps/app.xml" Id="R064e79933ef540a8" /><Relationship Type="http://schemas.openxmlformats.org/officeDocument/2006/relationships/officeDocument" Target="/ppt/presentation.xml" Id="R269514ac62964f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6dc4892166447f"/>
  </p:sldMasterIdLst>
  <p:notesMasterIdLst>
    <p:notesMasterId xmlns:r="http://schemas.openxmlformats.org/officeDocument/2006/relationships" r:id="R9c5d910484474b1d"/>
  </p:notesMasterIdLst>
  <p:sldIdLst>
    <p:sldId xmlns:r="http://schemas.openxmlformats.org/officeDocument/2006/relationships" id="256" r:id="R9f6ec40a1d58448f"/>
    <p:sldId xmlns:r="http://schemas.openxmlformats.org/officeDocument/2006/relationships" id="257" r:id="R1c198538d8ac4d40"/>
    <p:sldId xmlns:r="http://schemas.openxmlformats.org/officeDocument/2006/relationships" id="258" r:id="Rd4508ce7397c4a8a"/>
    <p:sldId xmlns:r="http://schemas.openxmlformats.org/officeDocument/2006/relationships" id="259" r:id="R2b75417503bc4cfd"/>
    <p:sldId xmlns:r="http://schemas.openxmlformats.org/officeDocument/2006/relationships" id="260" r:id="Rd657502da2264f58"/>
    <p:sldId xmlns:r="http://schemas.openxmlformats.org/officeDocument/2006/relationships" id="261" r:id="Re296a43f9bd149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e5459bb880414f" /><Relationship Type="http://schemas.openxmlformats.org/officeDocument/2006/relationships/slideMaster" Target="/ppt/slideMasters/slideMaster1.xml" Id="R876dc4892166447f" /><Relationship Type="http://schemas.openxmlformats.org/officeDocument/2006/relationships/notesMaster" Target="/ppt/notesMasters/notesMaster1.xml" Id="R9c5d910484474b1d" /><Relationship Type="http://schemas.openxmlformats.org/officeDocument/2006/relationships/presProps" Target="/ppt/presProps.xml" Id="R27d4519362fa46a2" /><Relationship Type="http://schemas.openxmlformats.org/officeDocument/2006/relationships/tableStyles" Target="/ppt/tableStyles.xml" Id="Rad90cb04365243c0" /><Relationship Type="http://schemas.openxmlformats.org/officeDocument/2006/relationships/slide" Target="/ppt/slides/slide1.xml" Id="R9f6ec40a1d58448f" /><Relationship Type="http://schemas.openxmlformats.org/officeDocument/2006/relationships/slide" Target="/ppt/slides/slide2.xml" Id="R1c198538d8ac4d40" /><Relationship Type="http://schemas.openxmlformats.org/officeDocument/2006/relationships/slide" Target="/ppt/slides/slide3.xml" Id="Rd4508ce7397c4a8a" /><Relationship Type="http://schemas.openxmlformats.org/officeDocument/2006/relationships/slide" Target="/ppt/slides/slide4.xml" Id="R2b75417503bc4cfd" /><Relationship Type="http://schemas.openxmlformats.org/officeDocument/2006/relationships/slide" Target="/ppt/slides/slide5.xml" Id="Rd657502da2264f58" /><Relationship Type="http://schemas.openxmlformats.org/officeDocument/2006/relationships/slide" Target="/ppt/slides/slide6.xml" Id="Re296a43f9bd149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a27812fb9c47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1d38fde3f44f77" /><Relationship Type="http://schemas.openxmlformats.org/officeDocument/2006/relationships/notesMaster" Target="/ppt/notesMasters/notesMaster1.xml" Id="R3fbf5d2b680d41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542b4a00304523" /><Relationship Type="http://schemas.openxmlformats.org/officeDocument/2006/relationships/notesMaster" Target="/ppt/notesMasters/notesMaster1.xml" Id="Rf48914e1ea9c41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87a8e69ea54c37" /><Relationship Type="http://schemas.openxmlformats.org/officeDocument/2006/relationships/notesMaster" Target="/ppt/notesMasters/notesMaster1.xml" Id="R4528f77a514742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cd46abbbdc409c" /><Relationship Type="http://schemas.openxmlformats.org/officeDocument/2006/relationships/notesMaster" Target="/ppt/notesMasters/notesMaster1.xml" Id="R63cd9623ef924a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edb15cf41a42cb" /><Relationship Type="http://schemas.openxmlformats.org/officeDocument/2006/relationships/notesMaster" Target="/ppt/notesMasters/notesMaster1.xml" Id="R607dc15d01734d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db0d590fac47f4" /><Relationship Type="http://schemas.openxmlformats.org/officeDocument/2006/relationships/notesMaster" Target="/ppt/notesMasters/notesMaster1.xml" Id="Rc81c5df1754947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开场只讲结果：企业不需要再学习一个孤立工具，而需要一支能完成视觉工作的 AI 团队。</a:t>
            </a:r>
          </a:p>
          <a:p xmlns:a="http://schemas.openxmlformats.org/drawingml/2006/main">
            <a:r>
              <a:t>当前卖的是企业 AI 内容生产线；企业视觉智能是公司定位。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asset: source deck media image.jpeg, VULCA tea-packaging demonstration asset.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不要把三个数字讲成一条因果链。它们只证明采用广、规模化不足、内容压力上升。</a:t>
            </a:r>
          </a:p>
          <a:p xmlns:a="http://schemas.openxmlformats.org/drawingml/2006/main">
            <a:r>
              <a:t>首个商业切入口是位于模型公司和终端品牌之间、持续处理多品牌审改的服务商。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McKinsey &amp; Company, The state of AI in 2025: Agents, innovation, and transformation. 88% regular use in at least one business function; approximately one-third have begun scaling AI programs. https://www.mckinsey.com/capabilities/quantumblack/our-insights/the-state-of-ai/</a:t>
            </a:r>
          </a:p>
          <a:p xmlns:a="http://schemas.openxmlformats.org/drawingml/2006/main">
            <a:r>
              <a:t>- Adobe, How creative pros are using Generative AI to keep up with unprecedented content demands, 2025-10-23. 96% report content demand at least doubled; 62% report fivefold or greater increase. https://blog.adobe.com/en/publish/2025/10/23/how-creative-pros-are-using-generative-ai-keep-up-with-unprecedented-content-demands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 VULCA 基于公开美妆零售 campaign 完成的真实本地流程验证，不是 PROYA 或 Guardian 委托，也不是客户业绩。</a:t>
            </a:r>
          </a:p>
          <a:p xmlns:a="http://schemas.openxmlformats.org/drawingml/2006/main">
            <a:r>
              <a:t>当前已验证的是视觉字段拆解、审核问题和负责人交接；生成、修改、多渠道适配与效果指标属于下一步企业试点范围。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VULCA local project record, PROYA Deep Proof v1, 2026-06-21. Status: internal technical proof; public example only; no customer, partner or endorsement claim.</a:t>
            </a:r>
          </a:p>
          <a:p xmlns:a="http://schemas.openxmlformats.org/drawingml/2006/main">
            <a:r>
              <a:t>- Public source candidate recorded in the local source ledger: PROYA Cosmetics public LinkedIn campaign post for Guardian Malaysia, retrieved 2026-06-21. https://www.linkedin.com/posts/proyacosmetics_proya-brandglobalization-guardianmalaysia-activity-7460222340266635264-Jbe_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企业不需要理解 L1-L5 或模型工程：它只需要给任务、看候选、决定采用或退回。</a:t>
            </a:r>
          </a:p>
          <a:p xmlns:a="http://schemas.openxmlformats.org/drawingml/2006/main">
            <a:r>
              <a:t>企业负责业务判断、采用或退回、数据与授权；VULCA Agent 组织模型与工具，并把决定转成下一轮可执行动作。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product screenshot: source deck media image.png from a versioned VULCA Studio local walkthrough.</a:t>
            </a:r>
          </a:p>
          <a:p xmlns:a="http://schemas.openxmlformats.org/drawingml/2006/main">
            <a:r>
              <a:t>- Local product visual output: a physical wide crop derived from wenxin-moyun/public/images/home/create-brand.png.</a:t>
            </a:r>
          </a:p>
          <a:p xmlns:a="http://schemas.openxmlformats.org/drawingml/2006/main">
            <a:r>
              <a:t>- The adoption card is an explanatory UI composition for the event deck, not a live customer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不要讲检测器或模型组件。只讲企业看到的结果：问题被定位、修改范围缩小、采用记录可带到下一轮。</a:t>
            </a:r>
          </a:p>
          <a:p xmlns:a="http://schemas.openxmlformats.org/drawingml/2006/main">
            <a:r>
              <a:t>未来如企业授权且效果经过验证，这些资产才可能进入本地模型优化或后训练；当前不是自动持续学习。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repository-traceable demonstration assets: source deck media image4.png, image5.png and image6.png.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商业路径是付费试点、软件化上线和年度订阅。FDE 是进入企业的方法，不是长期人力外包。</a:t>
            </a:r>
          </a:p>
          <a:p xmlns:a="http://schemas.openxmlformats.org/drawingml/2006/main">
            <a:r>
              <a:t>现场资源诉求按公开生态方向表达，不声称活动已承诺任何资源。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Nansha 2026 digital-technology application-scenario solicitation. https://www.gzns.gov.cn/zwgk/rdzt/zzyyzq/tzgg/content/post_10799928.html</a:t>
            </a:r>
          </a:p>
          <a:p xmlns:a="http://schemas.openxmlformats.org/drawingml/2006/main">
            <a:r>
              <a:t>- Nansha public information on scenario supply-demand matching. https://www.gzns.gov.cn/gznskgx/gkmlpt/content/10/10653/post_10653101.html</a:t>
            </a:r>
          </a:p>
          <a:p xmlns:a="http://schemas.openxmlformats.org/drawingml/2006/main">
            <a:r>
              <a:t>- Nansha OPC ecosystem public information. https://www.gzns.gov.cn/zwgk/rdzt/OPC/OPCYLS/content/post_10815933.html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db93aca65f4f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009fc72e034c2a" /><Relationship Type="http://schemas.openxmlformats.org/officeDocument/2006/relationships/slideLayout" Target="/ppt/slideLayouts/slideLayout1.xml" Id="R5c767a7e7b3e40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767a7e7b3e40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7d7b86ee534023" /><Relationship Type="http://schemas.openxmlformats.org/officeDocument/2006/relationships/image" Target="/ppt/media/image.jpeg" Id="Rc8f945712430427e" /><Relationship Type="http://schemas.openxmlformats.org/officeDocument/2006/relationships/notesSlide" Target="/ppt/notesSlides/notesSlide1.xml" Id="Rdc85bea3693342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cf00b2e35b4f0a" /><Relationship Type="http://schemas.openxmlformats.org/officeDocument/2006/relationships/notesSlide" Target="/ppt/notesSlides/notesSlide2.xml" Id="Rdb142bc55f8041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e012175034138" /><Relationship Type="http://schemas.openxmlformats.org/officeDocument/2006/relationships/image" Target="/ppt/media/image.png" Id="Rb534d73bef3a4b4a" /><Relationship Type="http://schemas.openxmlformats.org/officeDocument/2006/relationships/notesSlide" Target="/ppt/notesSlides/notesSlide3.xml" Id="R1d30544a2f5041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486039e184d3f" /><Relationship Type="http://schemas.openxmlformats.org/officeDocument/2006/relationships/image" Target="/ppt/media/image2.png" Id="R830a455d27ca4221" /><Relationship Type="http://schemas.openxmlformats.org/officeDocument/2006/relationships/image" Target="/ppt/media/image3.png" Id="R6d1a78625ba540eb" /><Relationship Type="http://schemas.openxmlformats.org/officeDocument/2006/relationships/image" Target="/ppt/media/image4.png" Id="R7db96b5c1bbb4dfb" /><Relationship Type="http://schemas.openxmlformats.org/officeDocument/2006/relationships/notesSlide" Target="/ppt/notesSlides/notesSlide4.xml" Id="Ra6f7790a199545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f90d0fa9734c2c" /><Relationship Type="http://schemas.openxmlformats.org/officeDocument/2006/relationships/image" Target="/ppt/media/image5.png" Id="Rcbf266ddff244aa1" /><Relationship Type="http://schemas.openxmlformats.org/officeDocument/2006/relationships/image" Target="/ppt/media/image6.png" Id="Rffa1f97d615a444c" /><Relationship Type="http://schemas.openxmlformats.org/officeDocument/2006/relationships/image" Target="/ppt/media/image7.png" Id="Rf418e60992ad4b4d" /><Relationship Type="http://schemas.openxmlformats.org/officeDocument/2006/relationships/notesSlide" Target="/ppt/notesSlides/notesSlide5.xml" Id="Raeb02166d9b648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d7d8d43f94e29" /><Relationship Type="http://schemas.openxmlformats.org/officeDocument/2006/relationships/notesSlide" Target="/ppt/notesSlides/notesSlide6.xml" Id="Rf35117eb431a42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3-1">
            <a:extLst xmlns:a="http://schemas.openxmlformats.org/drawingml/2006/main">
              <a:ext uri="{FF2B5EF4-FFF2-40B4-BE49-F238E27FC236}">
                <a16:creationId xmlns:a16="http://schemas.microsoft.com/office/drawing/2014/main" id="{A96492B1-5D3C-45F6-BBA7-DB5AAE10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609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4125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4125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把 AI 变成企业</a:t>
            </a:r>
          </a:p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4125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4125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真正能用的视觉内容团队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746F4624-1B28-401E-81B8-E705160E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619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从选模型、接任务、出图到协作修改，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建成一条不被单一模型绑死的内容生产线。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4B79E03-6909-4236-B26A-B1715B79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35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VULCA  /  企业视觉智能公司</a:t>
            </a:r>
          </a:p>
        </p:txBody>
      </p:sp>
      <p:sp>
        <p:nvSpPr>
          <p:cNvPr id="4" name="cover-accent-rule">
            <a:extLst xmlns:a="http://schemas.openxmlformats.org/drawingml/2006/main">
              <a:ext uri="{FF2B5EF4-FFF2-40B4-BE49-F238E27FC236}">
                <a16:creationId xmlns:a16="http://schemas.microsoft.com/office/drawing/2014/main" id="{9D039481-609D-4B94-92D0-B387101A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first-customer-panel">
            <a:extLst xmlns:a="http://schemas.openxmlformats.org/drawingml/2006/main">
              <a:ext uri="{FF2B5EF4-FFF2-40B4-BE49-F238E27FC236}">
                <a16:creationId xmlns:a16="http://schemas.microsoft.com/office/drawing/2014/main" id="{FC41BE4E-576D-43E8-B039-30B89734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57750"/>
            <a:ext cx="49339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AFCBFF"/>
            </a:solidFill>
            <a:prstDash val="solid"/>
          </a:ln>
        </p:spPr>
      </p:sp>
      <p:sp>
        <p:nvSpPr>
          <p:cNvPr id="6" name="cover-first-customer-label">
            <a:extLst xmlns:a="http://schemas.openxmlformats.org/drawingml/2006/main">
              <a:ext uri="{FF2B5EF4-FFF2-40B4-BE49-F238E27FC236}">
                <a16:creationId xmlns:a16="http://schemas.microsoft.com/office/drawing/2014/main" id="{AEA8BE6C-EBD2-440D-A72E-D85A1CA9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0577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当前产品入口</a:t>
            </a:r>
          </a:p>
        </p:txBody>
      </p:sp>
      <p:sp>
        <p:nvSpPr>
          <p:cNvPr id="7" name="cover-first-customer">
            <a:extLst xmlns:a="http://schemas.openxmlformats.org/drawingml/2006/main">
              <a:ext uri="{FF2B5EF4-FFF2-40B4-BE49-F238E27FC236}">
                <a16:creationId xmlns:a16="http://schemas.microsoft.com/office/drawing/2014/main" id="{9A8AAAF8-12F1-4828-86B5-EBC49873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391150"/>
            <a:ext cx="438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企业 AI 内容生产线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接任务 → 协作修改 → 记住采用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f945712430427e"/>
          <a:srcRect xmlns:a="http://schemas.openxmlformats.org/drawingml/2006/main" l="0" t="6000" r="0" b="16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990600"/>
            <a:ext cx="4933950" cy="3638550"/>
          </a:xfrm>
          <a:prstGeom xmlns:a="http://schemas.openxmlformats.org/drawingml/2006/main" prst="roundRect">
            <a:avLst>
              <a:gd name="adj" fmla="val 5236"/>
            </a:avLst>
          </a:prstGeom>
        </p:spPr>
      </p:pic>
    </p:spTree>
    <p:extLst>
      <p:ext uri="{BB962C8B-B14F-4D97-AF65-F5344CB8AC3E}">
        <p14:creationId xmlns:p14="http://schemas.microsoft.com/office/powerpoint/2010/main" val="19522686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eyebrow-2">
            <a:extLst xmlns:a="http://schemas.openxmlformats.org/drawingml/2006/main">
              <a:ext uri="{FF2B5EF4-FFF2-40B4-BE49-F238E27FC236}">
                <a16:creationId xmlns:a16="http://schemas.microsoft.com/office/drawing/2014/main" id="{EDC80EE0-B55F-44C8-AF02-79D90DDF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VULCA  /  企业视觉智能公司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31E781A8-C3FA-47D1-A1D4-DEF8490B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企业被卡在 AI 的两端：不会用，或用了却无法规模化</a:t>
            </a:r>
          </a:p>
        </p:txBody>
      </p:sp>
      <p:sp>
        <p:nvSpPr>
          <p:cNvPr id="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0B8DACBE-3A08-45EC-A5EF-0DA5E55B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EEBEBF16-E888-4B90-BC16-CF77AB36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579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5" name="problem-arrow-1">
            <a:extLst xmlns:a="http://schemas.openxmlformats.org/drawingml/2006/main">
              <a:ext uri="{FF2B5EF4-FFF2-40B4-BE49-F238E27FC236}">
                <a16:creationId xmlns:a16="http://schemas.microsoft.com/office/drawing/2014/main" id="{AFBE6E2E-E9AF-4B24-A9CA-24371BCC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819400"/>
            <a:ext cx="209550" cy="228600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problem-arrow-2">
            <a:extLst xmlns:a="http://schemas.openxmlformats.org/drawingml/2006/main">
              <a:ext uri="{FF2B5EF4-FFF2-40B4-BE49-F238E27FC236}">
                <a16:creationId xmlns:a16="http://schemas.microsoft.com/office/drawing/2014/main" id="{5146359D-8834-4971-A1B9-66115F6A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19400"/>
            <a:ext cx="209550" cy="228600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problem-arrow-3">
            <a:extLst xmlns:a="http://schemas.openxmlformats.org/drawingml/2006/main">
              <a:ext uri="{FF2B5EF4-FFF2-40B4-BE49-F238E27FC236}">
                <a16:creationId xmlns:a16="http://schemas.microsoft.com/office/drawing/2014/main" id="{89730037-E7C3-40BD-819A-CB0A0149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19400"/>
            <a:ext cx="209550" cy="228600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problem-arrow-4">
            <a:extLst xmlns:a="http://schemas.openxmlformats.org/drawingml/2006/main">
              <a:ext uri="{FF2B5EF4-FFF2-40B4-BE49-F238E27FC236}">
                <a16:creationId xmlns:a16="http://schemas.microsoft.com/office/drawing/2014/main" id="{1C6AE048-6E8D-4589-9609-9D6FC071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19400"/>
            <a:ext cx="209550" cy="228600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problem-arrow-5">
            <a:extLst xmlns:a="http://schemas.openxmlformats.org/drawingml/2006/main">
              <a:ext uri="{FF2B5EF4-FFF2-40B4-BE49-F238E27FC236}">
                <a16:creationId xmlns:a16="http://schemas.microsoft.com/office/drawing/2014/main" id="{8BE0BB40-DAFA-415A-ACB5-7AFD7FA0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19400"/>
            <a:ext cx="209550" cy="228600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problem-card-01">
            <a:extLst xmlns:a="http://schemas.openxmlformats.org/drawingml/2006/main">
              <a:ext uri="{FF2B5EF4-FFF2-40B4-BE49-F238E27FC236}">
                <a16:creationId xmlns:a16="http://schemas.microsoft.com/office/drawing/2014/main" id="{E67F7437-9FFF-40C5-8928-9A7D90D7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5391150" cy="25908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E"/>
            </a:solidFill>
            <a:prstDash val="solid"/>
          </a:ln>
        </p:spPr>
      </p:sp>
      <p:sp>
        <p:nvSpPr>
          <p:cNvPr id="11" name="problem-number-01">
            <a:extLst xmlns:a="http://schemas.openxmlformats.org/drawingml/2006/main">
              <a:ext uri="{FF2B5EF4-FFF2-40B4-BE49-F238E27FC236}">
                <a16:creationId xmlns:a16="http://schemas.microsoft.com/office/drawing/2014/main" id="{D9F4A155-4C77-477C-B147-A96DABE4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还没用上</a:t>
            </a:r>
          </a:p>
        </p:txBody>
      </p:sp>
      <p:sp>
        <p:nvSpPr>
          <p:cNvPr id="12" name="problem-title-01">
            <a:extLst xmlns:a="http://schemas.openxmlformats.org/drawingml/2006/main">
              <a:ext uri="{FF2B5EF4-FFF2-40B4-BE49-F238E27FC236}">
                <a16:creationId xmlns:a16="http://schemas.microsoft.com/office/drawing/2014/main" id="{12695C17-F2D5-4F74-A407-36A884C9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不知道从哪个场景开始</a:t>
            </a:r>
          </a:p>
        </p:txBody>
      </p:sp>
      <p:sp>
        <p:nvSpPr>
          <p:cNvPr id="13" name="problem-body-01">
            <a:extLst xmlns:a="http://schemas.openxmlformats.org/drawingml/2006/main">
              <a:ext uri="{FF2B5EF4-FFF2-40B4-BE49-F238E27FC236}">
                <a16:creationId xmlns:a16="http://schemas.microsoft.com/office/drawing/2014/main" id="{AE28D1C3-121D-4354-9C3A-DABB6B6F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选什么模型？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改造哪段业务？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如何接进现有团队？</a:t>
            </a:r>
          </a:p>
        </p:txBody>
      </p:sp>
      <p:sp>
        <p:nvSpPr>
          <p:cNvPr id="14" name="problem-card-02">
            <a:extLst xmlns:a="http://schemas.openxmlformats.org/drawingml/2006/main">
              <a:ext uri="{FF2B5EF4-FFF2-40B4-BE49-F238E27FC236}">
                <a16:creationId xmlns:a16="http://schemas.microsoft.com/office/drawing/2014/main" id="{D2424645-FC2A-4DF6-AACF-A2F9B0DA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62100"/>
            <a:ext cx="5791200" cy="25908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EFECE6"/>
          </a:solidFill>
          <a:ln xmlns:a="http://schemas.openxmlformats.org/drawingml/2006/main" w="9525">
            <a:solidFill>
              <a:srgbClr val="D8D5CE"/>
            </a:solidFill>
            <a:prstDash val="solid"/>
          </a:ln>
        </p:spPr>
      </p:sp>
      <p:sp>
        <p:nvSpPr>
          <p:cNvPr id="15" name="problem-number-02">
            <a:extLst xmlns:a="http://schemas.openxmlformats.org/drawingml/2006/main">
              <a:ext uri="{FF2B5EF4-FFF2-40B4-BE49-F238E27FC236}">
                <a16:creationId xmlns:a16="http://schemas.microsoft.com/office/drawing/2014/main" id="{795042DC-2E7A-41E9-A3A0-A5003976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已经用上</a:t>
            </a:r>
          </a:p>
        </p:txBody>
      </p:sp>
      <p:sp>
        <p:nvSpPr>
          <p:cNvPr id="16" name="problem-title-02">
            <a:extLst xmlns:a="http://schemas.openxmlformats.org/drawingml/2006/main">
              <a:ext uri="{FF2B5EF4-FFF2-40B4-BE49-F238E27FC236}">
                <a16:creationId xmlns:a16="http://schemas.microsoft.com/office/drawing/2014/main" id="{268FC771-6882-4566-A6BF-1A989BEF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模型越强，迁移越贵</a:t>
            </a:r>
          </a:p>
        </p:txBody>
      </p:sp>
      <p:sp>
        <p:nvSpPr>
          <p:cNvPr id="17" name="problem-body-02">
            <a:extLst xmlns:a="http://schemas.openxmlformats.org/drawingml/2006/main">
              <a:ext uri="{FF2B5EF4-FFF2-40B4-BE49-F238E27FC236}">
                <a16:creationId xmlns:a16="http://schemas.microsoft.com/office/drawing/2014/main" id="{F1D1AE0E-4E3C-4939-BF1D-26889C4C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194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反馈散在聊天与文件里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流程难以规模化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换模型时经验经常重做</a:t>
            </a:r>
          </a:p>
        </p:txBody>
      </p:sp>
      <p:sp>
        <p:nvSpPr>
          <p:cNvPr id="18" name="problem-card-03">
            <a:extLst xmlns:a="http://schemas.openxmlformats.org/drawingml/2006/main">
              <a:ext uri="{FF2B5EF4-FFF2-40B4-BE49-F238E27FC236}">
                <a16:creationId xmlns:a16="http://schemas.microsoft.com/office/drawing/2014/main" id="{D882D7C7-7572-41B6-B4FB-F8B979F8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problem-number-03">
            <a:extLst xmlns:a="http://schemas.openxmlformats.org/drawingml/2006/main">
              <a:ext uri="{FF2B5EF4-FFF2-40B4-BE49-F238E27FC236}">
                <a16:creationId xmlns:a16="http://schemas.microsoft.com/office/drawing/2014/main" id="{25AEB4F8-5C06-4D52-BD68-7F409388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AI 已采用</a:t>
            </a:r>
          </a:p>
        </p:txBody>
      </p:sp>
      <p:sp>
        <p:nvSpPr>
          <p:cNvPr id="20" name="problem-title-03">
            <a:extLst xmlns:a="http://schemas.openxmlformats.org/drawingml/2006/main">
              <a:ext uri="{FF2B5EF4-FFF2-40B4-BE49-F238E27FC236}">
                <a16:creationId xmlns:a16="http://schemas.microsoft.com/office/drawing/2014/main" id="{E07CD8DD-1679-4649-9C11-CE7C4E8D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92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88%</a:t>
            </a:r>
          </a:p>
        </p:txBody>
      </p:sp>
      <p:sp>
        <p:nvSpPr>
          <p:cNvPr id="21" name="problem-body-03">
            <a:extLst xmlns:a="http://schemas.openxmlformats.org/drawingml/2006/main">
              <a:ext uri="{FF2B5EF4-FFF2-40B4-BE49-F238E27FC236}">
                <a16:creationId xmlns:a16="http://schemas.microsoft.com/office/drawing/2014/main" id="{2E2EC799-2ED9-45D2-AC0C-93D09AF8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911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至少一个职能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常态使用 AI</a:t>
            </a:r>
          </a:p>
        </p:txBody>
      </p:sp>
      <p:sp>
        <p:nvSpPr>
          <p:cNvPr id="22" name="problem-card-04">
            <a:extLst xmlns:a="http://schemas.openxmlformats.org/drawingml/2006/main">
              <a:ext uri="{FF2B5EF4-FFF2-40B4-BE49-F238E27FC236}">
                <a16:creationId xmlns:a16="http://schemas.microsoft.com/office/drawing/2014/main" id="{2E66F1ED-1966-41DE-9BF7-9CD2DE58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problem-number-04">
            <a:extLst xmlns:a="http://schemas.openxmlformats.org/drawingml/2006/main">
              <a:ext uri="{FF2B5EF4-FFF2-40B4-BE49-F238E27FC236}">
                <a16:creationId xmlns:a16="http://schemas.microsoft.com/office/drawing/2014/main" id="{03E6F693-C315-4F2E-B0D2-E9556DD6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7625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仍难规模化</a:t>
            </a:r>
          </a:p>
        </p:txBody>
      </p:sp>
      <p:sp>
        <p:nvSpPr>
          <p:cNvPr id="24" name="problem-title-04">
            <a:extLst xmlns:a="http://schemas.openxmlformats.org/drawingml/2006/main">
              <a:ext uri="{FF2B5EF4-FFF2-40B4-BE49-F238E27FC236}">
                <a16:creationId xmlns:a16="http://schemas.microsoft.com/office/drawing/2014/main" id="{3240C053-45B0-4125-A034-87B27323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0292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≈1/3</a:t>
            </a:r>
          </a:p>
        </p:txBody>
      </p:sp>
      <p:sp>
        <p:nvSpPr>
          <p:cNvPr id="25" name="problem-body-04">
            <a:extLst xmlns:a="http://schemas.openxmlformats.org/drawingml/2006/main">
              <a:ext uri="{FF2B5EF4-FFF2-40B4-BE49-F238E27FC236}">
                <a16:creationId xmlns:a16="http://schemas.microsoft.com/office/drawing/2014/main" id="{A22E207A-98E0-405E-AFC0-FD8363F2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9911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开始规模化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AI 项目</a:t>
            </a:r>
          </a:p>
        </p:txBody>
      </p:sp>
      <p:sp>
        <p:nvSpPr>
          <p:cNvPr id="26" name="problem-card-05">
            <a:extLst xmlns:a="http://schemas.openxmlformats.org/drawingml/2006/main">
              <a:ext uri="{FF2B5EF4-FFF2-40B4-BE49-F238E27FC236}">
                <a16:creationId xmlns:a16="http://schemas.microsoft.com/office/drawing/2014/main" id="{8E1711D1-7814-4671-8A80-3C65EA9B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problem-number-05">
            <a:extLst xmlns:a="http://schemas.openxmlformats.org/drawingml/2006/main">
              <a:ext uri="{FF2B5EF4-FFF2-40B4-BE49-F238E27FC236}">
                <a16:creationId xmlns:a16="http://schemas.microsoft.com/office/drawing/2014/main" id="{236372BC-20C2-408D-9F1B-8DEDBF23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7625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内容压力</a:t>
            </a:r>
          </a:p>
        </p:txBody>
      </p:sp>
      <p:sp>
        <p:nvSpPr>
          <p:cNvPr id="28" name="problem-title-05">
            <a:extLst xmlns:a="http://schemas.openxmlformats.org/drawingml/2006/main">
              <a:ext uri="{FF2B5EF4-FFF2-40B4-BE49-F238E27FC236}">
                <a16:creationId xmlns:a16="http://schemas.microsoft.com/office/drawing/2014/main" id="{53A2CEA4-F3E8-4048-BC49-2EF54886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0292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96%</a:t>
            </a:r>
          </a:p>
        </p:txBody>
      </p:sp>
      <p:sp>
        <p:nvSpPr>
          <p:cNvPr id="29" name="problem-body-05">
            <a:extLst xmlns:a="http://schemas.openxmlformats.org/drawingml/2006/main">
              <a:ext uri="{FF2B5EF4-FFF2-40B4-BE49-F238E27FC236}">
                <a16:creationId xmlns:a16="http://schemas.microsoft.com/office/drawing/2014/main" id="{B856A33B-0EB3-4D56-B446-BF2CE3A5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9911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称内容需求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至少翻倍</a:t>
            </a:r>
          </a:p>
        </p:txBody>
      </p:sp>
      <p:sp>
        <p:nvSpPr>
          <p:cNvPr id="30" name="problem-card-06">
            <a:extLst xmlns:a="http://schemas.openxmlformats.org/drawingml/2006/main">
              <a:ext uri="{FF2B5EF4-FFF2-40B4-BE49-F238E27FC236}">
                <a16:creationId xmlns:a16="http://schemas.microsoft.com/office/drawing/2014/main" id="{8DB2FEA2-AA46-4C77-9328-02D2AD73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problem-number-06">
            <a:extLst xmlns:a="http://schemas.openxmlformats.org/drawingml/2006/main">
              <a:ext uri="{FF2B5EF4-FFF2-40B4-BE49-F238E27FC236}">
                <a16:creationId xmlns:a16="http://schemas.microsoft.com/office/drawing/2014/main" id="{8A03D233-81E7-4CEB-BD8C-C8D3C22F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32" name="problem-title-06">
            <a:extLst xmlns:a="http://schemas.openxmlformats.org/drawingml/2006/main">
              <a:ext uri="{FF2B5EF4-FFF2-40B4-BE49-F238E27FC236}">
                <a16:creationId xmlns:a16="http://schemas.microsoft.com/office/drawing/2014/main" id="{FE26F51C-E6C0-4FDA-89D6-6285C587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33" name="problem-body-06">
            <a:extLst xmlns:a="http://schemas.openxmlformats.org/drawingml/2006/main">
              <a:ext uri="{FF2B5EF4-FFF2-40B4-BE49-F238E27FC236}">
                <a16:creationId xmlns:a16="http://schemas.microsoft.com/office/drawing/2014/main" id="{9187A1C8-78CF-4A3D-8474-B425A09E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01980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6938C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6938C"/>
                </a:solidFill>
                <a:latin typeface="PingFang SC"/>
                <a:ea typeface="PingFang SC"/>
                <a:cs typeface="PingFang SC"/>
              </a:rPr>
              <a:t>来源：McKinsey 2025；Adobe 2025</a:t>
            </a:r>
          </a:p>
        </p:txBody>
      </p:sp>
      <p:sp>
        <p:nvSpPr>
          <p:cNvPr id="34" name="model-upgrade-reset">
            <a:extLst xmlns:a="http://schemas.openxmlformats.org/drawingml/2006/main">
              <a:ext uri="{FF2B5EF4-FFF2-40B4-BE49-F238E27FC236}">
                <a16:creationId xmlns:a16="http://schemas.microsoft.com/office/drawing/2014/main" id="{E32D7375-E423-4E83-8F5D-54D10D68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905250"/>
            <a:ext cx="5867400" cy="6286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769F6"/>
          </a:solidFill>
          <a:ln xmlns:a="http://schemas.openxmlformats.org/drawingml/2006/main" w="9525">
            <a:solidFill>
              <a:srgbClr val="1769F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model-upgrade-reset-text">
            <a:extLst xmlns:a="http://schemas.openxmlformats.org/drawingml/2006/main">
              <a:ext uri="{FF2B5EF4-FFF2-40B4-BE49-F238E27FC236}">
                <a16:creationId xmlns:a16="http://schemas.microsoft.com/office/drawing/2014/main" id="{E0BD219B-40D0-4B10-A5A6-18932554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8622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共同缺口：跨模型、可复用的企业生产系统</a:t>
            </a:r>
          </a:p>
        </p:txBody>
      </p:sp>
      <p:sp>
        <p:nvSpPr>
          <p:cNvPr id="36" name="business-cost-label">
            <a:extLst xmlns:a="http://schemas.openxmlformats.org/drawingml/2006/main">
              <a:ext uri="{FF2B5EF4-FFF2-40B4-BE49-F238E27FC236}">
                <a16:creationId xmlns:a16="http://schemas.microsoft.com/office/drawing/2014/main" id="{681C0783-DF09-40E4-B5B2-DC129A7A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首个商业切入口</a:t>
            </a:r>
          </a:p>
        </p:txBody>
      </p:sp>
      <p:sp>
        <p:nvSpPr>
          <p:cNvPr id="37" name="business-costs">
            <a:extLst xmlns:a="http://schemas.openxmlformats.org/drawingml/2006/main">
              <a:ext uri="{FF2B5EF4-FFF2-40B4-BE49-F238E27FC236}">
                <a16:creationId xmlns:a16="http://schemas.microsoft.com/office/drawing/2014/main" id="{4042654F-7973-4F6F-89C9-DC8CF939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67690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多品牌创意 / 本地化 / 跨境营销服务商</a:t>
            </a:r>
          </a:p>
        </p:txBody>
      </p:sp>
      <p:sp>
        <p:nvSpPr>
          <p:cNvPr id="38" name="problem-conclusion">
            <a:extLst xmlns:a="http://schemas.openxmlformats.org/drawingml/2006/main">
              <a:ext uri="{FF2B5EF4-FFF2-40B4-BE49-F238E27FC236}">
                <a16:creationId xmlns:a16="http://schemas.microsoft.com/office/drawing/2014/main" id="{977E12C0-3361-4DE1-B7A5-D07B649E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0007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上接模型与工具，下接终端品牌；多品牌、多市场、多模型的返工与迁移成本最集中。</a:t>
            </a:r>
          </a:p>
        </p:txBody>
      </p:sp>
    </p:spTree>
    <p:extLst>
      <p:ext uri="{BB962C8B-B14F-4D97-AF65-F5344CB8AC3E}">
        <p14:creationId xmlns:p14="http://schemas.microsoft.com/office/powerpoint/2010/main" val="13487037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eyebrow-2">
            <a:extLst xmlns:a="http://schemas.openxmlformats.org/drawingml/2006/main">
              <a:ext uri="{FF2B5EF4-FFF2-40B4-BE49-F238E27FC236}">
                <a16:creationId xmlns:a16="http://schemas.microsoft.com/office/drawing/2014/main" id="{EDC80EE0-B55F-44C8-AF02-79D90DDF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VULCA  /  公开美妆品牌场景（非客户合作）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31E781A8-C3FA-47D1-A1D4-DEF8490B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一张美妆 campaign，要经过多少步才能真正上线？</a:t>
            </a:r>
          </a:p>
        </p:txBody>
      </p:sp>
      <p:sp>
        <p:nvSpPr>
          <p:cNvPr id="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0B8DACBE-3A08-45EC-A5EF-0DA5E55B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EEBEBF16-E888-4B90-BC16-CF77AB36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579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5" name="problem-arrow-1">
            <a:extLst xmlns:a="http://schemas.openxmlformats.org/drawingml/2006/main">
              <a:ext uri="{FF2B5EF4-FFF2-40B4-BE49-F238E27FC236}">
                <a16:creationId xmlns:a16="http://schemas.microsoft.com/office/drawing/2014/main" id="{AFBE6E2E-E9AF-4B24-A9CA-24371BCC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819400"/>
            <a:ext cx="209550" cy="228600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problem-arrow-2">
            <a:extLst xmlns:a="http://schemas.openxmlformats.org/drawingml/2006/main">
              <a:ext uri="{FF2B5EF4-FFF2-40B4-BE49-F238E27FC236}">
                <a16:creationId xmlns:a16="http://schemas.microsoft.com/office/drawing/2014/main" id="{5146359D-8834-4971-A1B9-66115F6A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19400"/>
            <a:ext cx="209550" cy="228600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problem-arrow-3">
            <a:extLst xmlns:a="http://schemas.openxmlformats.org/drawingml/2006/main">
              <a:ext uri="{FF2B5EF4-FFF2-40B4-BE49-F238E27FC236}">
                <a16:creationId xmlns:a16="http://schemas.microsoft.com/office/drawing/2014/main" id="{89730037-E7C3-40BD-819A-CB0A0149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19400"/>
            <a:ext cx="209550" cy="228600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problem-arrow-4">
            <a:extLst xmlns:a="http://schemas.openxmlformats.org/drawingml/2006/main">
              <a:ext uri="{FF2B5EF4-FFF2-40B4-BE49-F238E27FC236}">
                <a16:creationId xmlns:a16="http://schemas.microsoft.com/office/drawing/2014/main" id="{1C6AE048-6E8D-4589-9609-9D6FC071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19400"/>
            <a:ext cx="209550" cy="228600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problem-arrow-5">
            <a:extLst xmlns:a="http://schemas.openxmlformats.org/drawingml/2006/main">
              <a:ext uri="{FF2B5EF4-FFF2-40B4-BE49-F238E27FC236}">
                <a16:creationId xmlns:a16="http://schemas.microsoft.com/office/drawing/2014/main" id="{8BE0BB40-DAFA-415A-ACB5-7AFD7FA0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19400"/>
            <a:ext cx="209550" cy="228600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problem-card-01">
            <a:extLst xmlns:a="http://schemas.openxmlformats.org/drawingml/2006/main">
              <a:ext uri="{FF2B5EF4-FFF2-40B4-BE49-F238E27FC236}">
                <a16:creationId xmlns:a16="http://schemas.microsoft.com/office/drawing/2014/main" id="{E67F7437-9FFF-40C5-8928-9A7D90D7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7429500" cy="34290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E"/>
            </a:solidFill>
            <a:prstDash val="solid"/>
          </a:ln>
        </p:spPr>
      </p:sp>
      <p:sp>
        <p:nvSpPr>
          <p:cNvPr id="11" name="problem-number-01">
            <a:extLst xmlns:a="http://schemas.openxmlformats.org/drawingml/2006/main">
              <a:ext uri="{FF2B5EF4-FFF2-40B4-BE49-F238E27FC236}">
                <a16:creationId xmlns:a16="http://schemas.microsoft.com/office/drawing/2014/main" id="{D9F4A155-4C77-477C-B147-A96DABE4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12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2" name="problem-title-01">
            <a:extLst xmlns:a="http://schemas.openxmlformats.org/drawingml/2006/main">
              <a:ext uri="{FF2B5EF4-FFF2-40B4-BE49-F238E27FC236}">
                <a16:creationId xmlns:a16="http://schemas.microsoft.com/office/drawing/2014/main" id="{12695C17-F2D5-4F74-A407-36A884C9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8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3" name="problem-body-01">
            <a:extLst xmlns:a="http://schemas.openxmlformats.org/drawingml/2006/main">
              <a:ext uri="{FF2B5EF4-FFF2-40B4-BE49-F238E27FC236}">
                <a16:creationId xmlns:a16="http://schemas.microsoft.com/office/drawing/2014/main" id="{AE28D1C3-121D-4354-9C3A-DABB6B6F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4" name="problem-card-02">
            <a:extLst xmlns:a="http://schemas.openxmlformats.org/drawingml/2006/main">
              <a:ext uri="{FF2B5EF4-FFF2-40B4-BE49-F238E27FC236}">
                <a16:creationId xmlns:a16="http://schemas.microsoft.com/office/drawing/2014/main" id="{D2424645-FC2A-4DF6-AACF-A2F9B0DA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428750"/>
            <a:ext cx="3733800" cy="34290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AFCBFF"/>
            </a:solidFill>
            <a:prstDash val="solid"/>
          </a:ln>
        </p:spPr>
      </p:sp>
      <p:sp>
        <p:nvSpPr>
          <p:cNvPr id="15" name="problem-number-02">
            <a:extLst xmlns:a="http://schemas.openxmlformats.org/drawingml/2006/main">
              <a:ext uri="{FF2B5EF4-FFF2-40B4-BE49-F238E27FC236}">
                <a16:creationId xmlns:a16="http://schemas.microsoft.com/office/drawing/2014/main" id="{795042DC-2E7A-41E9-A3A0-A5003976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已完成本地验证</a:t>
            </a:r>
          </a:p>
        </p:txBody>
      </p:sp>
      <p:sp>
        <p:nvSpPr>
          <p:cNvPr id="16" name="problem-title-02">
            <a:extLst xmlns:a="http://schemas.openxmlformats.org/drawingml/2006/main">
              <a:ext uri="{FF2B5EF4-FFF2-40B4-BE49-F238E27FC236}">
                <a16:creationId xmlns:a16="http://schemas.microsoft.com/office/drawing/2014/main" id="{268FC771-6882-4566-A6BF-1A989BEF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431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把公开物料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变成执行清单</a:t>
            </a:r>
          </a:p>
        </p:txBody>
      </p:sp>
      <p:sp>
        <p:nvSpPr>
          <p:cNvPr id="17" name="problem-body-02">
            <a:extLst xmlns:a="http://schemas.openxmlformats.org/drawingml/2006/main">
              <a:ext uri="{FF2B5EF4-FFF2-40B4-BE49-F238E27FC236}">
                <a16:creationId xmlns:a16="http://schemas.microsoft.com/office/drawing/2014/main" id="{F1D1AE0E-4E3C-4939-BF1D-26889C4C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479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识别产品、渠道、促销、人物与复用要求，并明确该由谁确认。</a:t>
            </a:r>
          </a:p>
        </p:txBody>
      </p:sp>
      <p:sp>
        <p:nvSpPr>
          <p:cNvPr id="18" name="problem-card-03">
            <a:extLst xmlns:a="http://schemas.openxmlformats.org/drawingml/2006/main">
              <a:ext uri="{FF2B5EF4-FFF2-40B4-BE49-F238E27FC236}">
                <a16:creationId xmlns:a16="http://schemas.microsoft.com/office/drawing/2014/main" id="{D882D7C7-7572-41B6-B4FB-F8B979F8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57550"/>
            <a:ext cx="32766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F5"/>
            </a:solidFill>
            <a:prstDash val="solid"/>
          </a:ln>
        </p:spPr>
      </p:sp>
      <p:sp>
        <p:nvSpPr>
          <p:cNvPr id="19" name="problem-number-03">
            <a:extLst xmlns:a="http://schemas.openxmlformats.org/drawingml/2006/main">
              <a:ext uri="{FF2B5EF4-FFF2-40B4-BE49-F238E27FC236}">
                <a16:creationId xmlns:a16="http://schemas.microsoft.com/office/drawing/2014/main" id="{25AEB4F8-5C06-4D52-BD68-7F409388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6232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现有产品基础</a:t>
            </a:r>
          </a:p>
        </p:txBody>
      </p:sp>
      <p:sp>
        <p:nvSpPr>
          <p:cNvPr id="20" name="problem-title-03">
            <a:extLst xmlns:a="http://schemas.openxmlformats.org/drawingml/2006/main">
              <a:ext uri="{FF2B5EF4-FFF2-40B4-BE49-F238E27FC236}">
                <a16:creationId xmlns:a16="http://schemas.microsoft.com/office/drawing/2014/main" id="{E07CD8DD-1679-4649-9C11-CE7C4E8D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62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6 类字段 + 审核问题 + 负责人</a:t>
            </a:r>
          </a:p>
        </p:txBody>
      </p:sp>
      <p:sp>
        <p:nvSpPr>
          <p:cNvPr id="21" name="problem-body-03">
            <a:extLst xmlns:a="http://schemas.openxmlformats.org/drawingml/2006/main">
              <a:ext uri="{FF2B5EF4-FFF2-40B4-BE49-F238E27FC236}">
                <a16:creationId xmlns:a16="http://schemas.microsoft.com/office/drawing/2014/main" id="{2E2EC799-2ED9-45D2-AC0C-93D09AF8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909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把“看图意见”变成团队可以继续执行的记录</a:t>
            </a:r>
          </a:p>
        </p:txBody>
      </p:sp>
      <p:sp>
        <p:nvSpPr>
          <p:cNvPr id="22" name="problem-card-04">
            <a:extLst xmlns:a="http://schemas.openxmlformats.org/drawingml/2006/main">
              <a:ext uri="{FF2B5EF4-FFF2-40B4-BE49-F238E27FC236}">
                <a16:creationId xmlns:a16="http://schemas.microsoft.com/office/drawing/2014/main" id="{2E66F1ED-1966-41DE-9BF7-9CD2DE58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57650"/>
            <a:ext cx="3276600" cy="6096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F5"/>
            </a:solidFill>
            <a:prstDash val="solid"/>
          </a:ln>
        </p:spPr>
      </p:sp>
      <p:sp>
        <p:nvSpPr>
          <p:cNvPr id="23" name="problem-number-04">
            <a:extLst xmlns:a="http://schemas.openxmlformats.org/drawingml/2006/main">
              <a:ext uri="{FF2B5EF4-FFF2-40B4-BE49-F238E27FC236}">
                <a16:creationId xmlns:a16="http://schemas.microsoft.com/office/drawing/2014/main" id="{03E6F693-C315-4F2E-B0D2-E9556DD6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624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下一步企业试点</a:t>
            </a:r>
          </a:p>
        </p:txBody>
      </p:sp>
      <p:sp>
        <p:nvSpPr>
          <p:cNvPr id="24" name="problem-title-04">
            <a:extLst xmlns:a="http://schemas.openxmlformats.org/drawingml/2006/main">
              <a:ext uri="{FF2B5EF4-FFF2-40B4-BE49-F238E27FC236}">
                <a16:creationId xmlns:a16="http://schemas.microsoft.com/office/drawing/2014/main" id="{3240C053-45B0-4125-A034-87B27323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62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接 brief → 生成 → 修改 → 交付</a:t>
            </a:r>
          </a:p>
        </p:txBody>
      </p:sp>
      <p:sp>
        <p:nvSpPr>
          <p:cNvPr id="25" name="problem-body-04">
            <a:extLst xmlns:a="http://schemas.openxmlformats.org/drawingml/2006/main">
              <a:ext uri="{FF2B5EF4-FFF2-40B4-BE49-F238E27FC236}">
                <a16:creationId xmlns:a16="http://schemas.microsoft.com/office/drawing/2014/main" id="{A22E207A-98E0-405E-AFC0-FD8363F2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72000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采用、退回、多渠道版本与效果指标进入同一流程</a:t>
            </a:r>
          </a:p>
        </p:txBody>
      </p:sp>
      <p:sp>
        <p:nvSpPr>
          <p:cNvPr id="26" name="problem-card-05">
            <a:extLst xmlns:a="http://schemas.openxmlformats.org/drawingml/2006/main">
              <a:ext uri="{FF2B5EF4-FFF2-40B4-BE49-F238E27FC236}">
                <a16:creationId xmlns:a16="http://schemas.microsoft.com/office/drawing/2014/main" id="{8E1711D1-7814-4671-8A80-3C65EA9B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problem-number-05">
            <a:extLst xmlns:a="http://schemas.openxmlformats.org/drawingml/2006/main">
              <a:ext uri="{FF2B5EF4-FFF2-40B4-BE49-F238E27FC236}">
                <a16:creationId xmlns:a16="http://schemas.microsoft.com/office/drawing/2014/main" id="{236372BC-20C2-408D-9F1B-8DEDBF23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28" name="problem-title-05">
            <a:extLst xmlns:a="http://schemas.openxmlformats.org/drawingml/2006/main">
              <a:ext uri="{FF2B5EF4-FFF2-40B4-BE49-F238E27FC236}">
                <a16:creationId xmlns:a16="http://schemas.microsoft.com/office/drawing/2014/main" id="{53A2CEA4-F3E8-4048-BC49-2EF54886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29" name="problem-body-05">
            <a:extLst xmlns:a="http://schemas.openxmlformats.org/drawingml/2006/main">
              <a:ext uri="{FF2B5EF4-FFF2-40B4-BE49-F238E27FC236}">
                <a16:creationId xmlns:a16="http://schemas.microsoft.com/office/drawing/2014/main" id="{B856A33B-0EB3-4D56-B446-BF2CE3A5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30" name="problem-card-06">
            <a:extLst xmlns:a="http://schemas.openxmlformats.org/drawingml/2006/main">
              <a:ext uri="{FF2B5EF4-FFF2-40B4-BE49-F238E27FC236}">
                <a16:creationId xmlns:a16="http://schemas.microsoft.com/office/drawing/2014/main" id="{8DB2FEA2-AA46-4C77-9328-02D2AD73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problem-number-06">
            <a:extLst xmlns:a="http://schemas.openxmlformats.org/drawingml/2006/main">
              <a:ext uri="{FF2B5EF4-FFF2-40B4-BE49-F238E27FC236}">
                <a16:creationId xmlns:a16="http://schemas.microsoft.com/office/drawing/2014/main" id="{8A03D233-81E7-4CEB-BD8C-C8D3C22F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812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32" name="problem-title-06">
            <a:extLst xmlns:a="http://schemas.openxmlformats.org/drawingml/2006/main">
              <a:ext uri="{FF2B5EF4-FFF2-40B4-BE49-F238E27FC236}">
                <a16:creationId xmlns:a16="http://schemas.microsoft.com/office/drawing/2014/main" id="{FE26F51C-E6C0-4FDA-89D6-6285C587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38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33" name="problem-body-06">
            <a:extLst xmlns:a="http://schemas.openxmlformats.org/drawingml/2006/main">
              <a:ext uri="{FF2B5EF4-FFF2-40B4-BE49-F238E27FC236}">
                <a16:creationId xmlns:a16="http://schemas.microsoft.com/office/drawing/2014/main" id="{9187A1C8-78CF-4A3D-8474-B425A09E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527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34" name="model-upgrade-reset">
            <a:extLst xmlns:a="http://schemas.openxmlformats.org/drawingml/2006/main">
              <a:ext uri="{FF2B5EF4-FFF2-40B4-BE49-F238E27FC236}">
                <a16:creationId xmlns:a16="http://schemas.microsoft.com/office/drawing/2014/main" id="{E32D7375-E423-4E83-8F5D-54D10D68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86350"/>
            <a:ext cx="113919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11C19"/>
          </a:solidFill>
          <a:ln xmlns:a="http://schemas.openxmlformats.org/drawingml/2006/main" w="9525">
            <a:solidFill>
              <a:srgbClr val="211C19"/>
            </a:solidFill>
            <a:prstDash val="solid"/>
          </a:ln>
        </p:spPr>
      </p:sp>
      <p:sp>
        <p:nvSpPr>
          <p:cNvPr id="35" name="model-upgrade-reset-text">
            <a:extLst xmlns:a="http://schemas.openxmlformats.org/drawingml/2006/main">
              <a:ext uri="{FF2B5EF4-FFF2-40B4-BE49-F238E27FC236}">
                <a16:creationId xmlns:a16="http://schemas.microsoft.com/office/drawing/2014/main" id="{E0BD219B-40D0-4B10-A5A6-18932554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48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企业给目标、品牌判断与授权；VULCA 组织模型、执行修改、记录采用。</a:t>
            </a:r>
          </a:p>
        </p:txBody>
      </p:sp>
      <p:sp>
        <p:nvSpPr>
          <p:cNvPr id="36" name="business-cost-label">
            <a:extLst xmlns:a="http://schemas.openxmlformats.org/drawingml/2006/main">
              <a:ext uri="{FF2B5EF4-FFF2-40B4-BE49-F238E27FC236}">
                <a16:creationId xmlns:a16="http://schemas.microsoft.com/office/drawing/2014/main" id="{681C0783-DF09-40E4-B5B2-DC129A7A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企业试点怎么衡量</a:t>
            </a:r>
          </a:p>
        </p:txBody>
      </p:sp>
      <p:sp>
        <p:nvSpPr>
          <p:cNvPr id="37" name="business-costs">
            <a:extLst xmlns:a="http://schemas.openxmlformats.org/drawingml/2006/main">
              <a:ext uri="{FF2B5EF4-FFF2-40B4-BE49-F238E27FC236}">
                <a16:creationId xmlns:a16="http://schemas.microsoft.com/office/drawing/2014/main" id="{4042654F-7973-4F6F-89C9-DC8CF939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816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首个获批时间 / 修改轮次 / 单个获批素材成本 / 换模人时</a:t>
            </a:r>
          </a:p>
        </p:txBody>
      </p:sp>
      <p:sp>
        <p:nvSpPr>
          <p:cNvPr id="38" name="problem-conclusion">
            <a:extLst xmlns:a="http://schemas.openxmlformats.org/drawingml/2006/main">
              <a:ext uri="{FF2B5EF4-FFF2-40B4-BE49-F238E27FC236}">
                <a16:creationId xmlns:a16="http://schemas.microsoft.com/office/drawing/2014/main" id="{977E12C0-3361-4DE1-B7A5-D07B649E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341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6938C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6938C"/>
                </a:solidFill>
                <a:latin typeface="PingFang SC"/>
                <a:ea typeface="PingFang SC"/>
                <a:cs typeface="PingFang SC"/>
              </a:rPr>
              <a:t>基于 PROYA × Guardian Malaysia 公开物料的本地流程验证；非客户合作，不代表品牌背书或业务结果。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34d73bef3a4b4a"/>
          <a:stretch xmlns:a="http://schemas.openxmlformats.org/drawingml/2006/main"/>
        </p:blipFill>
        <p:spPr>
          <a:xfrm xmlns:a="http://schemas.openxmlformats.org/drawingml/2006/main">
            <a:off x="476250" y="1677723"/>
            <a:ext cx="7277100" cy="2931054"/>
          </a:xfrm>
          <a:prstGeom xmlns:a="http://schemas.openxmlformats.org/drawingml/2006/main" prst="roundRect">
            <a:avLst>
              <a:gd name="adj" fmla="val 4545"/>
            </a:avLst>
          </a:prstGeom>
        </p:spPr>
      </p:pic>
    </p:spTree>
    <p:extLst>
      <p:ext uri="{BB962C8B-B14F-4D97-AF65-F5344CB8AC3E}">
        <p14:creationId xmlns:p14="http://schemas.microsoft.com/office/powerpoint/2010/main" val="13487037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C2709312-9020-47ED-B726-37D4F928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579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7AA91B2-D6DB-4354-B7EF-903E0B85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330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企业只做三件事：给要求、看结果、决定采用</a:t>
            </a:r>
          </a:p>
        </p:txBody>
      </p:sp>
      <p:cxnSp>
        <p:nvCxnSpPr>
          <p:cNvPr id="5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26A9C7A8-7AA4-415D-BDA7-3319BB77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610738D4-9742-48D8-8B61-34383EBE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F972FC68-6991-4E89-A778-79409098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6D891C5E-8A04-42EA-95CC-59F280B6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5143500" cy="44767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FECE6"/>
          </a:solidFill>
          <a:ln xmlns:a="http://schemas.openxmlformats.org/drawingml/2006/main" w="9525">
            <a:solidFill>
              <a:srgbClr val="D8D5CE"/>
            </a:solidFill>
            <a:prstDash val="solid"/>
          </a:ln>
        </p:spPr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2BF377E1-1A55-4076-B3A9-5731F1EF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381125"/>
            <a:ext cx="6019800" cy="20955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FECE6"/>
          </a:solidFill>
          <a:ln xmlns:a="http://schemas.openxmlformats.org/drawingml/2006/main" w="9525">
            <a:solidFill>
              <a:srgbClr val="D8D5CE"/>
            </a:solidFill>
            <a:prstDash val="solid"/>
          </a:ln>
        </p:spPr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5B704797-7BA6-450D-9C97-0B0796F0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714750"/>
            <a:ext cx="6019800" cy="214312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211C19"/>
          </a:solidFill>
          <a:ln xmlns:a="http://schemas.openxmlformats.org/drawingml/2006/main" w="9525">
            <a:solidFill>
              <a:srgbClr val="211C19"/>
            </a:solidFill>
            <a:prstDash val="solid"/>
          </a:ln>
        </p:spPr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2DB5FB3A-F94E-41EB-9C5A-33F2DD3A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242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275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② VULCA 组织模型，给出可修改候选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A33F60C6-7D7F-4A5C-BCBB-D3137B14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816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275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① 写清任务、品牌与渠道要求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7C9C4B23-9F2C-44E9-AF7F-4EEF5BD1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5181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③ 企业决定被保留下来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/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采用：保留整体构图，修改包装背面小字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进入下一批渠道版本  →  下次不从零开始</a:t>
            </a:r>
          </a:p>
        </p:txBody>
      </p:sp>
      <p:sp>
        <p:nvSpPr>
          <p:cNvPr id="16" name="scale-accent-1">
            <a:extLst xmlns:a="http://schemas.openxmlformats.org/drawingml/2006/main">
              <a:ext uri="{FF2B5EF4-FFF2-40B4-BE49-F238E27FC236}">
                <a16:creationId xmlns:a16="http://schemas.microsoft.com/office/drawing/2014/main" id="{B7A05BD8-4874-47B7-8CE2-DF368B36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5143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cale-accent-2">
            <a:extLst xmlns:a="http://schemas.openxmlformats.org/drawingml/2006/main">
              <a:ext uri="{FF2B5EF4-FFF2-40B4-BE49-F238E27FC236}">
                <a16:creationId xmlns:a16="http://schemas.microsoft.com/office/drawing/2014/main" id="{B185E3E9-101B-4D2E-9C2F-55E42C37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381125"/>
            <a:ext cx="6019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E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cale-accent-3">
            <a:extLst xmlns:a="http://schemas.openxmlformats.org/drawingml/2006/main">
              <a:ext uri="{FF2B5EF4-FFF2-40B4-BE49-F238E27FC236}">
                <a16:creationId xmlns:a16="http://schemas.microsoft.com/office/drawing/2014/main" id="{7C5BA57F-D4D8-4AEC-8965-FEC8D836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714750"/>
            <a:ext cx="6019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F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a455d27ca4221"/>
          <a:srcRect xmlns:a="http://schemas.openxmlformats.org/drawingml/2006/main" l="0" t="10458" r="0" b="104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619250"/>
            <a:ext cx="4686300" cy="3352800"/>
          </a:xfrm>
          <a:prstGeom xmlns:a="http://schemas.openxmlformats.org/drawingml/2006/main" prst="roundRect">
            <a:avLst>
              <a:gd name="adj" fmla="val 3977"/>
            </a:avLst>
          </a:prstGeom>
        </p:spPr>
      </p:pic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1a78625ba540e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1638300"/>
            <a:ext cx="5562600" cy="1428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96b5c1bbb4dfb"/>
          <a:srcRect xmlns:a="http://schemas.openxmlformats.org/drawingml/2006/main" l="4767" t="0" r="47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3829050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</p:spPr>
      </p:pic>
      <p:sp>
        <p:nvSpPr>
          <p:cNvPr id="43" name="evidence-status-sl-uz6hie">
            <a:extLst xmlns:a="http://schemas.openxmlformats.org/drawingml/2006/main">
              <a:ext uri="{FF2B5EF4-FFF2-40B4-BE49-F238E27FC236}">
                <a16:creationId xmlns:a16="http://schemas.microsoft.com/office/drawing/2014/main" id="{AA9F230E-67C1-41A3-B667-9867713D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6938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6938C"/>
                </a:solidFill>
                <a:latin typeface="PingFang SC"/>
                <a:ea typeface="PingFang SC"/>
                <a:cs typeface="PingFang SC"/>
              </a:rPr>
              <a:t>当前 VULCA Studio 本地构建与本地生成样本 · 演示流程 · 非企业客户结果</a:t>
            </a:r>
          </a:p>
        </p:txBody>
      </p:sp>
    </p:spTree>
    <p:extLst>
      <p:ext uri="{BB962C8B-B14F-4D97-AF65-F5344CB8AC3E}">
        <p14:creationId xmlns:p14="http://schemas.microsoft.com/office/powerpoint/2010/main" val="1576433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C2709312-9020-47ED-B726-37D4F928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579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7AA91B2-D6DB-4354-B7EF-903E0B85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330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把被采用的修改，变成下一次可复用的生产资产</a:t>
            </a:r>
          </a:p>
        </p:txBody>
      </p:sp>
      <p:cxnSp>
        <p:nvCxnSpPr>
          <p:cNvPr id="5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26A9C7A8-7AA4-415D-BDA7-3319BB77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610738D4-9742-48D8-8B61-34383EBE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F972FC68-6991-4E89-A778-79409098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6D891C5E-8A04-42EA-95CC-59F280B6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7239000" cy="39052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FECE6"/>
          </a:solidFill>
          <a:ln xmlns:a="http://schemas.openxmlformats.org/drawingml/2006/main" w="9525">
            <a:solidFill>
              <a:srgbClr val="D8D5CE"/>
            </a:solidFill>
            <a:prstDash val="solid"/>
          </a:ln>
        </p:spPr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2BF377E1-1A55-4076-B3A9-5731F1EF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81125"/>
            <a:ext cx="3886200" cy="1857375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FECE6"/>
          </a:solidFill>
          <a:ln xmlns:a="http://schemas.openxmlformats.org/drawingml/2006/main" w="9525">
            <a:solidFill>
              <a:srgbClr val="D8D5CE"/>
            </a:solidFill>
            <a:prstDash val="solid"/>
          </a:ln>
        </p:spPr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5B704797-7BA6-450D-9C97-0B0796F0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3886200" cy="176212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FECE6"/>
          </a:solidFill>
          <a:ln xmlns:a="http://schemas.openxmlformats.org/drawingml/2006/main" w="9525">
            <a:solidFill>
              <a:srgbClr val="D8D5CE"/>
            </a:solidFill>
            <a:prstDash val="solid"/>
          </a:ln>
        </p:spPr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2DB5FB3A-F94E-41EB-9C5A-33F2DD3A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1 张图 → 可定位的视觉对象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A33F60C6-7D7F-4A5C-BCBB-D3137B14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425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局部问题，不必反复整图重做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7C9C4B23-9F2C-44E9-AF7F-4EEF5BD1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244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指定元素 → 定向修改，其他部分保留</a:t>
            </a:r>
          </a:p>
        </p:txBody>
      </p:sp>
      <p:sp>
        <p:nvSpPr>
          <p:cNvPr id="16" name="scale-accent-1">
            <a:extLst xmlns:a="http://schemas.openxmlformats.org/drawingml/2006/main">
              <a:ext uri="{FF2B5EF4-FFF2-40B4-BE49-F238E27FC236}">
                <a16:creationId xmlns:a16="http://schemas.microsoft.com/office/drawing/2014/main" id="{B7A05BD8-4874-47B7-8CE2-DF368B36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723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cale-accent-2">
            <a:extLst xmlns:a="http://schemas.openxmlformats.org/drawingml/2006/main">
              <a:ext uri="{FF2B5EF4-FFF2-40B4-BE49-F238E27FC236}">
                <a16:creationId xmlns:a16="http://schemas.microsoft.com/office/drawing/2014/main" id="{B185E3E9-101B-4D2E-9C2F-55E42C37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81125"/>
            <a:ext cx="3886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E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cale-accent-3">
            <a:extLst xmlns:a="http://schemas.openxmlformats.org/drawingml/2006/main">
              <a:ext uri="{FF2B5EF4-FFF2-40B4-BE49-F238E27FC236}">
                <a16:creationId xmlns:a16="http://schemas.microsoft.com/office/drawing/2014/main" id="{7C5BA57F-D4D8-4AEC-8965-FEC8D836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3886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F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f266ddff244aa1"/>
          <a:srcRect xmlns:a="http://schemas.openxmlformats.org/drawingml/2006/main" l="1000" t="20000" r="1000" b="32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619250"/>
            <a:ext cx="6858000" cy="3000375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a1f97d615a444c"/>
          <a:srcRect xmlns:a="http://schemas.openxmlformats.org/drawingml/2006/main" l="4000" t="20000" r="4000" b="47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1619250"/>
            <a:ext cx="3505200" cy="1143000"/>
          </a:xfrm>
          <a:prstGeom xmlns:a="http://schemas.openxmlformats.org/drawingml/2006/main" prst="roundRect">
            <a:avLst>
              <a:gd name="adj" fmla="val 10000"/>
            </a:avLst>
          </a:prstGeom>
        </p:spPr>
      </p:pic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18e60992ad4b4d"/>
          <a:srcRect xmlns:a="http://schemas.openxmlformats.org/drawingml/2006/main" l="3000" t="18000" r="3000" b="47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3762375"/>
            <a:ext cx="3505200" cy="1095375"/>
          </a:xfrm>
          <a:prstGeom xmlns:a="http://schemas.openxmlformats.org/drawingml/2006/main" prst="roundRect">
            <a:avLst>
              <a:gd name="adj" fmla="val 10435"/>
            </a:avLst>
          </a:prstGeom>
        </p:spPr>
      </p:pic>
      <p:sp>
        <p:nvSpPr>
          <p:cNvPr id="43" name="evidence-status-sl-9pqj7q">
            <a:extLst xmlns:a="http://schemas.openxmlformats.org/drawingml/2006/main">
              <a:ext uri="{FF2B5EF4-FFF2-40B4-BE49-F238E27FC236}">
                <a16:creationId xmlns:a16="http://schemas.microsoft.com/office/drawing/2014/main" id="{8ABD14DE-126F-4FCC-BCD0-5ED7DBDC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企业意义：少整图重做 · 同一判断可复用 · 换模型时带走任务、规则与采用记录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证据边界：仓库内演示样本 · 非客户业绩 · 不代表严格评测通过</a:t>
            </a:r>
          </a:p>
        </p:txBody>
      </p:sp>
    </p:spTree>
    <p:extLst>
      <p:ext uri="{BB962C8B-B14F-4D97-AF65-F5344CB8AC3E}">
        <p14:creationId xmlns:p14="http://schemas.microsoft.com/office/powerpoint/2010/main" val="1576433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yebrow-5">
            <a:extLst xmlns:a="http://schemas.openxmlformats.org/drawingml/2006/main">
              <a:ext uri="{FF2B5EF4-FFF2-40B4-BE49-F238E27FC236}">
                <a16:creationId xmlns:a16="http://schemas.microsoft.com/office/drawing/2014/main" id="{20259635-4086-44AD-85C8-1F109791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VULCA  /  企业视觉智能公司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F224343B-2A9F-4427-AC41-4CE31097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从一条生产线，长成企业自己的视觉智能</a:t>
            </a:r>
          </a:p>
        </p:txBody>
      </p:sp>
      <p:sp>
        <p:nvSpPr>
          <p:cNvPr id="3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A26F662B-C2A2-4F63-BDB4-CA935383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55678973-B753-4DEC-B97E-F5E40BEA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579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5" name="pilot-scope">
            <a:extLst xmlns:a="http://schemas.openxmlformats.org/drawingml/2006/main">
              <a:ext uri="{FF2B5EF4-FFF2-40B4-BE49-F238E27FC236}">
                <a16:creationId xmlns:a16="http://schemas.microsoft.com/office/drawing/2014/main" id="{3B451D4F-D713-4103-B5DF-B17ECDF9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AFCBFF"/>
            </a:solidFill>
            <a:prstDash val="solid"/>
          </a:ln>
        </p:spPr>
      </p:sp>
      <p:sp>
        <p:nvSpPr>
          <p:cNvPr id="6" name="pilot-scope-text">
            <a:extLst xmlns:a="http://schemas.openxmlformats.org/drawingml/2006/main">
              <a:ext uri="{FF2B5EF4-FFF2-40B4-BE49-F238E27FC236}">
                <a16:creationId xmlns:a16="http://schemas.microsoft.com/office/drawing/2014/main" id="{04150355-CDFE-4C7B-81BD-D5CE3F83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89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E4FC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E4FC5"/>
                </a:solidFill>
                <a:latin typeface="PingFang SC"/>
                <a:ea typeface="PingFang SC"/>
                <a:cs typeface="PingFang SC"/>
              </a:rPr>
              <a:t>愿景：每家企业都有一支会创作、会协作、也记得自身要求的 AI 视觉团队</a:t>
            </a:r>
          </a:p>
        </p:txBody>
      </p:sp>
      <p:sp>
        <p:nvSpPr>
          <p:cNvPr id="7" name="metric-card-1">
            <a:extLst xmlns:a="http://schemas.openxmlformats.org/drawingml/2006/main">
              <a:ext uri="{FF2B5EF4-FFF2-40B4-BE49-F238E27FC236}">
                <a16:creationId xmlns:a16="http://schemas.microsoft.com/office/drawing/2014/main" id="{E298C98A-2ECD-4459-B493-21A56C59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2476500" cy="12858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E"/>
            </a:solidFill>
            <a:prstDash val="solid"/>
          </a:ln>
        </p:spPr>
      </p:sp>
      <p:sp>
        <p:nvSpPr>
          <p:cNvPr id="8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7F6F72D8-810A-40CB-8DA1-78F780C6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95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01 付费试点</a:t>
            </a:r>
          </a:p>
        </p:txBody>
      </p:sp>
      <p:sp>
        <p:nvSpPr>
          <p:cNvPr id="9" name="metric-name-1">
            <a:extLst xmlns:a="http://schemas.openxmlformats.org/drawingml/2006/main">
              <a:ext uri="{FF2B5EF4-FFF2-40B4-BE49-F238E27FC236}">
                <a16:creationId xmlns:a16="http://schemas.microsoft.com/office/drawing/2014/main" id="{9CF20165-4EB3-422F-A147-7B56FA52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跑通一个高频任务</a:t>
            </a:r>
          </a:p>
        </p:txBody>
      </p:sp>
      <p:sp>
        <p:nvSpPr>
          <p:cNvPr id="10" name="metric-detail-1">
            <a:extLst xmlns:a="http://schemas.openxmlformats.org/drawingml/2006/main">
              <a:ext uri="{FF2B5EF4-FFF2-40B4-BE49-F238E27FC236}">
                <a16:creationId xmlns:a16="http://schemas.microsoft.com/office/drawing/2014/main" id="{C2F6D952-ABA9-4A43-930A-30A1F3A8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148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FDE 式共同落地</a:t>
            </a:r>
          </a:p>
        </p:txBody>
      </p:sp>
      <p:sp>
        <p:nvSpPr>
          <p:cNvPr id="11" name="metric-card-2">
            <a:extLst xmlns:a="http://schemas.openxmlformats.org/drawingml/2006/main">
              <a:ext uri="{FF2B5EF4-FFF2-40B4-BE49-F238E27FC236}">
                <a16:creationId xmlns:a16="http://schemas.microsoft.com/office/drawing/2014/main" id="{17904D8C-B28E-46BC-A16C-834DF698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62250"/>
            <a:ext cx="2476500" cy="1666875"/>
          </a:xfrm>
          <a:prstGeom xmlns:a="http://schemas.openxmlformats.org/drawingml/2006/main" prst="roundRect">
            <a:avLst>
              <a:gd name="adj" fmla="val 10286"/>
            </a:avLst>
          </a:prstGeom>
          <a:solidFill xmlns:a="http://schemas.openxmlformats.org/drawingml/2006/main">
            <a:srgbClr val="F0F5FF"/>
          </a:solidFill>
          <a:ln xmlns:a="http://schemas.openxmlformats.org/drawingml/2006/main" w="9525">
            <a:solidFill>
              <a:srgbClr val="C6D8F8"/>
            </a:solidFill>
            <a:prstDash val="solid"/>
          </a:ln>
        </p:spPr>
      </p:sp>
      <p:sp>
        <p:nvSpPr>
          <p:cNvPr id="12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C3DF1656-F55F-4BD3-9A3F-84402A56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14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02 生产线上线</a:t>
            </a:r>
          </a:p>
        </p:txBody>
      </p:sp>
      <p:sp>
        <p:nvSpPr>
          <p:cNvPr id="13" name="metric-name-2">
            <a:extLst xmlns:a="http://schemas.openxmlformats.org/drawingml/2006/main">
              <a:ext uri="{FF2B5EF4-FFF2-40B4-BE49-F238E27FC236}">
                <a16:creationId xmlns:a16="http://schemas.microsoft.com/office/drawing/2014/main" id="{E5992E41-7287-4AEE-800E-C7F2C67F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286125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接入团队、模型与审批</a:t>
            </a:r>
          </a:p>
        </p:txBody>
      </p:sp>
      <p:sp>
        <p:nvSpPr>
          <p:cNvPr id="14" name="metric-detail-2">
            <a:extLst xmlns:a="http://schemas.openxmlformats.org/drawingml/2006/main">
              <a:ext uri="{FF2B5EF4-FFF2-40B4-BE49-F238E27FC236}">
                <a16:creationId xmlns:a16="http://schemas.microsoft.com/office/drawing/2014/main" id="{CE99C9A1-57EA-43D3-9A67-EED7A055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057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从一次交付变成流程</a:t>
            </a:r>
          </a:p>
        </p:txBody>
      </p:sp>
      <p:sp>
        <p:nvSpPr>
          <p:cNvPr id="15" name="metric-card-3">
            <a:extLst xmlns:a="http://schemas.openxmlformats.org/drawingml/2006/main">
              <a:ext uri="{FF2B5EF4-FFF2-40B4-BE49-F238E27FC236}">
                <a16:creationId xmlns:a16="http://schemas.microsoft.com/office/drawing/2014/main" id="{9E0DCE02-68B9-4503-B97D-A55401B8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381250"/>
            <a:ext cx="24765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D7E5FF"/>
          </a:solidFill>
          <a:ln xmlns:a="http://schemas.openxmlformats.org/drawingml/2006/main" w="9525">
            <a:solidFill>
              <a:srgbClr val="AFCBFF"/>
            </a:solidFill>
            <a:prstDash val="solid"/>
          </a:ln>
        </p:spPr>
      </p:sp>
      <p:sp>
        <p:nvSpPr>
          <p:cNvPr id="16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9A0ECF98-57D7-49C8-B9F9-B8FE5D78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533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03 视觉资产</a:t>
            </a:r>
          </a:p>
        </p:txBody>
      </p:sp>
      <p:sp>
        <p:nvSpPr>
          <p:cNvPr id="17" name="metric-name-3">
            <a:extLst xmlns:a="http://schemas.openxmlformats.org/drawingml/2006/main">
              <a:ext uri="{FF2B5EF4-FFF2-40B4-BE49-F238E27FC236}">
                <a16:creationId xmlns:a16="http://schemas.microsoft.com/office/drawing/2014/main" id="{BF6C2944-51C4-40C7-84FE-04510FA7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9718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沉淀品牌要求与采用记录</a:t>
            </a:r>
          </a:p>
        </p:txBody>
      </p:sp>
      <p:sp>
        <p:nvSpPr>
          <p:cNvPr id="18" name="metric-detail-3">
            <a:extLst xmlns:a="http://schemas.openxmlformats.org/drawingml/2006/main">
              <a:ext uri="{FF2B5EF4-FFF2-40B4-BE49-F238E27FC236}">
                <a16:creationId xmlns:a16="http://schemas.microsoft.com/office/drawing/2014/main" id="{55B9EF98-0960-4C52-AADD-00BBFD20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057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换模型也可迁移</a:t>
            </a:r>
          </a:p>
        </p:txBody>
      </p:sp>
      <p:sp>
        <p:nvSpPr>
          <p:cNvPr id="19" name="metric-card-4">
            <a:extLst xmlns:a="http://schemas.openxmlformats.org/drawingml/2006/main">
              <a:ext uri="{FF2B5EF4-FFF2-40B4-BE49-F238E27FC236}">
                <a16:creationId xmlns:a16="http://schemas.microsoft.com/office/drawing/2014/main" id="{0C183853-ED1D-405C-835B-DD8B738F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000250"/>
            <a:ext cx="3590925" cy="2428875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769F6"/>
          </a:solidFill>
          <a:ln xmlns:a="http://schemas.openxmlformats.org/drawingml/2006/main" w="9525">
            <a:solidFill>
              <a:srgbClr val="1769F6"/>
            </a:solidFill>
            <a:prstDash val="solid"/>
          </a:ln>
        </p:spPr>
      </p:sp>
      <p:sp>
        <p:nvSpPr>
          <p:cNvPr id="20" name="metric-label-4">
            <a:extLst xmlns:a="http://schemas.openxmlformats.org/drawingml/2006/main">
              <a:ext uri="{FF2B5EF4-FFF2-40B4-BE49-F238E27FC236}">
                <a16:creationId xmlns:a16="http://schemas.microsoft.com/office/drawing/2014/main" id="{DD461D3B-2F60-421F-A3F8-6E874216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90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 企业视觉智能</a:t>
            </a:r>
          </a:p>
        </p:txBody>
      </p:sp>
      <p:sp>
        <p:nvSpPr>
          <p:cNvPr id="21" name="metric-name-4">
            <a:extLst xmlns:a="http://schemas.openxmlformats.org/drawingml/2006/main">
              <a:ext uri="{FF2B5EF4-FFF2-40B4-BE49-F238E27FC236}">
                <a16:creationId xmlns:a16="http://schemas.microsoft.com/office/drawing/2014/main" id="{59EA064D-E8B6-4C14-A9DF-668820FB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0510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跨团队、跨市场、跨模型</a:t>
            </a:r>
          </a:p>
        </p:txBody>
      </p:sp>
      <p:sp>
        <p:nvSpPr>
          <p:cNvPr id="22" name="metric-detail-4">
            <a:extLst xmlns:a="http://schemas.openxmlformats.org/drawingml/2006/main">
              <a:ext uri="{FF2B5EF4-FFF2-40B4-BE49-F238E27FC236}">
                <a16:creationId xmlns:a16="http://schemas.microsoft.com/office/drawing/2014/main" id="{C820A929-97A0-44E3-ABBD-CD9D950A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624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EAF1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EAF1FF"/>
                </a:solidFill>
                <a:latin typeface="PingFang SC"/>
                <a:ea typeface="PingFang SC"/>
                <a:cs typeface="PingFang SC"/>
              </a:rPr>
              <a:t>授权并验证后，再优化模型</a:t>
            </a:r>
          </a:p>
        </p:txBody>
      </p:sp>
      <p:sp>
        <p:nvSpPr>
          <p:cNvPr id="23" name="business-model-panel">
            <a:extLst xmlns:a="http://schemas.openxmlformats.org/drawingml/2006/main">
              <a:ext uri="{FF2B5EF4-FFF2-40B4-BE49-F238E27FC236}">
                <a16:creationId xmlns:a16="http://schemas.microsoft.com/office/drawing/2014/main" id="{620FA37D-9117-44B4-A1CA-323906D4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53340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E"/>
            </a:solidFill>
            <a:prstDash val="solid"/>
          </a:ln>
        </p:spPr>
      </p:sp>
      <p:sp>
        <p:nvSpPr>
          <p:cNvPr id="24" name="business-model-label">
            <a:extLst xmlns:a="http://schemas.openxmlformats.org/drawingml/2006/main">
              <a:ext uri="{FF2B5EF4-FFF2-40B4-BE49-F238E27FC236}">
                <a16:creationId xmlns:a16="http://schemas.microsoft.com/office/drawing/2014/main" id="{699C4FF1-48E2-4AEE-B395-329CAE98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95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商业路径</a:t>
            </a:r>
          </a:p>
        </p:txBody>
      </p:sp>
      <p:sp>
        <p:nvSpPr>
          <p:cNvPr id="25" name="business-model-title">
            <a:extLst xmlns:a="http://schemas.openxmlformats.org/drawingml/2006/main">
              <a:ext uri="{FF2B5EF4-FFF2-40B4-BE49-F238E27FC236}">
                <a16:creationId xmlns:a16="http://schemas.microsoft.com/office/drawing/2014/main" id="{B5B8646C-0F9D-430D-A670-B0F59095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付费试点 → 软件化上线 → 年度订阅</a:t>
            </a:r>
          </a:p>
        </p:txBody>
      </p:sp>
      <p:sp>
        <p:nvSpPr>
          <p:cNvPr id="26" name="business-model-detail">
            <a:extLst xmlns:a="http://schemas.openxmlformats.org/drawingml/2006/main">
              <a:ext uri="{FF2B5EF4-FFF2-40B4-BE49-F238E27FC236}">
                <a16:creationId xmlns:a16="http://schemas.microsoft.com/office/drawing/2014/main" id="{7AD30BFE-95CD-42F4-9BE1-DE40D68B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私有部署、模型优化按授权与验证增购</a:t>
            </a:r>
          </a:p>
        </p:txBody>
      </p:sp>
      <p:sp>
        <p:nvSpPr>
          <p:cNvPr id="27" name="ask-panel">
            <a:extLst xmlns:a="http://schemas.openxmlformats.org/drawingml/2006/main">
              <a:ext uri="{FF2B5EF4-FFF2-40B4-BE49-F238E27FC236}">
                <a16:creationId xmlns:a16="http://schemas.microsoft.com/office/drawing/2014/main" id="{01DDF50D-DB84-466A-AF62-279CD869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714875"/>
            <a:ext cx="58293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211C19"/>
          </a:solidFill>
          <a:ln xmlns:a="http://schemas.openxmlformats.org/drawingml/2006/main" w="9525">
            <a:solidFill>
              <a:srgbClr val="211C19"/>
            </a:solidFill>
            <a:prstDash val="solid"/>
          </a:ln>
        </p:spPr>
      </p:sp>
      <p:sp>
        <p:nvSpPr>
          <p:cNvPr id="28" name="ask-label">
            <a:extLst xmlns:a="http://schemas.openxmlformats.org/drawingml/2006/main">
              <a:ext uri="{FF2B5EF4-FFF2-40B4-BE49-F238E27FC236}">
                <a16:creationId xmlns:a16="http://schemas.microsoft.com/office/drawing/2014/main" id="{103BDC2E-A993-4820-8F60-283C9DFC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958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7AE5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7AE56"/>
                </a:solidFill>
                <a:latin typeface="PingFang SC"/>
                <a:ea typeface="PingFang SC"/>
                <a:cs typeface="PingFang SC"/>
              </a:rPr>
              <a:t>现场希望连接</a:t>
            </a:r>
          </a:p>
        </p:txBody>
      </p:sp>
      <p:sp>
        <p:nvSpPr>
          <p:cNvPr id="29" name="ask-title">
            <a:extLst xmlns:a="http://schemas.openxmlformats.org/drawingml/2006/main">
              <a:ext uri="{FF2B5EF4-FFF2-40B4-BE49-F238E27FC236}">
                <a16:creationId xmlns:a16="http://schemas.microsoft.com/office/drawing/2014/main" id="{B29083A1-FA50-495F-9FAB-62C909D5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20065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试点企业 / 创意与本地化服务商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模型 · 数据 · 算力伙伴 / 南沙场景资源 / 早期资本</a:t>
            </a:r>
          </a:p>
        </p:txBody>
      </p:sp>
      <p:sp>
        <p:nvSpPr>
          <p:cNvPr id="30" name="current-stage">
            <a:extLst xmlns:a="http://schemas.openxmlformats.org/drawingml/2006/main">
              <a:ext uri="{FF2B5EF4-FFF2-40B4-BE49-F238E27FC236}">
                <a16:creationId xmlns:a16="http://schemas.microsoft.com/office/drawing/2014/main" id="{38C61AA9-9343-424E-B3FC-2BEA6615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1502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带一个真实任务来，用 30 分钟判断它是否适合成为首条生产线。</a:t>
            </a:r>
          </a:p>
          <a:p xmlns:a="http://schemas.openxmlformats.org/drawingml/2006/main">
            <a:pPr algn="l">
              <a:buNone/>
              <a:defRPr sz="1050" b="1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现场诉求依据南沙公开资源方向，不代表活动已承诺具体资源。</a:t>
            </a:r>
          </a:p>
        </p:txBody>
      </p:sp>
    </p:spTree>
    <p:extLst>
      <p:ext uri="{BB962C8B-B14F-4D97-AF65-F5344CB8AC3E}">
        <p14:creationId xmlns:p14="http://schemas.microsoft.com/office/powerpoint/2010/main" val="20719998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2026-08-09T20:15:47.4150000Z</dcterms:created>
  <dcterms:modified xsi:type="dcterms:W3CDTF">2026-08-09T20:15:47.4150000Z</dcterms:modified>
</coreProperties>
</file>
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13de70eb12400e" /><Relationship Type="http://schemas.openxmlformats.org/officeDocument/2006/relationships/extended-properties" Target="/docProps/app.xml" Id="R7b16d3a52c7a4060" /><Relationship Type="http://schemas.openxmlformats.org/officeDocument/2006/relationships/officeDocument" Target="/ppt/presentation.xml" Id="R2e8b0c55f83b4e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fc65e86ba543d5"/>
  </p:sldMasterIdLst>
  <p:notesMasterIdLst>
    <p:notesMasterId xmlns:r="http://schemas.openxmlformats.org/officeDocument/2006/relationships" r:id="Ra7f70bdb9e34485e"/>
  </p:notesMasterIdLst>
  <p:sldIdLst>
    <p:sldId xmlns:r="http://schemas.openxmlformats.org/officeDocument/2006/relationships" id="256" r:id="R100c62cce5f74a14"/>
    <p:sldId xmlns:r="http://schemas.openxmlformats.org/officeDocument/2006/relationships" id="257" r:id="R973ac18f2b1749ef"/>
    <p:sldId xmlns:r="http://schemas.openxmlformats.org/officeDocument/2006/relationships" id="258" r:id="Rcda5969b58a04cdb"/>
    <p:sldId xmlns:r="http://schemas.openxmlformats.org/officeDocument/2006/relationships" id="259" r:id="R52a874fc7f3643d8"/>
    <p:sldId xmlns:r="http://schemas.openxmlformats.org/officeDocument/2006/relationships" id="260" r:id="Ra8706ec26dd5490e"/>
    <p:sldId xmlns:r="http://schemas.openxmlformats.org/officeDocument/2006/relationships" id="261" r:id="R197655812a0f4a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a2a24cc1994cb8" /><Relationship Type="http://schemas.openxmlformats.org/officeDocument/2006/relationships/slideMaster" Target="/ppt/slideMasters/slideMaster1.xml" Id="R8bfc65e86ba543d5" /><Relationship Type="http://schemas.openxmlformats.org/officeDocument/2006/relationships/notesMaster" Target="/ppt/notesMasters/notesMaster1.xml" Id="Ra7f70bdb9e34485e" /><Relationship Type="http://schemas.openxmlformats.org/officeDocument/2006/relationships/presProps" Target="/ppt/presProps.xml" Id="Rb69d874546c84261" /><Relationship Type="http://schemas.openxmlformats.org/officeDocument/2006/relationships/tableStyles" Target="/ppt/tableStyles.xml" Id="R8606c3a13ffe4a9e" /><Relationship Type="http://schemas.openxmlformats.org/officeDocument/2006/relationships/slide" Target="/ppt/slides/slide1.xml" Id="R100c62cce5f74a14" /><Relationship Type="http://schemas.openxmlformats.org/officeDocument/2006/relationships/slide" Target="/ppt/slides/slide2.xml" Id="R973ac18f2b1749ef" /><Relationship Type="http://schemas.openxmlformats.org/officeDocument/2006/relationships/slide" Target="/ppt/slides/slide3.xml" Id="Rcda5969b58a04cdb" /><Relationship Type="http://schemas.openxmlformats.org/officeDocument/2006/relationships/slide" Target="/ppt/slides/slide4.xml" Id="R52a874fc7f3643d8" /><Relationship Type="http://schemas.openxmlformats.org/officeDocument/2006/relationships/slide" Target="/ppt/slides/slide5.xml" Id="Ra8706ec26dd5490e" /><Relationship Type="http://schemas.openxmlformats.org/officeDocument/2006/relationships/slide" Target="/ppt/slides/slide6.xml" Id="R197655812a0f4a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ed1ba9f4fe46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e3e6db9ce24ae3" /><Relationship Type="http://schemas.openxmlformats.org/officeDocument/2006/relationships/notesMaster" Target="/ppt/notesMasters/notesMaster1.xml" Id="R4c962da5f47043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0bc292ffe344ff" /><Relationship Type="http://schemas.openxmlformats.org/officeDocument/2006/relationships/notesMaster" Target="/ppt/notesMasters/notesMaster1.xml" Id="Re2f54fdfd9184d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0b67a6cf264a72" /><Relationship Type="http://schemas.openxmlformats.org/officeDocument/2006/relationships/notesMaster" Target="/ppt/notesMasters/notesMaster1.xml" Id="R92aa7b7f16b148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2b3cf1899d4087" /><Relationship Type="http://schemas.openxmlformats.org/officeDocument/2006/relationships/notesMaster" Target="/ppt/notesMasters/notesMaster1.xml" Id="R198024ac92134b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990384250b40c4" /><Relationship Type="http://schemas.openxmlformats.org/officeDocument/2006/relationships/notesMaster" Target="/ppt/notesMasters/notesMaster1.xml" Id="Rf8a405b3d8ef4f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885b9621e74a6d" /><Relationship Type="http://schemas.openxmlformats.org/officeDocument/2006/relationships/notesMaster" Target="/ppt/notesMasters/notesMaster1.xml" Id="R6b5fe9bbc75242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VULCA 的公司主语不是某一种模型，也不是一次性交付。我们是一家企业视觉智能公司。当前产品和市场入口是一条企业 AI 内容生产线；它背后是一套企业视觉生产系统。客户得到的不是工具清单，而是一支会创作、懂品牌、能协作，并能在企业授权下持续成长的 AI 视觉团队。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/Users/yhryzy/.codex/worktrees/e027/vulca/plugins/vulca/.codex-plugin/plugin.json</a:t>
            </a:r>
          </a:p>
          <a:p xmlns:a="http://schemas.openxmlformats.org/drawingml/2006/main">
            <a:r>
              <a:t>- /Users/yhryzy/.codex/worktrees/e027/vulca/chatgpt-app-submission.json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企业有两种不同但相连的困境：一类尚未把 AI 放进真实业务，不知道从哪条流程开始；另一类已经使用 AI，却把能力留在个人提示词、临时工具和供应商手里。模型与供应持续变化时，企业容易再次从零开始。McKinsey 的 2025 调查显示，多数企业仍处于试验或试点阶段；Stanford 2026 AI Index 也显示头部模型竞争密集、性能位置持续变化。页面上的六项是 VULCA 的客户问题假设，需要通过访谈和试点逐项验证。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https://www.mckinsey.com/capabilities/quantumblack/our-insights/the-state-of-ai</a:t>
            </a:r>
          </a:p>
          <a:p xmlns:a="http://schemas.openxmlformats.org/drawingml/2006/main">
            <a:r>
              <a:t>- https://hai.stanford.edu/ai-index/2026-ai-index-report/technical-performance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 VULCA 到底卖什么，以及上下游分别是谁。上游是闭源和开源模型、算力与创作工具；首个入口是同时服务多个品牌的 AI 创意、本地化和跨境营销服务商；下游是品牌团队、区域市场和最终采用者。VULCA 通过企业 AI 内容生产线，把这些能力接成每天可运行、可评测、可迁移的视觉生产系统。企业保留目标、最终采用与用途授权。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/Users/yhryzy/.codex/worktrees/e027/vulca/README.md</a:t>
            </a:r>
          </a:p>
          <a:p xmlns:a="http://schemas.openxmlformats.org/drawingml/2006/main">
            <a:r>
              <a:t>- /Users/yhryzy/.codex/worktrees/e027/vulca/plugins/vulca/.codex-plugin/plugin.json</a:t>
            </a:r>
          </a:p>
          <a:p xmlns:a="http://schemas.openxmlformats.org/drawingml/2006/main">
            <a:r>
              <a:t>- /Users/yhryzy/.codex/worktrees/e027/vulca/docs/product/roadmap.md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VULCA 的长期壁垒不是保存更多聊天记录，而是把真实业务里的采用、退回、修改、时间、成本和授权，沉淀成企业控制的视觉资产。只有被采用、来源明确、权限允许的内容，才进入后续优化。后续优化可以发生在工作流、评测、记忆层，也可以在适合的本地模型上进入后训练，但技术路径不应抢走产品主语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https://aclanthology.org/2025.findings-emnlp.103/</a:t>
            </a:r>
          </a:p>
          <a:p xmlns:a="http://schemas.openxmlformats.org/drawingml/2006/main">
            <a:r>
              <a:t>- https://arxiv.org/abs/2601.07986</a:t>
            </a:r>
          </a:p>
          <a:p xmlns:a="http://schemas.openxmlformats.org/drawingml/2006/main">
            <a:r>
              <a:t>- https://openai.com/business/frontier/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FDE 是起步方式，不是公司终局。工程与业务人员先贴近客户跑通一条高频流程，再把反复出现的流程、标准、评测、权限和迁移能力做成产品，最后通过模型、算力、园区和服务伙伴复制。OpenAI 对 FDE 的公开定义也强调：与客户共同完成从发现、设计到生产部署，并把现场反馈带回产品和模型路线。VULCA 的差异是聚焦企业视觉工作，并把客户自己的视觉资产作为持续积累的核心。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https://openai.com/index/openai-launches-the-deployment-company/</a:t>
            </a:r>
          </a:p>
          <a:p xmlns:a="http://schemas.openxmlformats.org/drawingml/2006/main">
            <a:r>
              <a:t>- https://openai.com/careers/forward-deployed-engineer-seoul-seoul-south-korea/</a:t>
            </a:r>
          </a:p>
          <a:p xmlns:a="http://schemas.openxmlformats.org/drawingml/2006/main">
            <a:r>
              <a:t>- https://openai.com/business/frontier/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90 天不承诺未经验证的降本比例，而是用真实项目回答四个商业问题：多久产出第一个可采用内容、一个可采用内容的真实成本、质量和返工是否改善、切换模型时能复用多少资产和节省多少人时。收入从上线费与持续优化订阅开始。当前代码库可验证的是 v0.23.1、多模型提供方与本地优先基础；企业迁移收益、收入和规模化仍需首批试点证明。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/Users/yhryzy/.codex/worktrees/e027/vulca/pyproject.toml</a:t>
            </a:r>
          </a:p>
          <a:p xmlns:a="http://schemas.openxmlformats.org/drawingml/2006/main">
            <a:r>
              <a:t>- /Users/yhryzy/.codex/worktrees/e027/vulca/README.md</a:t>
            </a:r>
          </a:p>
          <a:p xmlns:a="http://schemas.openxmlformats.org/drawingml/2006/main">
            <a:r>
              <a:t>- /Users/yhryzy/.codex/worktrees/e027/vulca/docs/product/roadmap.md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94051152749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3ac6bd0c0346f2" /><Relationship Type="http://schemas.openxmlformats.org/officeDocument/2006/relationships/slideLayout" Target="/ppt/slideLayouts/slideLayout1.xml" Id="R3a64f543e15d4c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64f543e15d4c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3deea3c9440db" /><Relationship Type="http://schemas.openxmlformats.org/officeDocument/2006/relationships/notesSlide" Target="/ppt/notesSlides/notesSlide1.xml" Id="R2054248b9ea74e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88f913e7d4bcf" /><Relationship Type="http://schemas.openxmlformats.org/officeDocument/2006/relationships/notesSlide" Target="/ppt/notesSlides/notesSlide2.xml" Id="Rf23e5d854e6042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27f4d1a714b8f" /><Relationship Type="http://schemas.openxmlformats.org/officeDocument/2006/relationships/notesSlide" Target="/ppt/notesSlides/notesSlide3.xml" Id="R4322d5df9e814b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34541bda9450e" /><Relationship Type="http://schemas.openxmlformats.org/officeDocument/2006/relationships/notesSlide" Target="/ppt/notesSlides/notesSlide4.xml" Id="R2512aa56ad004d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11e63697f4415" /><Relationship Type="http://schemas.openxmlformats.org/officeDocument/2006/relationships/notesSlide" Target="/ppt/notesSlides/notesSlide5.xml" Id="Ra04b677e62464f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0b14e44624cb3" /><Relationship Type="http://schemas.openxmlformats.org/officeDocument/2006/relationships/notesSlide" Target="/ppt/notesSlides/notesSlide6.xml" Id="R5e3d62789b1242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-1">
            <a:extLst xmlns:a="http://schemas.openxmlformats.org/drawingml/2006/main">
              <a:ext uri="{FF2B5EF4-FFF2-40B4-BE49-F238E27FC236}">
                <a16:creationId xmlns:a16="http://schemas.microsoft.com/office/drawing/2014/main" id="{A96492B1-5D3C-45F6-BBA7-DB5AAE10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让每一家企业，
都拥有自己的视觉智能。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46F4624-1B28-401E-81B8-E705160E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一支会创作、懂品牌、能协作，
并在企业授权下不断成长的 AI 视觉团队。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79E03-6909-4236-B26A-B1715B79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4" name="cover-accent-rule">
            <a:extLst xmlns:a="http://schemas.openxmlformats.org/drawingml/2006/main">
              <a:ext uri="{FF2B5EF4-FFF2-40B4-BE49-F238E27FC236}">
                <a16:creationId xmlns:a16="http://schemas.microsoft.com/office/drawing/2014/main" id="{9D039481-609D-4B94-92D0-B387101A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5" name="cover-first-customer-panel">
            <a:extLst xmlns:a="http://schemas.openxmlformats.org/drawingml/2006/main">
              <a:ext uri="{FF2B5EF4-FFF2-40B4-BE49-F238E27FC236}">
                <a16:creationId xmlns:a16="http://schemas.microsoft.com/office/drawing/2014/main" id="{FC41BE4E-576D-43E8-B039-30B89734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38862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A8C7FA"/>
            </a:solidFill>
            <a:prstDash val="solid"/>
          </a:ln>
        </p:spPr>
      </p:sp>
      <p:sp>
        <p:nvSpPr>
          <p:cNvPr id="6" name="cover-first-customer-label">
            <a:extLst xmlns:a="http://schemas.openxmlformats.org/drawingml/2006/main">
              <a:ext uri="{FF2B5EF4-FFF2-40B4-BE49-F238E27FC236}">
                <a16:creationId xmlns:a16="http://schemas.microsoft.com/office/drawing/2014/main" id="{AEA8BE6C-EBD2-440D-A72E-D85A1CA9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33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当前产品</a:t>
            </a:r>
          </a:p>
        </p:txBody>
      </p:sp>
      <p:sp>
        <p:nvSpPr>
          <p:cNvPr id="7" name="cover-first-customer">
            <a:extLst xmlns:a="http://schemas.openxmlformats.org/drawingml/2006/main">
              <a:ext uri="{FF2B5EF4-FFF2-40B4-BE49-F238E27FC236}">
                <a16:creationId xmlns:a16="http://schemas.microsoft.com/office/drawing/2014/main" id="{9A8AAAF8-12F1-4828-86B5-EBC49873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企业 AI 内容生产线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做得出来 · 记得住 · 越用越好</a:t>
            </a:r>
          </a:p>
        </p:txBody>
      </p:sp>
    </p:spTree>
    <p:extLst>
      <p:ext uri="{BB962C8B-B14F-4D97-AF65-F5344CB8AC3E}">
        <p14:creationId xmlns:p14="http://schemas.microsoft.com/office/powerpoint/2010/main" val="1952268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-2">
            <a:extLst xmlns:a="http://schemas.openxmlformats.org/drawingml/2006/main">
              <a:ext uri="{FF2B5EF4-FFF2-40B4-BE49-F238E27FC236}">
                <a16:creationId xmlns:a16="http://schemas.microsoft.com/office/drawing/2014/main" id="{EDC80EE0-B55F-44C8-AF02-79D90DDF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1E781A8-C3FA-47D1-A1D4-DEF8490B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41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企业面对的不是“缺一个模型”，</a:t>
            </a:r>
          </a:p>
          <a:p xmlns:a="http://schemas.openxmlformats.org/drawingml/2006/main">
            <a:pPr algn="l">
              <a:buNone/>
              <a:def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而是两种更根本的能力断层。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B8DACBE-3A08-45EC-A5EF-0DA5E55B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EBEBF16-E888-4B90-BC16-CF77AB36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" name="problem-arrow-1">
            <a:extLst xmlns:a="http://schemas.openxmlformats.org/drawingml/2006/main">
              <a:ext uri="{FF2B5EF4-FFF2-40B4-BE49-F238E27FC236}">
                <a16:creationId xmlns:a16="http://schemas.microsoft.com/office/drawing/2014/main" id="{AFBE6E2E-E9AF-4B24-A9CA-24371BC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6" name="problem-arrow-2">
            <a:extLst xmlns:a="http://schemas.openxmlformats.org/drawingml/2006/main">
              <a:ext uri="{FF2B5EF4-FFF2-40B4-BE49-F238E27FC236}">
                <a16:creationId xmlns:a16="http://schemas.microsoft.com/office/drawing/2014/main" id="{5146359D-8834-4971-A1B9-66115F6A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7" name="problem-arrow-3">
            <a:extLst xmlns:a="http://schemas.openxmlformats.org/drawingml/2006/main">
              <a:ext uri="{FF2B5EF4-FFF2-40B4-BE49-F238E27FC236}">
                <a16:creationId xmlns:a16="http://schemas.microsoft.com/office/drawing/2014/main" id="{89730037-E7C3-40BD-819A-CB0A0149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8" name="problem-arrow-4">
            <a:extLst xmlns:a="http://schemas.openxmlformats.org/drawingml/2006/main">
              <a:ext uri="{FF2B5EF4-FFF2-40B4-BE49-F238E27FC236}">
                <a16:creationId xmlns:a16="http://schemas.microsoft.com/office/drawing/2014/main" id="{1C6AE048-6E8D-4589-9609-9D6FC07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9" name="problem-arrow-5">
            <a:extLst xmlns:a="http://schemas.openxmlformats.org/drawingml/2006/main">
              <a:ext uri="{FF2B5EF4-FFF2-40B4-BE49-F238E27FC236}">
                <a16:creationId xmlns:a16="http://schemas.microsoft.com/office/drawing/2014/main" id="{8BE0BB40-DAFA-415A-ACB5-7AFD7FA0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10" name="problem-card-01">
            <a:extLst xmlns:a="http://schemas.openxmlformats.org/drawingml/2006/main">
              <a:ext uri="{FF2B5EF4-FFF2-40B4-BE49-F238E27FC236}">
                <a16:creationId xmlns:a16="http://schemas.microsoft.com/office/drawing/2014/main" id="{E67F7437-9FFF-40C5-8928-9A7D90D7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11" name="problem-number-01">
            <a:extLst xmlns:a="http://schemas.openxmlformats.org/drawingml/2006/main">
              <a:ext uri="{FF2B5EF4-FFF2-40B4-BE49-F238E27FC236}">
                <a16:creationId xmlns:a16="http://schemas.microsoft.com/office/drawing/2014/main" id="{D9F4A155-4C77-477C-B147-A96DABE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problem-title-01">
            <a:extLst xmlns:a="http://schemas.openxmlformats.org/drawingml/2006/main">
              <a:ext uri="{FF2B5EF4-FFF2-40B4-BE49-F238E27FC236}">
                <a16:creationId xmlns:a16="http://schemas.microsoft.com/office/drawing/2014/main" id="{12695C17-F2D5-4F74-A407-36A884C9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无从开始</a:t>
            </a:r>
          </a:p>
        </p:txBody>
      </p:sp>
      <p:sp>
        <p:nvSpPr>
          <p:cNvPr id="13" name="problem-body-01">
            <a:extLst xmlns:a="http://schemas.openxmlformats.org/drawingml/2006/main">
              <a:ext uri="{FF2B5EF4-FFF2-40B4-BE49-F238E27FC236}">
                <a16:creationId xmlns:a16="http://schemas.microsoft.com/office/drawing/2014/main" id="{AE28D1C3-121D-4354-9C3A-DABB6B6F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场景太多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无从选择</a:t>
            </a:r>
          </a:p>
        </p:txBody>
      </p:sp>
      <p:sp>
        <p:nvSpPr>
          <p:cNvPr id="14" name="problem-card-02">
            <a:extLst xmlns:a="http://schemas.openxmlformats.org/drawingml/2006/main">
              <a:ext uri="{FF2B5EF4-FFF2-40B4-BE49-F238E27FC236}">
                <a16:creationId xmlns:a16="http://schemas.microsoft.com/office/drawing/2014/main" id="{D2424645-FC2A-4DF6-AACF-A2F9B0DA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15" name="problem-number-02">
            <a:extLst xmlns:a="http://schemas.openxmlformats.org/drawingml/2006/main">
              <a:ext uri="{FF2B5EF4-FFF2-40B4-BE49-F238E27FC236}">
                <a16:creationId xmlns:a16="http://schemas.microsoft.com/office/drawing/2014/main" id="{795042DC-2E7A-41E9-A3A0-A5003976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problem-title-02">
            <a:extLst xmlns:a="http://schemas.openxmlformats.org/drawingml/2006/main">
              <a:ext uri="{FF2B5EF4-FFF2-40B4-BE49-F238E27FC236}">
                <a16:creationId xmlns:a16="http://schemas.microsoft.com/office/drawing/2014/main" id="{268FC771-6882-4566-A6BF-1A989BEF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难进生产</a:t>
            </a:r>
          </a:p>
        </p:txBody>
      </p:sp>
      <p:sp>
        <p:nvSpPr>
          <p:cNvPr id="17" name="problem-body-02">
            <a:extLst xmlns:a="http://schemas.openxmlformats.org/drawingml/2006/main">
              <a:ext uri="{FF2B5EF4-FFF2-40B4-BE49-F238E27FC236}">
                <a16:creationId xmlns:a16="http://schemas.microsoft.com/office/drawing/2014/main" id="{F1D1AE0E-4E3C-4939-BF1D-26889C4C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靠个人试错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质量成本不稳</a:t>
            </a:r>
          </a:p>
        </p:txBody>
      </p:sp>
      <p:sp>
        <p:nvSpPr>
          <p:cNvPr id="18" name="problem-card-03">
            <a:extLst xmlns:a="http://schemas.openxmlformats.org/drawingml/2006/main">
              <a:ext uri="{FF2B5EF4-FFF2-40B4-BE49-F238E27FC236}">
                <a16:creationId xmlns:a16="http://schemas.microsoft.com/office/drawing/2014/main" id="{D882D7C7-7572-41B6-B4FB-F8B979F8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19" name="problem-number-03">
            <a:extLst xmlns:a="http://schemas.openxmlformats.org/drawingml/2006/main">
              <a:ext uri="{FF2B5EF4-FFF2-40B4-BE49-F238E27FC236}">
                <a16:creationId xmlns:a16="http://schemas.microsoft.com/office/drawing/2014/main" id="{25AEB4F8-5C06-4D52-BD68-7F409388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problem-title-03">
            <a:extLst xmlns:a="http://schemas.openxmlformats.org/drawingml/2006/main">
              <a:ext uri="{FF2B5EF4-FFF2-40B4-BE49-F238E27FC236}">
                <a16:creationId xmlns:a16="http://schemas.microsoft.com/office/drawing/2014/main" id="{E07CD8DD-1679-4649-9C11-CE7C4E8D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无法治理</a:t>
            </a:r>
          </a:p>
        </p:txBody>
      </p:sp>
      <p:sp>
        <p:nvSpPr>
          <p:cNvPr id="21" name="problem-body-03">
            <a:extLst xmlns:a="http://schemas.openxmlformats.org/drawingml/2006/main">
              <a:ext uri="{FF2B5EF4-FFF2-40B4-BE49-F238E27FC236}">
                <a16:creationId xmlns:a16="http://schemas.microsoft.com/office/drawing/2014/main" id="{2E2EC799-2ED9-45D2-AC0C-93D09AF8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权限和验收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没有闭环</a:t>
            </a:r>
          </a:p>
        </p:txBody>
      </p:sp>
      <p:sp>
        <p:nvSpPr>
          <p:cNvPr id="22" name="problem-card-04">
            <a:extLst xmlns:a="http://schemas.openxmlformats.org/drawingml/2006/main">
              <a:ext uri="{FF2B5EF4-FFF2-40B4-BE49-F238E27FC236}">
                <a16:creationId xmlns:a16="http://schemas.microsoft.com/office/drawing/2014/main" id="{2E66F1ED-1966-41DE-9BF7-9CD2DE58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23" name="problem-number-04">
            <a:extLst xmlns:a="http://schemas.openxmlformats.org/drawingml/2006/main">
              <a:ext uri="{FF2B5EF4-FFF2-40B4-BE49-F238E27FC236}">
                <a16:creationId xmlns:a16="http://schemas.microsoft.com/office/drawing/2014/main" id="{03E6F693-C315-4F2E-B0D2-E9556DD6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problem-title-04">
            <a:extLst xmlns:a="http://schemas.openxmlformats.org/drawingml/2006/main">
              <a:ext uri="{FF2B5EF4-FFF2-40B4-BE49-F238E27FC236}">
                <a16:creationId xmlns:a16="http://schemas.microsoft.com/office/drawing/2014/main" id="{3240C053-45B0-4125-A034-87B27323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一换就重做</a:t>
            </a:r>
          </a:p>
        </p:txBody>
      </p:sp>
      <p:sp>
        <p:nvSpPr>
          <p:cNvPr id="25" name="problem-body-04">
            <a:extLst xmlns:a="http://schemas.openxmlformats.org/drawingml/2006/main">
              <a:ext uri="{FF2B5EF4-FFF2-40B4-BE49-F238E27FC236}">
                <a16:creationId xmlns:a16="http://schemas.microsoft.com/office/drawing/2014/main" id="{A22E207A-98E0-405E-AFC0-FD8363F2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提示词与流程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难以迁移</a:t>
            </a:r>
          </a:p>
        </p:txBody>
      </p:sp>
      <p:sp>
        <p:nvSpPr>
          <p:cNvPr id="26" name="problem-card-05">
            <a:extLst xmlns:a="http://schemas.openxmlformats.org/drawingml/2006/main">
              <a:ext uri="{FF2B5EF4-FFF2-40B4-BE49-F238E27FC236}">
                <a16:creationId xmlns:a16="http://schemas.microsoft.com/office/drawing/2014/main" id="{8E1711D1-7814-4671-8A80-3C65EA9B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27" name="problem-number-05">
            <a:extLst xmlns:a="http://schemas.openxmlformats.org/drawingml/2006/main">
              <a:ext uri="{FF2B5EF4-FFF2-40B4-BE49-F238E27FC236}">
                <a16:creationId xmlns:a16="http://schemas.microsoft.com/office/drawing/2014/main" id="{236372BC-20C2-408D-9F1B-8DEDBF23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8" name="problem-title-05">
            <a:extLst xmlns:a="http://schemas.openxmlformats.org/drawingml/2006/main">
              <a:ext uri="{FF2B5EF4-FFF2-40B4-BE49-F238E27FC236}">
                <a16:creationId xmlns:a16="http://schemas.microsoft.com/office/drawing/2014/main" id="{53A2CEA4-F3E8-4048-BC49-2EF54886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经验留人脑</a:t>
            </a:r>
          </a:p>
        </p:txBody>
      </p:sp>
      <p:sp>
        <p:nvSpPr>
          <p:cNvPr id="29" name="problem-body-05">
            <a:extLst xmlns:a="http://schemas.openxmlformats.org/drawingml/2006/main">
              <a:ext uri="{FF2B5EF4-FFF2-40B4-BE49-F238E27FC236}">
                <a16:creationId xmlns:a16="http://schemas.microsoft.com/office/drawing/2014/main" id="{B856A33B-0EB3-4D56-B446-BF2CE3A5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采用与退回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没有沉淀</a:t>
            </a:r>
          </a:p>
        </p:txBody>
      </p:sp>
      <p:sp>
        <p:nvSpPr>
          <p:cNvPr id="30" name="problem-card-06">
            <a:extLst xmlns:a="http://schemas.openxmlformats.org/drawingml/2006/main">
              <a:ext uri="{FF2B5EF4-FFF2-40B4-BE49-F238E27FC236}">
                <a16:creationId xmlns:a16="http://schemas.microsoft.com/office/drawing/2014/main" id="{8DB2FEA2-AA46-4C77-9328-02D2AD73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31" name="problem-number-06">
            <a:extLst xmlns:a="http://schemas.openxmlformats.org/drawingml/2006/main">
              <a:ext uri="{FF2B5EF4-FFF2-40B4-BE49-F238E27FC236}">
                <a16:creationId xmlns:a16="http://schemas.microsoft.com/office/drawing/2014/main" id="{8A03D233-81E7-4CEB-BD8C-C8D3C22F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2" name="problem-title-06">
            <a:extLst xmlns:a="http://schemas.openxmlformats.org/drawingml/2006/main">
              <a:ext uri="{FF2B5EF4-FFF2-40B4-BE49-F238E27FC236}">
                <a16:creationId xmlns:a16="http://schemas.microsoft.com/office/drawing/2014/main" id="{FE26F51C-E6C0-4FDA-89D6-6285C587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越用越依赖</a:t>
            </a:r>
          </a:p>
        </p:txBody>
      </p:sp>
      <p:sp>
        <p:nvSpPr>
          <p:cNvPr id="33" name="problem-body-06">
            <a:extLst xmlns:a="http://schemas.openxmlformats.org/drawingml/2006/main">
              <a:ext uri="{FF2B5EF4-FFF2-40B4-BE49-F238E27FC236}">
                <a16:creationId xmlns:a16="http://schemas.microsoft.com/office/drawing/2014/main" id="{9187A1C8-78CF-4A3D-8474-B425A09E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换模型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能力又归零</a:t>
            </a:r>
          </a:p>
        </p:txBody>
      </p:sp>
      <p:sp>
        <p:nvSpPr>
          <p:cNvPr id="34" name="model-upgrade-reset">
            <a:extLst xmlns:a="http://schemas.openxmlformats.org/drawingml/2006/main">
              <a:ext uri="{FF2B5EF4-FFF2-40B4-BE49-F238E27FC236}">
                <a16:creationId xmlns:a16="http://schemas.microsoft.com/office/drawing/2014/main" id="{E32D7375-E423-4E83-8F5D-54D10D68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solidFill>
              <a:srgbClr val="0B5FFF"/>
            </a:solidFill>
            <a:prstDash val="solid"/>
          </a:ln>
        </p:spPr>
      </p:sp>
      <p:sp>
        <p:nvSpPr>
          <p:cNvPr id="35" name="model-upgrade-reset-text">
            <a:extLst xmlns:a="http://schemas.openxmlformats.org/drawingml/2006/main">
              <a:ext uri="{FF2B5EF4-FFF2-40B4-BE49-F238E27FC236}">
                <a16:creationId xmlns:a16="http://schemas.microsoft.com/office/drawing/2014/main" id="{E0BD219B-40D0-4B10-A5A6-18932554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工具越来越强，企业自己的能力却没有随项目一起增长。</a:t>
            </a:r>
          </a:p>
        </p:txBody>
      </p:sp>
      <p:sp>
        <p:nvSpPr>
          <p:cNvPr id="36" name="business-cost-label">
            <a:extLst xmlns:a="http://schemas.openxmlformats.org/drawingml/2006/main">
              <a:ext uri="{FF2B5EF4-FFF2-40B4-BE49-F238E27FC236}">
                <a16:creationId xmlns:a16="http://schemas.microsoft.com/office/drawing/2014/main" id="{681C0783-DF09-40E4-B5B2-DC129A7A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两类企业</a:t>
            </a:r>
          </a:p>
        </p:txBody>
      </p:sp>
      <p:sp>
        <p:nvSpPr>
          <p:cNvPr id="37" name="business-costs">
            <a:extLst xmlns:a="http://schemas.openxmlformats.org/drawingml/2006/main">
              <a:ext uri="{FF2B5EF4-FFF2-40B4-BE49-F238E27FC236}">
                <a16:creationId xmlns:a16="http://schemas.microsoft.com/office/drawing/2014/main" id="{4042654F-7973-4F6F-89C9-DC8CF93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91150"/>
            <a:ext cx="948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尚未用好：不知道怎么落地   ｜   已经在用：模型升级后反复重建</a:t>
            </a:r>
          </a:p>
        </p:txBody>
      </p:sp>
      <p:sp>
        <p:nvSpPr>
          <p:cNvPr id="38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977E12C0-3361-4DE1-B7A5-D07B649E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83B9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真正缺少的，是一套能把 AI 接进业务、又能持续积累能力的系统。</a:t>
            </a:r>
          </a:p>
        </p:txBody>
      </p:sp>
    </p:spTree>
    <p:extLst>
      <p:ext uri="{BB962C8B-B14F-4D97-AF65-F5344CB8AC3E}">
        <p14:creationId xmlns:p14="http://schemas.microsoft.com/office/powerpoint/2010/main" val="1348703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-3">
            <a:extLst xmlns:a="http://schemas.openxmlformats.org/drawingml/2006/main">
              <a:ext uri="{FF2B5EF4-FFF2-40B4-BE49-F238E27FC236}">
                <a16:creationId xmlns:a16="http://schemas.microsoft.com/office/drawing/2014/main" id="{457B0763-9E3D-4C8D-9360-204E2758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903FBA9-C8C5-48F3-9170-E48C7B53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41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VULCA 把上游模型、企业流程和下游业务，</a:t>
            </a:r>
          </a:p>
          <a:p xmlns:a="http://schemas.openxmlformats.org/drawingml/2006/main">
            <a:pPr algn="l">
              <a:buNone/>
              <a:def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连接成一条可以持续进化的内容生产线。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0415FE65-70A3-4103-8FE8-FF4BB891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49CD16C8-B3BC-4FF5-A891-7841E94C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" name="ecosystem-arrow-1">
            <a:extLst xmlns:a="http://schemas.openxmlformats.org/drawingml/2006/main">
              <a:ext uri="{FF2B5EF4-FFF2-40B4-BE49-F238E27FC236}">
                <a16:creationId xmlns:a16="http://schemas.microsoft.com/office/drawing/2014/main" id="{B06E8889-AB21-4D4B-87A0-A5E2E237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7813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6" name="ecosystem-arrow-2">
            <a:extLst xmlns:a="http://schemas.openxmlformats.org/drawingml/2006/main">
              <a:ext uri="{FF2B5EF4-FFF2-40B4-BE49-F238E27FC236}">
                <a16:creationId xmlns:a16="http://schemas.microsoft.com/office/drawing/2014/main" id="{38E68B1B-D6A8-4E60-B59D-DF938EE0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813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7" name="ecosystem-arrow-3">
            <a:extLst xmlns:a="http://schemas.openxmlformats.org/drawingml/2006/main">
              <a:ext uri="{FF2B5EF4-FFF2-40B4-BE49-F238E27FC236}">
                <a16:creationId xmlns:a16="http://schemas.microsoft.com/office/drawing/2014/main" id="{82C13C44-E963-4A34-AC69-C7258760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813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8" name="upstream-panel">
            <a:extLst xmlns:a="http://schemas.openxmlformats.org/drawingml/2006/main">
              <a:ext uri="{FF2B5EF4-FFF2-40B4-BE49-F238E27FC236}">
                <a16:creationId xmlns:a16="http://schemas.microsoft.com/office/drawing/2014/main" id="{6A8C4F2C-9C40-4093-86B0-2B03BCBB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809750" cy="22669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9" name="upstream-eyebrow">
            <a:extLst xmlns:a="http://schemas.openxmlformats.org/drawingml/2006/main">
              <a:ext uri="{FF2B5EF4-FFF2-40B4-BE49-F238E27FC236}">
                <a16:creationId xmlns:a16="http://schemas.microsoft.com/office/drawing/2014/main" id="{492036FB-34D8-463D-BEC9-ABE92A7D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上游</a:t>
            </a:r>
          </a:p>
        </p:txBody>
      </p:sp>
      <p:sp>
        <p:nvSpPr>
          <p:cNvPr id="10" name="upstream-title">
            <a:extLst xmlns:a="http://schemas.openxmlformats.org/drawingml/2006/main">
              <a:ext uri="{FF2B5EF4-FFF2-40B4-BE49-F238E27FC236}">
                <a16:creationId xmlns:a16="http://schemas.microsoft.com/office/drawing/2014/main" id="{B2CEEB09-E4A9-493B-B42B-B728373C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模型与工具</a:t>
            </a:r>
          </a:p>
        </p:txBody>
      </p:sp>
      <p:sp>
        <p:nvSpPr>
          <p:cNvPr id="11" name="upstream-body">
            <a:extLst xmlns:a="http://schemas.openxmlformats.org/drawingml/2006/main">
              <a:ext uri="{FF2B5EF4-FFF2-40B4-BE49-F238E27FC236}">
                <a16:creationId xmlns:a16="http://schemas.microsoft.com/office/drawing/2014/main" id="{B7DC8B5F-080F-484D-AB1C-C61D83DA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闭源 / 开源模型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推理与算力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创作工具</a:t>
            </a:r>
          </a:p>
        </p:txBody>
      </p:sp>
      <p:sp>
        <p:nvSpPr>
          <p:cNvPr id="12" name="vulca-core-panel">
            <a:extLst xmlns:a="http://schemas.openxmlformats.org/drawingml/2006/main">
              <a:ext uri="{FF2B5EF4-FFF2-40B4-BE49-F238E27FC236}">
                <a16:creationId xmlns:a16="http://schemas.microsoft.com/office/drawing/2014/main" id="{CCD1B24A-9D77-42DB-93A0-06D5AEF7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09750"/>
            <a:ext cx="3810000" cy="22669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0B5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vulca-core-eyebrow">
            <a:extLst xmlns:a="http://schemas.openxmlformats.org/drawingml/2006/main">
              <a:ext uri="{FF2B5EF4-FFF2-40B4-BE49-F238E27FC236}">
                <a16:creationId xmlns:a16="http://schemas.microsoft.com/office/drawing/2014/main" id="{69314350-45A5-4072-A5F9-9B2FCA77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00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</a:t>
            </a:r>
          </a:p>
        </p:txBody>
      </p:sp>
      <p:sp>
        <p:nvSpPr>
          <p:cNvPr id="14" name="vulca-core-title">
            <a:extLst xmlns:a="http://schemas.openxmlformats.org/drawingml/2006/main">
              <a:ext uri="{FF2B5EF4-FFF2-40B4-BE49-F238E27FC236}">
                <a16:creationId xmlns:a16="http://schemas.microsoft.com/office/drawing/2014/main" id="{6A355F26-D8B6-47BA-AA36-45F5A139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4315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83B9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企业 AI 内容生产线</a:t>
            </a:r>
          </a:p>
        </p:txBody>
      </p:sp>
      <p:sp>
        <p:nvSpPr>
          <p:cNvPr id="15" name="vulca-core-body">
            <a:extLst xmlns:a="http://schemas.openxmlformats.org/drawingml/2006/main">
              <a:ext uri="{FF2B5EF4-FFF2-40B4-BE49-F238E27FC236}">
                <a16:creationId xmlns:a16="http://schemas.microsoft.com/office/drawing/2014/main" id="{F6E611BE-6E5F-46C4-A08E-FE6DBB59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76550"/>
            <a:ext cx="3257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把需求变成可运行流程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自动选模、编排与质量控制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新模型出现时测试、迁移、优化</a:t>
            </a:r>
          </a:p>
        </p:txBody>
      </p:sp>
      <p:sp>
        <p:nvSpPr>
          <p:cNvPr id="16" name="vulca-core-tag">
            <a:extLst xmlns:a="http://schemas.openxmlformats.org/drawingml/2006/main">
              <a:ext uri="{FF2B5EF4-FFF2-40B4-BE49-F238E27FC236}">
                <a16:creationId xmlns:a16="http://schemas.microsoft.com/office/drawing/2014/main" id="{BD9F5919-6C8A-47F7-836D-30C206AF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客户不被模型锁定</a:t>
            </a:r>
          </a:p>
        </p:txBody>
      </p:sp>
      <p:sp>
        <p:nvSpPr>
          <p:cNvPr id="17" name="direct-customer-panel">
            <a:extLst xmlns:a="http://schemas.openxmlformats.org/drawingml/2006/main">
              <a:ext uri="{FF2B5EF4-FFF2-40B4-BE49-F238E27FC236}">
                <a16:creationId xmlns:a16="http://schemas.microsoft.com/office/drawing/2014/main" id="{798B778D-FD59-4A01-847E-7D323037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09750"/>
            <a:ext cx="22860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8" name="direct-customer-eyebrow">
            <a:extLst xmlns:a="http://schemas.openxmlformats.org/drawingml/2006/main">
              <a:ext uri="{FF2B5EF4-FFF2-40B4-BE49-F238E27FC236}">
                <a16:creationId xmlns:a16="http://schemas.microsoft.com/office/drawing/2014/main" id="{1B36CBCF-B146-475F-8165-41B205BE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19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首个入口</a:t>
            </a:r>
          </a:p>
        </p:txBody>
      </p:sp>
      <p:sp>
        <p:nvSpPr>
          <p:cNvPr id="19" name="direct-customer-title">
            <a:extLst xmlns:a="http://schemas.openxmlformats.org/drawingml/2006/main">
              <a:ext uri="{FF2B5EF4-FFF2-40B4-BE49-F238E27FC236}">
                <a16:creationId xmlns:a16="http://schemas.microsoft.com/office/drawing/2014/main" id="{4E8F0B38-D961-472B-80E5-3154EE4F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多品牌服务商</a:t>
            </a:r>
          </a:p>
        </p:txBody>
      </p:sp>
      <p:sp>
        <p:nvSpPr>
          <p:cNvPr id="20" name="direct-customer-body">
            <a:extLst xmlns:a="http://schemas.openxmlformats.org/drawingml/2006/main">
              <a:ext uri="{FF2B5EF4-FFF2-40B4-BE49-F238E27FC236}">
                <a16:creationId xmlns:a16="http://schemas.microsoft.com/office/drawing/2014/main" id="{7FCBB342-CD7F-4808-97C5-EEA66C39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33700"/>
            <a:ext cx="1847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AI 创意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本地化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跨境营销</a:t>
            </a:r>
          </a:p>
        </p:txBody>
      </p:sp>
      <p:sp>
        <p:nvSpPr>
          <p:cNvPr id="21" name="end-customer-panel">
            <a:extLst xmlns:a="http://schemas.openxmlformats.org/drawingml/2006/main">
              <a:ext uri="{FF2B5EF4-FFF2-40B4-BE49-F238E27FC236}">
                <a16:creationId xmlns:a16="http://schemas.microsoft.com/office/drawing/2014/main" id="{09431AAD-5A48-467B-8660-13A875F4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23431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2" name="end-customer-eyebrow">
            <a:extLst xmlns:a="http://schemas.openxmlformats.org/drawingml/2006/main">
              <a:ext uri="{FF2B5EF4-FFF2-40B4-BE49-F238E27FC236}">
                <a16:creationId xmlns:a16="http://schemas.microsoft.com/office/drawing/2014/main" id="{E91FCB72-B283-4B4B-AFA4-49B7FB45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19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最终使用</a:t>
            </a:r>
          </a:p>
        </p:txBody>
      </p:sp>
      <p:sp>
        <p:nvSpPr>
          <p:cNvPr id="23" name="end-customer-title">
            <a:extLst xmlns:a="http://schemas.openxmlformats.org/drawingml/2006/main">
              <a:ext uri="{FF2B5EF4-FFF2-40B4-BE49-F238E27FC236}">
                <a16:creationId xmlns:a16="http://schemas.microsoft.com/office/drawing/2014/main" id="{9B3D15F8-125F-4217-946A-14C1A70E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003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品牌与渠道</a:t>
            </a:r>
          </a:p>
        </p:txBody>
      </p:sp>
      <p:sp>
        <p:nvSpPr>
          <p:cNvPr id="24" name="end-customer-body">
            <a:extLst xmlns:a="http://schemas.openxmlformats.org/drawingml/2006/main">
              <a:ext uri="{FF2B5EF4-FFF2-40B4-BE49-F238E27FC236}">
                <a16:creationId xmlns:a16="http://schemas.microsoft.com/office/drawing/2014/main" id="{29015A1F-6508-4B44-9851-3FF1CD5F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337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品牌团队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区域市场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最终采用者</a:t>
            </a:r>
          </a:p>
        </p:txBody>
      </p:sp>
      <p:sp>
        <p:nvSpPr>
          <p:cNvPr id="25" name="feedback-arrow">
            <a:extLst xmlns:a="http://schemas.openxmlformats.org/drawingml/2006/main">
              <a:ext uri="{FF2B5EF4-FFF2-40B4-BE49-F238E27FC236}">
                <a16:creationId xmlns:a16="http://schemas.microsoft.com/office/drawing/2014/main" id="{FDA60C9B-E9BC-4A7F-8BC2-70FB1F04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577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26" name="feedback-panel">
            <a:extLst xmlns:a="http://schemas.openxmlformats.org/drawingml/2006/main">
              <a:ext uri="{FF2B5EF4-FFF2-40B4-BE49-F238E27FC236}">
                <a16:creationId xmlns:a16="http://schemas.microsoft.com/office/drawing/2014/main" id="{C8A670F7-8B94-4464-9B5E-D13B6EF4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6286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7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6F18C59B-9405-4C6B-9162-A4DFC45C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真实业务反馈</a:t>
            </a:r>
          </a:p>
        </p:txBody>
      </p:sp>
      <p:sp>
        <p:nvSpPr>
          <p:cNvPr id="28" name="feedback-items">
            <a:extLst xmlns:a="http://schemas.openxmlformats.org/drawingml/2006/main">
              <a:ext uri="{FF2B5EF4-FFF2-40B4-BE49-F238E27FC236}">
                <a16:creationId xmlns:a16="http://schemas.microsoft.com/office/drawing/2014/main" id="{A5E24B71-44D4-4C97-943D-B6D43A23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573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采用  ·  退回  ·  修改  ·  时间  ·  成本</a:t>
            </a:r>
          </a:p>
        </p:txBody>
      </p:sp>
      <p:sp>
        <p:nvSpPr>
          <p:cNvPr id="29" name="asset-pack-panel">
            <a:extLst xmlns:a="http://schemas.openxmlformats.org/drawingml/2006/main">
              <a:ext uri="{FF2B5EF4-FFF2-40B4-BE49-F238E27FC236}">
                <a16:creationId xmlns:a16="http://schemas.microsoft.com/office/drawing/2014/main" id="{9AD556A9-7F3C-4EEE-A47A-45D9EB15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76750"/>
            <a:ext cx="4629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A8C7FA"/>
            </a:solidFill>
            <a:prstDash val="solid"/>
          </a:ln>
        </p:spPr>
      </p:sp>
      <p:sp>
        <p:nvSpPr>
          <p:cNvPr id="30" name="asset-pack-title">
            <a:extLst xmlns:a="http://schemas.openxmlformats.org/drawingml/2006/main">
              <a:ext uri="{FF2B5EF4-FFF2-40B4-BE49-F238E27FC236}">
                <a16:creationId xmlns:a16="http://schemas.microsoft.com/office/drawing/2014/main" id="{F52BDA4B-BA2F-4A71-B075-0092A878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86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3B9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企业自己的视觉资产</a:t>
            </a:r>
          </a:p>
        </p:txBody>
      </p:sp>
      <p:sp>
        <p:nvSpPr>
          <p:cNvPr id="31" name="asset-pack-body">
            <a:extLst xmlns:a="http://schemas.openxmlformats.org/drawingml/2006/main">
              <a:ext uri="{FF2B5EF4-FFF2-40B4-BE49-F238E27FC236}">
                <a16:creationId xmlns:a16="http://schemas.microsoft.com/office/drawing/2014/main" id="{FE9A1C55-CD57-4DB2-82A7-0A219BDF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81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流程 / 标准 / 采用案例 / 评测 / 权限记录</a:t>
            </a:r>
          </a:p>
        </p:txBody>
      </p:sp>
      <p:sp>
        <p:nvSpPr>
          <p:cNvPr id="32" name="role-boundary">
            <a:extLst xmlns:a="http://schemas.openxmlformats.org/drawingml/2006/main">
              <a:ext uri="{FF2B5EF4-FFF2-40B4-BE49-F238E27FC236}">
                <a16:creationId xmlns:a16="http://schemas.microsoft.com/office/drawing/2014/main" id="{4582F04A-E8C9-4B9E-8A51-1BABF36C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企业决定什么被采用、什么被记住、什么可以用于下一次优化。</a:t>
            </a:r>
          </a:p>
        </p:txBody>
      </p:sp>
    </p:spTree>
    <p:extLst>
      <p:ext uri="{BB962C8B-B14F-4D97-AF65-F5344CB8AC3E}">
        <p14:creationId xmlns:p14="http://schemas.microsoft.com/office/powerpoint/2010/main" val="12056857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2709312-9020-47ED-B726-37D4F928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7AA91B2-D6DB-4354-B7EF-903E0B8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每一次交付，都在增加企业自己的视觉能力。</a:t>
            </a:r>
          </a:p>
        </p:txBody>
      </p:sp>
      <p:cxnSp>
        <p:nvCxnSpPr>
          <p:cNvPr id="30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6A9C7A8-7AA4-415D-BDA7-3319BB7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10738D4-9742-48D8-8B61-34383EBE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972FC68-6991-4E89-A778-7940909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D891C5E-8A04-42EA-95CC-59F280B6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7BF94F58-9BAD-4820-8488-6AA6D25A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业务判断被留下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采用了什么、退回了什么
为什么修改、最后谁批准
结果不再只留在聊天记录里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2BF377E1-1A55-4076-B3A9-5731F1E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29DB4510-53A0-4A75-BF20-564FA7E7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企业视觉资产增长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品牌标准、工作流、采用案例
质量与成本基线、权限记录
都由客户控制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5B704797-7BA6-450D-9C97-0B0796F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96AE1D53-4FF6-424E-A2A4-B6F4B61C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新模型继承旧能力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先用同一套任务评测
再迁移流程和已验证标准
不从零重建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2DB5FB3A-F94E-41EB-9C5A-33F2DD3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反馈 = 企业资产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33F60C6-7D7F-4A5C-BCBB-D3137B1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项目 = 真实反馈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7C9C4B23-9F2C-44E9-AF7F-4EEF5BD1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换模 = 可控升级</a:t>
            </a:r>
          </a:p>
        </p:txBody>
      </p:sp>
      <p:sp>
        <p:nvSpPr>
          <p:cNvPr id="16" name="scale-accent-1">
            <a:extLst xmlns:a="http://schemas.openxmlformats.org/drawingml/2006/main">
              <a:ext uri="{FF2B5EF4-FFF2-40B4-BE49-F238E27FC236}">
                <a16:creationId xmlns:a16="http://schemas.microsoft.com/office/drawing/2014/main" id="{B7A05BD8-4874-47B7-8CE2-DF368B3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17" name="scale-accent-2">
            <a:extLst xmlns:a="http://schemas.openxmlformats.org/drawingml/2006/main">
              <a:ext uri="{FF2B5EF4-FFF2-40B4-BE49-F238E27FC236}">
                <a16:creationId xmlns:a16="http://schemas.microsoft.com/office/drawing/2014/main" id="{B185E3E9-101B-4D2E-9C2F-55E42C3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18" name="scale-accent-3">
            <a:extLst xmlns:a="http://schemas.openxmlformats.org/drawingml/2006/main">
              <a:ext uri="{FF2B5EF4-FFF2-40B4-BE49-F238E27FC236}">
                <a16:creationId xmlns:a16="http://schemas.microsoft.com/office/drawing/2014/main" id="{7C5BA57F-D4D8-4AEC-8965-FEC8D836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643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2709312-9020-47ED-B726-37D4F928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7AA91B2-D6DB-4354-B7EF-903E0B8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先用 FDE 跑通流程，再把交付变成可复制产品。</a:t>
            </a:r>
          </a:p>
        </p:txBody>
      </p:sp>
      <p:cxnSp>
        <p:nvCxnSpPr>
          <p:cNvPr id="30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6A9C7A8-7AA4-415D-BDA7-3319BB7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10738D4-9742-48D8-8B61-34383EBE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972FC68-6991-4E89-A778-7940909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D891C5E-8A04-42EA-95CC-59F280B6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7BF94F58-9BAD-4820-8488-6AA6D25A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贴近客户跑通 0→1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先选一条高频视觉流程
接入真实素材、审批与期限
90 天证明每天能用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2BF377E1-1A55-4076-B3A9-5731F1E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29DB4510-53A0-4A75-BF20-564FA7E7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沉淀为企业系统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流程、品牌标准、评测与权限
进入客户自己的资产
下一次升级直接复用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5B704797-7BA6-450D-9C97-0B0796F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96AE1D53-4FF6-424E-A2A4-B6F4B61C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通过伙伴规模化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与模型、算力、园区和服务伙伴
复制到更多企业
VULCA 提供产品与升级能力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2DB5FB3A-F94E-41EB-9C5A-33F2DD3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 = 产品层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33F60C6-7D7F-4A5C-BCBB-D3137B1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FDE = 起步方式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7C9C4B23-9F2C-44E9-AF7F-4EEF5BD1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AI-native = 客户能力</a:t>
            </a:r>
          </a:p>
        </p:txBody>
      </p:sp>
      <p:sp>
        <p:nvSpPr>
          <p:cNvPr id="16" name="scale-accent-1">
            <a:extLst xmlns:a="http://schemas.openxmlformats.org/drawingml/2006/main">
              <a:ext uri="{FF2B5EF4-FFF2-40B4-BE49-F238E27FC236}">
                <a16:creationId xmlns:a16="http://schemas.microsoft.com/office/drawing/2014/main" id="{B7A05BD8-4874-47B7-8CE2-DF368B3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17" name="scale-accent-2">
            <a:extLst xmlns:a="http://schemas.openxmlformats.org/drawingml/2006/main">
              <a:ext uri="{FF2B5EF4-FFF2-40B4-BE49-F238E27FC236}">
                <a16:creationId xmlns:a16="http://schemas.microsoft.com/office/drawing/2014/main" id="{B185E3E9-101B-4D2E-9C2F-55E42C3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18" name="scale-accent-3">
            <a:extLst xmlns:a="http://schemas.openxmlformats.org/drawingml/2006/main">
              <a:ext uri="{FF2B5EF4-FFF2-40B4-BE49-F238E27FC236}">
                <a16:creationId xmlns:a16="http://schemas.microsoft.com/office/drawing/2014/main" id="{7C5BA57F-D4D8-4AEC-8965-FEC8D836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6433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5">
            <a:extLst xmlns:a="http://schemas.openxmlformats.org/drawingml/2006/main">
              <a:ext uri="{FF2B5EF4-FFF2-40B4-BE49-F238E27FC236}">
                <a16:creationId xmlns:a16="http://schemas.microsoft.com/office/drawing/2014/main" id="{20259635-4086-44AD-85C8-1F109791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224343B-2A9F-4427-AC41-4CE31097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90 天验证：客户的视觉能力能否持续积累。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A26F662B-C2A2-4F63-BDB4-CA93538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55678973-B753-4DEC-B97E-F5E40BEA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5" name="pilot-scope">
            <a:extLst xmlns:a="http://schemas.openxmlformats.org/drawingml/2006/main">
              <a:ext uri="{FF2B5EF4-FFF2-40B4-BE49-F238E27FC236}">
                <a16:creationId xmlns:a16="http://schemas.microsoft.com/office/drawing/2014/main" id="{3B451D4F-D713-4103-B5DF-B17ECDF9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A8C7FA"/>
            </a:solidFill>
            <a:prstDash val="solid"/>
          </a:ln>
        </p:spPr>
      </p:sp>
      <p:sp>
        <p:nvSpPr>
          <p:cNvPr id="6" name="pilot-scope-text">
            <a:extLst xmlns:a="http://schemas.openxmlformats.org/drawingml/2006/main">
              <a:ext uri="{FF2B5EF4-FFF2-40B4-BE49-F238E27FC236}">
                <a16:creationId xmlns:a16="http://schemas.microsoft.com/office/drawing/2014/main" id="{04150355-CDFE-4C7B-81BD-D5CE3F83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9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83B9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1 家多品牌服务商   ×   1 条高频视觉流程   ×   连续真实项目   ×   1 次替代模型</a:t>
            </a:r>
          </a:p>
        </p:txBody>
      </p:sp>
      <p:sp>
        <p:nvSpPr>
          <p:cNvPr id="7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E298C98A-2ECD-4459-B493-21A56C59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2667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7F6F72D8-810A-40CB-8DA1-78F780C6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时间</a:t>
            </a:r>
          </a:p>
        </p:txBody>
      </p:sp>
      <p:sp>
        <p:nvSpPr>
          <p:cNvPr id="9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9CF20165-4EB3-422F-A147-7B56FA52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首个可采用内容时间</a:t>
            </a:r>
          </a:p>
        </p:txBody>
      </p:sp>
      <p:sp>
        <p:nvSpPr>
          <p:cNvPr id="10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C2F6D952-ABA9-4A43-930A-30A1F3A8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从收到素材到客户第一次采用</a:t>
            </a:r>
          </a:p>
        </p:txBody>
      </p:sp>
      <p:sp>
        <p:nvSpPr>
          <p:cNvPr id="11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17904D8C-B28E-46BC-A16C-834DF698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400300"/>
            <a:ext cx="2667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C3DF1656-F55F-4BD3-9A3F-84402A56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0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成本</a:t>
            </a:r>
          </a:p>
        </p:txBody>
      </p:sp>
      <p:sp>
        <p:nvSpPr>
          <p:cNvPr id="13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E5992E41-7287-4AEE-800E-C7F2C67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099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单个可采用内容成本</a:t>
            </a:r>
          </a:p>
        </p:txBody>
      </p:sp>
      <p:sp>
        <p:nvSpPr>
          <p:cNvPr id="14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CE99C9A1-57EA-43D3-9A67-EED7A055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算力 + 人工 + 工具</a:t>
            </a:r>
          </a:p>
        </p:txBody>
      </p:sp>
      <p:sp>
        <p:nvSpPr>
          <p:cNvPr id="15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9E0DCE02-68B9-4503-B97D-A55401B8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667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9A0ECF98-57D7-49C8-B9F9-B8FE5D78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质量</a:t>
            </a:r>
          </a:p>
        </p:txBody>
      </p:sp>
      <p:sp>
        <p:nvSpPr>
          <p:cNvPr id="17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BF6C2944-51C4-40C7-84FE-04510FA7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99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一次通过率 / 修改轮次</a:t>
            </a:r>
          </a:p>
        </p:txBody>
      </p:sp>
      <p:sp>
        <p:nvSpPr>
          <p:cNvPr id="18" name="metric-detail-3">
            <a:extLst xmlns:a="http://schemas.openxmlformats.org/drawingml/2006/main">
              <a:ext uri="{FF2B5EF4-FFF2-40B4-BE49-F238E27FC236}">
                <a16:creationId xmlns:a16="http://schemas.microsoft.com/office/drawing/2014/main" id="{55B9EF98-0960-4C52-AADD-00BBFD20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最终采用前经历多少轮</a:t>
            </a:r>
          </a:p>
        </p:txBody>
      </p:sp>
      <p:sp>
        <p:nvSpPr>
          <p:cNvPr id="19" name="metric-card-4">
            <a:extLst xmlns:a="http://schemas.openxmlformats.org/drawingml/2006/main">
              <a:ext uri="{FF2B5EF4-FFF2-40B4-BE49-F238E27FC236}">
                <a16:creationId xmlns:a16="http://schemas.microsoft.com/office/drawing/2014/main" id="{0C183853-ED1D-405C-835B-DD8B738F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00300"/>
            <a:ext cx="2667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DD461D3B-2F60-421F-A3F8-6E874216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60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迁移</a:t>
            </a:r>
          </a:p>
        </p:txBody>
      </p:sp>
      <p:sp>
        <p:nvSpPr>
          <p:cNvPr id="21" name="metric-name-4">
            <a:extLst xmlns:a="http://schemas.openxmlformats.org/drawingml/2006/main">
              <a:ext uri="{FF2B5EF4-FFF2-40B4-BE49-F238E27FC236}">
                <a16:creationId xmlns:a16="http://schemas.microsoft.com/office/drawing/2014/main" id="{59EA064D-E8B6-4C14-A9DF-668820FB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099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换模型人时 / 资产复用率</a:t>
            </a:r>
          </a:p>
        </p:txBody>
      </p:sp>
      <p:sp>
        <p:nvSpPr>
          <p:cNvPr id="22" name="metric-detail-4">
            <a:extLst xmlns:a="http://schemas.openxmlformats.org/drawingml/2006/main">
              <a:ext uri="{FF2B5EF4-FFF2-40B4-BE49-F238E27FC236}">
                <a16:creationId xmlns:a16="http://schemas.microsoft.com/office/drawing/2014/main" id="{C820A929-97A0-44E3-ABBD-CD9D950A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同一流程切换模型的真实代价</a:t>
            </a:r>
          </a:p>
        </p:txBody>
      </p:sp>
      <p:sp>
        <p:nvSpPr>
          <p:cNvPr id="23" name="business-model-panel">
            <a:extLst xmlns:a="http://schemas.openxmlformats.org/drawingml/2006/main">
              <a:ext uri="{FF2B5EF4-FFF2-40B4-BE49-F238E27FC236}">
                <a16:creationId xmlns:a16="http://schemas.microsoft.com/office/drawing/2014/main" id="{620FA37D-9117-44B4-A1CA-323906D4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5334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4" name="business-model-label">
            <a:extLst xmlns:a="http://schemas.openxmlformats.org/drawingml/2006/main">
              <a:ext uri="{FF2B5EF4-FFF2-40B4-BE49-F238E27FC236}">
                <a16:creationId xmlns:a16="http://schemas.microsoft.com/office/drawing/2014/main" id="{699C4FF1-48E2-4AEE-B395-329CAE98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商业模式</a:t>
            </a:r>
          </a:p>
        </p:txBody>
      </p:sp>
      <p:sp>
        <p:nvSpPr>
          <p:cNvPr id="25" name="business-model-title">
            <a:extLst xmlns:a="http://schemas.openxmlformats.org/drawingml/2006/main">
              <a:ext uri="{FF2B5EF4-FFF2-40B4-BE49-F238E27FC236}">
                <a16:creationId xmlns:a16="http://schemas.microsoft.com/office/drawing/2014/main" id="{B5B8646C-0F9D-430D-A670-B0F59095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上线费 + 持续优化订阅</a:t>
            </a:r>
          </a:p>
        </p:txBody>
      </p:sp>
      <p:sp>
        <p:nvSpPr>
          <p:cNvPr id="26" name="business-model-detail">
            <a:extLst xmlns:a="http://schemas.openxmlformats.org/drawingml/2006/main">
              <a:ext uri="{FF2B5EF4-FFF2-40B4-BE49-F238E27FC236}">
                <a16:creationId xmlns:a16="http://schemas.microsoft.com/office/drawing/2014/main" id="{7AD30BFE-95CD-42F4-9BE1-DE40D68B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私有部署、深度适配与权限治理按需提供</a:t>
            </a:r>
          </a:p>
        </p:txBody>
      </p:sp>
      <p:sp>
        <p:nvSpPr>
          <p:cNvPr id="27" name="ask-panel">
            <a:extLst xmlns:a="http://schemas.openxmlformats.org/drawingml/2006/main">
              <a:ext uri="{FF2B5EF4-FFF2-40B4-BE49-F238E27FC236}">
                <a16:creationId xmlns:a16="http://schemas.microsoft.com/office/drawing/2014/main" id="{01DDF50D-DB84-466A-AF62-279CD869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57700"/>
            <a:ext cx="58293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solidFill>
              <a:srgbClr val="0B5FFF"/>
            </a:solidFill>
            <a:prstDash val="solid"/>
          </a:ln>
        </p:spPr>
      </p:sp>
      <p:sp>
        <p:nvSpPr>
          <p:cNvPr id="28" name="ask-label">
            <a:extLst xmlns:a="http://schemas.openxmlformats.org/drawingml/2006/main">
              <a:ext uri="{FF2B5EF4-FFF2-40B4-BE49-F238E27FC236}">
                <a16:creationId xmlns:a16="http://schemas.microsoft.com/office/drawing/2014/main" id="{103BDC2E-A993-4820-8F60-283C9DFC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67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现在要找</a:t>
            </a:r>
          </a:p>
        </p:txBody>
      </p:sp>
      <p:sp>
        <p:nvSpPr>
          <p:cNvPr id="29" name="ask-title">
            <a:extLst xmlns:a="http://schemas.openxmlformats.org/drawingml/2006/main">
              <a:ext uri="{FF2B5EF4-FFF2-40B4-BE49-F238E27FC236}">
                <a16:creationId xmlns:a16="http://schemas.microsoft.com/office/drawing/2014/main" id="{B29083A1-FA50-495F-9FAB-62C909D5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482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共创客户 / 模型算力 / 交付伙伴 / 早期资本</a:t>
            </a:r>
          </a:p>
        </p:txBody>
      </p:sp>
      <p:sp>
        <p:nvSpPr>
          <p:cNvPr id="30" name="current-stage">
            <a:extLst xmlns:a="http://schemas.openxmlformats.org/drawingml/2006/main">
              <a:ext uri="{FF2B5EF4-FFF2-40B4-BE49-F238E27FC236}">
                <a16:creationId xmlns:a16="http://schemas.microsoft.com/office/drawing/2014/main" id="{38C61AA9-9343-424E-B3FC-2BEA6615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已有 v0.23.1 多模型与本地优先产品基础；企业迁移收益仍待试点验证。</a:t>
            </a:r>
          </a:p>
        </p:txBody>
      </p:sp>
    </p:spTree>
    <p:extLst>
      <p:ext uri="{BB962C8B-B14F-4D97-AF65-F5344CB8AC3E}">
        <p14:creationId xmlns:p14="http://schemas.microsoft.com/office/powerpoint/2010/main" val="2071999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2026-08-09T15:09:26.0350000Z</dcterms:created>
  <dcterms:modified xsi:type="dcterms:W3CDTF">2026-08-09T15:09:26.0350000Z</dcterms:modified>
</coreProperties>
</file>